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NalamMesh is our Smart India Hackathon platform for rural public healthcare. In this presentation we treat it as a case study for 24CS502: every feature we show is tied to a concept from Units 1 to 4, and at the end we are honest about which course algorithms it does not yet implement.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features. Keep these in mind: every later slide points back to one of them. The important design choice is that the device is the source of truth, and the network is treated as the exception, not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 1 slides list the features of a distributed system: no common physical clock, no shared memory, geographical separation, and autonomy and heterogeneity. NalamMesh has all four. The missing clock matters most, and it comes back in Unit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kinds of node. First, the facility devices, where all the clinical work happens and all data is stored first. Second, the mesh relay, a Socket.io server that forwards events between facilities in real time. Third, the district cloud, which collects records for reporting. The app runs fully standalone if both servers are down: the relay badge then shows STANDALONE.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presentation on one slide. Green rows are implemented in the code today, amber rows are partly there, and grey rows are where the course algorithms would improve the platform. We cover them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1 compares message passing with shared memory. Shared memory is not an option across 40 to 80 km, so NalamMesh uses pure message passing. The table lists the actual Socket.io events in server/mesh-server.ts.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1 defines blocking vs non-blocking and synchronous vs asynchronous primitives. NalamMesh uses both. Referral publishes are synchronous with a timeout, because the user must know whether the other hospital got it. Cloud uploads are asynchronous and non-blocking, because a health worker should never wait on a 2G link. Sources: lib/referrals/transport.ts and lib/sync/outbox.ts.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1 separates synchronous executions, where message delay is bounded, from asynchronous ones, where it is not. A rural network is asynchronous. Heartbeats and timeouts let us guess whether a node is up. Exponential backoff keeps a long outage cheap. And the outbox never gives up on a retryable failure, because a lost referral means a patient nobody is expecting.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Unit 1 space-time diagram, drawn for a real referral. Horizontal lines are processes, dots are events, and diagonal arrows are messages. Send and receive events give us Lamport's happens-before relation: DISPATCH on the PHC happens after ACCEPT on the district hospital, because the accepted message links them. The workflow code enforces this: ACCEPT is only legal from DELIVERED or ACKNOWLEDGED.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1 defines concurrent events as events with no causal path between them. Here the PHC adds a clinical note and the hospital adds a comment while they are cut off from each other. mergeReferral takes the union of both timelines by event id, so both survive. Union is commutative and idempotent, so it does not matter which copy arrives first or how often it arrives. This is the same idea as a grow-only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2 starts from the problem of having no global clock. NalamMesh already works around it: the cloud orders records by its own arrival time, not the device's. But patient records still resolve conflicts last-write-wins on the device clock, and a fast clock can make an older edit win. Vector clocks from Unit 2 would detect that the two edits are concurrent instead of guessing. This is our first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2 models channels: FIFO or non-FIFO, and messages in transit. The outbox makes the channel to the cloud FIFO on purpose. When a node reconnects after a partition, it asks for everything since its last timestamp, much like recording what was in transit on a channel. And because networks duplicate messages, both the relay and the cloud make repeated delivery harmless.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4 covers data centres, virtualization, virtual networks and virtual storage. NalamMesh touches three of these ideas. Storage is split into local persistent, remote persistent and temporary. The mesh is an overlay network: nodes find each other by id on top of whatever physical network exists. And deployment uses hosted cloud services. We do not manage VMs or Docker images ourselves; that is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course algorithms NalamMesh does not implement yet, and where each one would fit. The strongest example is Unit 3: two staff at the same hospital could each reserve the last free bed from different devices, because each checks only its own copy. That is exactly the critical-section problem that Ricart–Agrawala or the Suzuki–Kasami token algorithm 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NalamMesh is a real distributed system. Unit 1 concepts are implemented throughout. Unit 2 is partly there, and vector clocks and snapshots are the next step. Unit 3's mutual exclusion has a concrete use in bed reservation. Unit 4 shows up in its storage, its overlay network and its cloud hosting.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223F"/>
        </a:solidFill>
      </p:bgPr>
    </p:bg>
    <p:spTree>
      <p:nvGrpSpPr>
        <p:cNvPr id="1" name=""/>
        <p:cNvGrpSpPr/>
        <p:nvPr/>
      </p:nvGrpSpPr>
      <p:grpSpPr>
        <a:xfrm>
          <a:off x="0" y="0"/>
          <a:ext cx="0" cy="0"/>
          <a:chOff x="0" y="0"/>
          <a:chExt cx="0" cy="0"/>
        </a:xfrm>
      </p:grpSpPr>
      <p:sp>
        <p:nvSpPr>
          <p:cNvPr id="2" name="Text 0"/>
          <p:cNvSpPr txBox="1"/>
          <p:nvPr/>
        </p:nvSpPr>
        <p:spPr>
          <a:xfrm>
            <a:off x="548640" y="1097280"/>
            <a:ext cx="8229600" cy="365760"/>
          </a:xfrm>
          <a:prstGeom prst="rect">
            <a:avLst/>
          </a:prstGeom>
          <a:noFill/>
          <a:ln/>
        </p:spPr>
        <p:txBody>
          <a:bodyPr wrap="square" lIns="0" tIns="0" rIns="0" bIns="0" rtlCol="0" anchor="ctr"/>
          <a:lstStyle/>
          <a:p>
            <a:pPr indent="0" marL="0">
              <a:buNone/>
            </a:pPr>
            <a:r>
              <a:rPr lang="en-US" sz="1400" b="1" spc="300" kern="0" dirty="0">
                <a:solidFill>
                  <a:srgbClr val="FF9933"/>
                </a:solidFill>
                <a:latin typeface="Calibri" pitchFamily="34" charset="0"/>
                <a:ea typeface="Calibri" pitchFamily="34" charset="-122"/>
                <a:cs typeface="Calibri" pitchFamily="34" charset="-120"/>
              </a:rPr>
              <a:t>24CS502 · DISTRIBUTED AND CLOUD COMPUTING</a:t>
            </a:r>
            <a:endParaRPr lang="en-US" sz="1400" dirty="0"/>
          </a:p>
        </p:txBody>
      </p:sp>
      <p:sp>
        <p:nvSpPr>
          <p:cNvPr id="3" name="Text 1"/>
          <p:cNvSpPr txBox="1"/>
          <p:nvPr/>
        </p:nvSpPr>
        <p:spPr>
          <a:xfrm>
            <a:off x="548640" y="1600200"/>
            <a:ext cx="822960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NalamMesh</a:t>
            </a:r>
            <a:endParaRPr lang="en-US" sz="6000" dirty="0"/>
          </a:p>
        </p:txBody>
      </p:sp>
      <p:sp>
        <p:nvSpPr>
          <p:cNvPr id="4" name="Text 2"/>
          <p:cNvSpPr txBox="1"/>
          <p:nvPr/>
        </p:nvSpPr>
        <p:spPr>
          <a:xfrm>
            <a:off x="548640" y="2651760"/>
            <a:ext cx="6949440" cy="914400"/>
          </a:xfrm>
          <a:prstGeom prst="rect">
            <a:avLst/>
          </a:prstGeom>
          <a:noFill/>
          <a:ln/>
        </p:spPr>
        <p:txBody>
          <a:bodyPr wrap="square" lIns="0" tIns="0" rIns="0" bIns="0" rtlCol="0" anchor="ctr"/>
          <a:lstStyle/>
          <a:p>
            <a:pPr indent="0" marL="0">
              <a:buNone/>
            </a:pPr>
            <a:r>
              <a:rPr lang="en-US" sz="2400" dirty="0">
                <a:solidFill>
                  <a:srgbClr val="CADCFC"/>
                </a:solidFill>
                <a:latin typeface="Cambria" pitchFamily="34" charset="0"/>
                <a:ea typeface="Cambria" pitchFamily="34" charset="-122"/>
                <a:cs typeface="Cambria" pitchFamily="34" charset="-120"/>
              </a:rPr>
              <a:t>An offline-first distributed system for rural public healthcare</a:t>
            </a:r>
            <a:endParaRPr lang="en-US" sz="2400" dirty="0"/>
          </a:p>
        </p:txBody>
      </p:sp>
      <p:sp>
        <p:nvSpPr>
          <p:cNvPr id="5" name="Text 3"/>
          <p:cNvSpPr txBox="1"/>
          <p:nvPr/>
        </p:nvSpPr>
        <p:spPr>
          <a:xfrm>
            <a:off x="548640" y="3840480"/>
            <a:ext cx="731520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How the platform’s features map to the course concepts — Units 1 to 4</a:t>
            </a:r>
            <a:endParaRPr lang="en-US" sz="1600" dirty="0"/>
          </a:p>
        </p:txBody>
      </p:sp>
      <p:sp>
        <p:nvSpPr>
          <p:cNvPr id="6" name="Shape 4"/>
          <p:cNvSpPr/>
          <p:nvPr/>
        </p:nvSpPr>
        <p:spPr>
          <a:xfrm>
            <a:off x="9006840" y="1874520"/>
            <a:ext cx="1828800" cy="914400"/>
          </a:xfrm>
          <a:prstGeom prst="line">
            <a:avLst/>
          </a:prstGeom>
          <a:noFill/>
          <a:ln w="31750">
            <a:solidFill>
              <a:srgbClr val="3C5A8F"/>
            </a:solidFill>
            <a:prstDash val="solid"/>
          </a:ln>
        </p:spPr>
      </p:sp>
      <p:sp>
        <p:nvSpPr>
          <p:cNvPr id="7" name="Shape 5"/>
          <p:cNvSpPr/>
          <p:nvPr/>
        </p:nvSpPr>
        <p:spPr>
          <a:xfrm flipV="1">
            <a:off x="9281160" y="2788920"/>
            <a:ext cx="1554480" cy="1280160"/>
          </a:xfrm>
          <a:prstGeom prst="line">
            <a:avLst/>
          </a:prstGeom>
          <a:noFill/>
          <a:ln w="31750">
            <a:solidFill>
              <a:srgbClr val="3C5A8F"/>
            </a:solidFill>
            <a:prstDash val="solid"/>
          </a:ln>
        </p:spPr>
      </p:sp>
      <p:sp>
        <p:nvSpPr>
          <p:cNvPr id="8" name="Shape 6"/>
          <p:cNvSpPr/>
          <p:nvPr/>
        </p:nvSpPr>
        <p:spPr>
          <a:xfrm>
            <a:off x="9281160" y="4069080"/>
            <a:ext cx="1645920" cy="1188720"/>
          </a:xfrm>
          <a:prstGeom prst="line">
            <a:avLst/>
          </a:prstGeom>
          <a:noFill/>
          <a:ln w="31750">
            <a:solidFill>
              <a:srgbClr val="3C5A8F"/>
            </a:solidFill>
            <a:prstDash val="solid"/>
          </a:ln>
        </p:spPr>
      </p:sp>
      <p:sp>
        <p:nvSpPr>
          <p:cNvPr id="9" name="Shape 7"/>
          <p:cNvSpPr/>
          <p:nvPr/>
        </p:nvSpPr>
        <p:spPr>
          <a:xfrm>
            <a:off x="9006840" y="1874520"/>
            <a:ext cx="274320" cy="2194560"/>
          </a:xfrm>
          <a:prstGeom prst="line">
            <a:avLst/>
          </a:prstGeom>
          <a:noFill/>
          <a:ln w="19050">
            <a:solidFill>
              <a:srgbClr val="3C5A8F"/>
            </a:solidFill>
            <a:prstDash val="dash"/>
          </a:ln>
        </p:spPr>
      </p:sp>
      <p:sp>
        <p:nvSpPr>
          <p:cNvPr id="10" name="Shape 8"/>
          <p:cNvSpPr/>
          <p:nvPr/>
        </p:nvSpPr>
        <p:spPr>
          <a:xfrm>
            <a:off x="8503920" y="1371600"/>
            <a:ext cx="1005840" cy="1005840"/>
          </a:xfrm>
          <a:prstGeom prst="ellipse">
            <a:avLst/>
          </a:prstGeom>
          <a:solidFill>
            <a:srgbClr val="284B8C"/>
          </a:solidFill>
          <a:ln w="25400">
            <a:solidFill>
              <a:srgbClr val="FFFFFF"/>
            </a:solidFill>
            <a:prstDash val="solid"/>
          </a:ln>
        </p:spPr>
      </p:sp>
      <p:sp>
        <p:nvSpPr>
          <p:cNvPr id="11" name="Text 9"/>
          <p:cNvSpPr txBox="1"/>
          <p:nvPr/>
        </p:nvSpPr>
        <p:spPr>
          <a:xfrm>
            <a:off x="8503920" y="1371600"/>
            <a:ext cx="1005840"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SC</a:t>
            </a:r>
            <a:endParaRPr lang="en-US" sz="1600" dirty="0"/>
          </a:p>
        </p:txBody>
      </p:sp>
      <p:sp>
        <p:nvSpPr>
          <p:cNvPr id="12" name="Shape 10"/>
          <p:cNvSpPr/>
          <p:nvPr/>
        </p:nvSpPr>
        <p:spPr>
          <a:xfrm>
            <a:off x="10332720" y="2286000"/>
            <a:ext cx="1005840" cy="1005840"/>
          </a:xfrm>
          <a:prstGeom prst="ellipse">
            <a:avLst/>
          </a:prstGeom>
          <a:solidFill>
            <a:srgbClr val="284B8C"/>
          </a:solidFill>
          <a:ln w="25400">
            <a:solidFill>
              <a:srgbClr val="FFFFFF"/>
            </a:solidFill>
            <a:prstDash val="solid"/>
          </a:ln>
        </p:spPr>
      </p:sp>
      <p:sp>
        <p:nvSpPr>
          <p:cNvPr id="13" name="Text 11"/>
          <p:cNvSpPr txBox="1"/>
          <p:nvPr/>
        </p:nvSpPr>
        <p:spPr>
          <a:xfrm>
            <a:off x="10332720" y="2286000"/>
            <a:ext cx="1005840"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PHC</a:t>
            </a:r>
            <a:endParaRPr lang="en-US" sz="1600" dirty="0"/>
          </a:p>
        </p:txBody>
      </p:sp>
      <p:sp>
        <p:nvSpPr>
          <p:cNvPr id="14" name="Shape 12"/>
          <p:cNvSpPr/>
          <p:nvPr/>
        </p:nvSpPr>
        <p:spPr>
          <a:xfrm>
            <a:off x="8778240" y="3566160"/>
            <a:ext cx="1005840" cy="1005840"/>
          </a:xfrm>
          <a:prstGeom prst="ellipse">
            <a:avLst/>
          </a:prstGeom>
          <a:solidFill>
            <a:srgbClr val="284B8C"/>
          </a:solidFill>
          <a:ln w="25400">
            <a:solidFill>
              <a:srgbClr val="FFFFFF"/>
            </a:solidFill>
            <a:prstDash val="solid"/>
          </a:ln>
        </p:spPr>
      </p:sp>
      <p:sp>
        <p:nvSpPr>
          <p:cNvPr id="15" name="Text 13"/>
          <p:cNvSpPr txBox="1"/>
          <p:nvPr/>
        </p:nvSpPr>
        <p:spPr>
          <a:xfrm>
            <a:off x="8778240" y="3566160"/>
            <a:ext cx="1005840"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CHC</a:t>
            </a:r>
            <a:endParaRPr lang="en-US" sz="1600" dirty="0"/>
          </a:p>
        </p:txBody>
      </p:sp>
      <p:sp>
        <p:nvSpPr>
          <p:cNvPr id="16" name="Shape 14"/>
          <p:cNvSpPr/>
          <p:nvPr/>
        </p:nvSpPr>
        <p:spPr>
          <a:xfrm>
            <a:off x="10424160" y="4754880"/>
            <a:ext cx="1005840" cy="1005840"/>
          </a:xfrm>
          <a:prstGeom prst="ellipse">
            <a:avLst/>
          </a:prstGeom>
          <a:solidFill>
            <a:srgbClr val="FF9933"/>
          </a:solidFill>
          <a:ln w="25400">
            <a:solidFill>
              <a:srgbClr val="FFFFFF"/>
            </a:solidFill>
            <a:prstDash val="solid"/>
          </a:ln>
        </p:spPr>
      </p:sp>
      <p:sp>
        <p:nvSpPr>
          <p:cNvPr id="17" name="Text 15"/>
          <p:cNvSpPr txBox="1"/>
          <p:nvPr/>
        </p:nvSpPr>
        <p:spPr>
          <a:xfrm>
            <a:off x="10424160" y="4754880"/>
            <a:ext cx="1005840"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DH</a:t>
            </a:r>
            <a:endParaRPr lang="en-US" sz="1600" dirty="0"/>
          </a:p>
        </p:txBody>
      </p:sp>
      <p:sp>
        <p:nvSpPr>
          <p:cNvPr id="18" name="Text 16"/>
          <p:cNvSpPr txBox="1"/>
          <p:nvPr/>
        </p:nvSpPr>
        <p:spPr>
          <a:xfrm>
            <a:off x="8046720" y="5989320"/>
            <a:ext cx="3657600" cy="320040"/>
          </a:xfrm>
          <a:prstGeom prst="rect">
            <a:avLst/>
          </a:prstGeom>
          <a:noFill/>
          <a:ln/>
        </p:spPr>
        <p:txBody>
          <a:bodyPr wrap="square" lIns="0" tIns="0" rIns="0" bIns="0" rtlCol="0" anchor="ctr"/>
          <a:lstStyle/>
          <a:p>
            <a:pPr algn="r" indent="0" marL="0">
              <a:buNone/>
            </a:pPr>
            <a:r>
              <a:rPr lang="en-US" sz="1100" dirty="0">
                <a:solidFill>
                  <a:srgbClr val="9FB3D6"/>
                </a:solidFill>
                <a:latin typeface="Calibri" pitchFamily="34" charset="0"/>
                <a:ea typeface="Calibri" pitchFamily="34" charset="-122"/>
                <a:cs typeface="Calibri" pitchFamily="34" charset="-120"/>
              </a:rPr>
              <a:t>Sub-Centre → PHC → CHC → District Hospital</a:t>
            </a:r>
            <a:endParaRPr lang="en-US" sz="1100" dirty="0"/>
          </a:p>
        </p:txBody>
      </p:sp>
      <p:sp>
        <p:nvSpPr>
          <p:cNvPr id="19" name="Text 17"/>
          <p:cNvSpPr txBox="1"/>
          <p:nvPr/>
        </p:nvSpPr>
        <p:spPr>
          <a:xfrm>
            <a:off x="548640" y="5989320"/>
            <a:ext cx="6400800" cy="320040"/>
          </a:xfrm>
          <a:prstGeom prst="rect">
            <a:avLst/>
          </a:prstGeom>
          <a:noFill/>
          <a:ln/>
        </p:spPr>
        <p:txBody>
          <a:bodyPr wrap="square" lIns="0" tIns="0" rIns="0" bIns="0" rtlCol="0" anchor="ctr"/>
          <a:lstStyle/>
          <a:p>
            <a:pPr indent="0" marL="0">
              <a:buNone/>
            </a:pPr>
            <a:r>
              <a:rPr lang="en-US" sz="1200" dirty="0">
                <a:solidFill>
                  <a:srgbClr val="9FB3D6"/>
                </a:solidFill>
                <a:latin typeface="Calibri" pitchFamily="34" charset="0"/>
                <a:ea typeface="Calibri" pitchFamily="34" charset="-122"/>
                <a:cs typeface="Calibri" pitchFamily="34" charset="-120"/>
              </a:rPr>
              <a:t>Smart India Hackathon 2025 · Problem Statement #26133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THE PLATFORM</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200" b="1" dirty="0">
                <a:solidFill>
                  <a:srgbClr val="1F3A6E"/>
                </a:solidFill>
                <a:latin typeface="Cambria" pitchFamily="34" charset="0"/>
                <a:ea typeface="Cambria" pitchFamily="34" charset="-122"/>
                <a:cs typeface="Cambria" pitchFamily="34" charset="-120"/>
              </a:rPr>
              <a:t>What NalamMesh does</a:t>
            </a:r>
            <a:endParaRPr lang="en-US" sz="3200" dirty="0"/>
          </a:p>
        </p:txBody>
      </p:sp>
      <p:sp>
        <p:nvSpPr>
          <p:cNvPr id="4" name="Text 2"/>
          <p:cNvSpPr txBox="1"/>
          <p:nvPr/>
        </p:nvSpPr>
        <p:spPr>
          <a:xfrm>
            <a:off x="548640" y="1417320"/>
            <a:ext cx="11094415" cy="640080"/>
          </a:xfrm>
          <a:prstGeom prst="rect">
            <a:avLst/>
          </a:prstGeom>
          <a:noFill/>
          <a:ln/>
        </p:spPr>
        <p:txBody>
          <a:bodyPr wrap="square" lIns="0" tIns="0" rIns="0" bIns="0" rtlCol="0" anchor="t"/>
          <a:lstStyle/>
          <a:p>
            <a:pPr indent="0" marL="0">
              <a:buNone/>
            </a:pPr>
            <a:r>
              <a:rPr lang="en-US" sz="1600" dirty="0">
                <a:solidFill>
                  <a:srgbClr val="5B6475"/>
                </a:solidFill>
                <a:latin typeface="Calibri" pitchFamily="34" charset="0"/>
                <a:ea typeface="Calibri" pitchFamily="34" charset="-122"/>
                <a:cs typeface="Calibri" pitchFamily="34" charset="-120"/>
              </a:rPr>
              <a:t>A health worker at a remote Sub-Centre triages a patient, refers them up the chain, and the receiving hospital prepares before the ambulance arrives — with or without a network.</a:t>
            </a:r>
            <a:endParaRPr lang="en-US" sz="1600" dirty="0"/>
          </a:p>
        </p:txBody>
      </p:sp>
      <p:sp>
        <p:nvSpPr>
          <p:cNvPr id="5" name="Shape 3"/>
          <p:cNvSpPr/>
          <p:nvPr/>
        </p:nvSpPr>
        <p:spPr>
          <a:xfrm>
            <a:off x="548640" y="2240280"/>
            <a:ext cx="3520440" cy="1920240"/>
          </a:xfrm>
          <a:prstGeom prst="roundRect">
            <a:avLst>
              <a:gd name="adj" fmla="val 3810"/>
            </a:avLst>
          </a:prstGeom>
          <a:solidFill>
            <a:srgbClr val="F1F3F7"/>
          </a:solidFill>
          <a:ln w="12700">
            <a:solidFill>
              <a:srgbClr val="F1F3F7"/>
            </a:solidFill>
            <a:prstDash val="solid"/>
          </a:ln>
        </p:spPr>
      </p:sp>
      <p:sp>
        <p:nvSpPr>
          <p:cNvPr id="6" name="Shape 4"/>
          <p:cNvSpPr/>
          <p:nvPr/>
        </p:nvSpPr>
        <p:spPr>
          <a:xfrm>
            <a:off x="777240" y="2468880"/>
            <a:ext cx="548640" cy="548640"/>
          </a:xfrm>
          <a:prstGeom prst="ellipse">
            <a:avLst/>
          </a:prstGeom>
          <a:solidFill>
            <a:srgbClr val="1F3A6E"/>
          </a:solidFill>
          <a:ln w="12700">
            <a:solidFill>
              <a:srgbClr val="1F3A6E"/>
            </a:solidFill>
            <a:prstDash val="solid"/>
          </a:ln>
        </p:spPr>
      </p:sp>
      <p:pic>
        <p:nvPicPr>
          <p:cNvPr id="7" name="Image 0" descr="preencoded.png">    </p:cNvPr>
          <p:cNvPicPr>
            <a:picLocks noChangeAspect="1"/>
          </p:cNvPicPr>
          <p:nvPr/>
        </p:nvPicPr>
        <p:blipFill>
          <a:blip r:embed="rId1"/>
          <a:stretch>
            <a:fillRect/>
          </a:stretch>
        </p:blipFill>
        <p:spPr>
          <a:xfrm>
            <a:off x="919886" y="2611526"/>
            <a:ext cx="263347" cy="263347"/>
          </a:xfrm>
          <a:prstGeom prst="rect">
            <a:avLst/>
          </a:prstGeom>
        </p:spPr>
      </p:pic>
      <p:sp>
        <p:nvSpPr>
          <p:cNvPr id="8" name="Text 5"/>
          <p:cNvSpPr txBox="1"/>
          <p:nvPr/>
        </p:nvSpPr>
        <p:spPr>
          <a:xfrm>
            <a:off x="1463040" y="2514600"/>
            <a:ext cx="2423160" cy="457200"/>
          </a:xfrm>
          <a:prstGeom prst="rect">
            <a:avLst/>
          </a:prstGeom>
          <a:noFill/>
          <a:ln/>
        </p:spPr>
        <p:txBody>
          <a:bodyPr wrap="square" lIns="0" tIns="0" rIns="0" bIns="0" rtlCol="0" anchor="ctr"/>
          <a:lstStyle/>
          <a:p>
            <a:pPr indent="0" marL="0">
              <a:buNone/>
            </a:pPr>
            <a:r>
              <a:rPr lang="en-US" sz="1700" b="1" dirty="0">
                <a:solidFill>
                  <a:srgbClr val="1F3A6E"/>
                </a:solidFill>
                <a:latin typeface="Calibri" pitchFamily="34" charset="0"/>
                <a:ea typeface="Calibri" pitchFamily="34" charset="-122"/>
                <a:cs typeface="Calibri" pitchFamily="34" charset="-120"/>
              </a:rPr>
              <a:t>Edge AI triage</a:t>
            </a:r>
            <a:endParaRPr lang="en-US" sz="1700" dirty="0"/>
          </a:p>
        </p:txBody>
      </p:sp>
      <p:sp>
        <p:nvSpPr>
          <p:cNvPr id="9" name="Text 6"/>
          <p:cNvSpPr txBox="1"/>
          <p:nvPr/>
        </p:nvSpPr>
        <p:spPr>
          <a:xfrm>
            <a:off x="777240" y="3154680"/>
            <a:ext cx="3063240" cy="914400"/>
          </a:xfrm>
          <a:prstGeom prst="rect">
            <a:avLst/>
          </a:prstGeom>
          <a:noFill/>
          <a:ln/>
        </p:spPr>
        <p:txBody>
          <a:bodyPr wrap="square" lIns="0" tIns="0" rIns="0" bIns="0" rtlCol="0" anchor="t"/>
          <a:lstStyle/>
          <a:p>
            <a:pPr indent="0" marL="0">
              <a:buNone/>
            </a:pPr>
            <a:r>
              <a:rPr lang="en-US" sz="1250" dirty="0">
                <a:solidFill>
                  <a:srgbClr val="1E2533"/>
                </a:solidFill>
                <a:latin typeface="Calibri" pitchFamily="34" charset="0"/>
                <a:ea typeface="Calibri" pitchFamily="34" charset="-122"/>
                <a:cs typeface="Calibri" pitchFamily="34" charset="-120"/>
              </a:rPr>
              <a:t>TensorFlow.js model runs in the browser; an IPHS clinical rule engine always has the final say on danger signs.</a:t>
            </a:r>
            <a:endParaRPr lang="en-US" sz="1250" dirty="0"/>
          </a:p>
        </p:txBody>
      </p:sp>
      <p:sp>
        <p:nvSpPr>
          <p:cNvPr id="10" name="Shape 7"/>
          <p:cNvSpPr/>
          <p:nvPr/>
        </p:nvSpPr>
        <p:spPr>
          <a:xfrm>
            <a:off x="4334256" y="2240280"/>
            <a:ext cx="3520440" cy="1920240"/>
          </a:xfrm>
          <a:prstGeom prst="roundRect">
            <a:avLst>
              <a:gd name="adj" fmla="val 3810"/>
            </a:avLst>
          </a:prstGeom>
          <a:solidFill>
            <a:srgbClr val="F1F3F7"/>
          </a:solidFill>
          <a:ln w="12700">
            <a:solidFill>
              <a:srgbClr val="F1F3F7"/>
            </a:solidFill>
            <a:prstDash val="solid"/>
          </a:ln>
        </p:spPr>
      </p:sp>
      <p:sp>
        <p:nvSpPr>
          <p:cNvPr id="11" name="Shape 8"/>
          <p:cNvSpPr/>
          <p:nvPr/>
        </p:nvSpPr>
        <p:spPr>
          <a:xfrm>
            <a:off x="4562856" y="2468880"/>
            <a:ext cx="548640" cy="548640"/>
          </a:xfrm>
          <a:prstGeom prst="ellipse">
            <a:avLst/>
          </a:prstGeom>
          <a:solidFill>
            <a:srgbClr val="1F3A6E"/>
          </a:solidFill>
          <a:ln w="12700">
            <a:solidFill>
              <a:srgbClr val="1F3A6E"/>
            </a:solidFill>
            <a:prstDash val="solid"/>
          </a:ln>
        </p:spPr>
      </p:sp>
      <p:pic>
        <p:nvPicPr>
          <p:cNvPr id="12" name="Image 1" descr="preencoded.png">    </p:cNvPr>
          <p:cNvPicPr>
            <a:picLocks noChangeAspect="1"/>
          </p:cNvPicPr>
          <p:nvPr/>
        </p:nvPicPr>
        <p:blipFill>
          <a:blip r:embed="rId2"/>
          <a:stretch>
            <a:fillRect/>
          </a:stretch>
        </p:blipFill>
        <p:spPr>
          <a:xfrm>
            <a:off x="4705502" y="2611526"/>
            <a:ext cx="263347" cy="263347"/>
          </a:xfrm>
          <a:prstGeom prst="rect">
            <a:avLst/>
          </a:prstGeom>
        </p:spPr>
      </p:pic>
      <p:sp>
        <p:nvSpPr>
          <p:cNvPr id="13" name="Text 9"/>
          <p:cNvSpPr txBox="1"/>
          <p:nvPr/>
        </p:nvSpPr>
        <p:spPr>
          <a:xfrm>
            <a:off x="5248656" y="2514600"/>
            <a:ext cx="2423160" cy="457200"/>
          </a:xfrm>
          <a:prstGeom prst="rect">
            <a:avLst/>
          </a:prstGeom>
          <a:noFill/>
          <a:ln/>
        </p:spPr>
        <p:txBody>
          <a:bodyPr wrap="square" lIns="0" tIns="0" rIns="0" bIns="0" rtlCol="0" anchor="ctr"/>
          <a:lstStyle/>
          <a:p>
            <a:pPr indent="0" marL="0">
              <a:buNone/>
            </a:pPr>
            <a:r>
              <a:rPr lang="en-US" sz="1700" b="1" dirty="0">
                <a:solidFill>
                  <a:srgbClr val="1F3A6E"/>
                </a:solidFill>
                <a:latin typeface="Calibri" pitchFamily="34" charset="0"/>
                <a:ea typeface="Calibri" pitchFamily="34" charset="-122"/>
                <a:cs typeface="Calibri" pitchFamily="34" charset="-120"/>
              </a:rPr>
              <a:t>Offline-first records</a:t>
            </a:r>
            <a:endParaRPr lang="en-US" sz="1700" dirty="0"/>
          </a:p>
        </p:txBody>
      </p:sp>
      <p:sp>
        <p:nvSpPr>
          <p:cNvPr id="14" name="Text 10"/>
          <p:cNvSpPr txBox="1"/>
          <p:nvPr/>
        </p:nvSpPr>
        <p:spPr>
          <a:xfrm>
            <a:off x="4562856" y="3154680"/>
            <a:ext cx="3063240" cy="914400"/>
          </a:xfrm>
          <a:prstGeom prst="rect">
            <a:avLst/>
          </a:prstGeom>
          <a:noFill/>
          <a:ln/>
        </p:spPr>
        <p:txBody>
          <a:bodyPr wrap="square" lIns="0" tIns="0" rIns="0" bIns="0" rtlCol="0" anchor="t"/>
          <a:lstStyle/>
          <a:p>
            <a:pPr indent="0" marL="0">
              <a:buNone/>
            </a:pPr>
            <a:r>
              <a:rPr lang="en-US" sz="1250" dirty="0">
                <a:solidFill>
                  <a:srgbClr val="1E2533"/>
                </a:solidFill>
                <a:latin typeface="Calibri" pitchFamily="34" charset="0"/>
                <a:ea typeface="Calibri" pitchFamily="34" charset="-122"/>
                <a:cs typeface="Calibri" pitchFamily="34" charset="-120"/>
              </a:rPr>
              <a:t>Patients, queue, referrals and stock live in IndexedDB on the device. No network is needed to work.</a:t>
            </a:r>
            <a:endParaRPr lang="en-US" sz="1250" dirty="0"/>
          </a:p>
        </p:txBody>
      </p:sp>
      <p:sp>
        <p:nvSpPr>
          <p:cNvPr id="15" name="Shape 11"/>
          <p:cNvSpPr/>
          <p:nvPr/>
        </p:nvSpPr>
        <p:spPr>
          <a:xfrm>
            <a:off x="8119872" y="2240280"/>
            <a:ext cx="3520440" cy="1920240"/>
          </a:xfrm>
          <a:prstGeom prst="roundRect">
            <a:avLst>
              <a:gd name="adj" fmla="val 3810"/>
            </a:avLst>
          </a:prstGeom>
          <a:solidFill>
            <a:srgbClr val="F1F3F7"/>
          </a:solidFill>
          <a:ln w="12700">
            <a:solidFill>
              <a:srgbClr val="F1F3F7"/>
            </a:solidFill>
            <a:prstDash val="solid"/>
          </a:ln>
        </p:spPr>
      </p:sp>
      <p:sp>
        <p:nvSpPr>
          <p:cNvPr id="16" name="Shape 12"/>
          <p:cNvSpPr/>
          <p:nvPr/>
        </p:nvSpPr>
        <p:spPr>
          <a:xfrm>
            <a:off x="8348472" y="2468880"/>
            <a:ext cx="548640" cy="548640"/>
          </a:xfrm>
          <a:prstGeom prst="ellipse">
            <a:avLst/>
          </a:prstGeom>
          <a:solidFill>
            <a:srgbClr val="1F3A6E"/>
          </a:solidFill>
          <a:ln w="12700">
            <a:solidFill>
              <a:srgbClr val="1F3A6E"/>
            </a:solidFill>
            <a:prstDash val="solid"/>
          </a:ln>
        </p:spPr>
      </p:sp>
      <p:pic>
        <p:nvPicPr>
          <p:cNvPr id="17" name="Image 2" descr="preencoded.png">    </p:cNvPr>
          <p:cNvPicPr>
            <a:picLocks noChangeAspect="1"/>
          </p:cNvPicPr>
          <p:nvPr/>
        </p:nvPicPr>
        <p:blipFill>
          <a:blip r:embed="rId3"/>
          <a:stretch>
            <a:fillRect/>
          </a:stretch>
        </p:blipFill>
        <p:spPr>
          <a:xfrm>
            <a:off x="8491118" y="2611526"/>
            <a:ext cx="263347" cy="263347"/>
          </a:xfrm>
          <a:prstGeom prst="rect">
            <a:avLst/>
          </a:prstGeom>
        </p:spPr>
      </p:pic>
      <p:sp>
        <p:nvSpPr>
          <p:cNvPr id="18" name="Text 13"/>
          <p:cNvSpPr txBox="1"/>
          <p:nvPr/>
        </p:nvSpPr>
        <p:spPr>
          <a:xfrm>
            <a:off x="9034272" y="2514600"/>
            <a:ext cx="2423160" cy="457200"/>
          </a:xfrm>
          <a:prstGeom prst="rect">
            <a:avLst/>
          </a:prstGeom>
          <a:noFill/>
          <a:ln/>
        </p:spPr>
        <p:txBody>
          <a:bodyPr wrap="square" lIns="0" tIns="0" rIns="0" bIns="0" rtlCol="0" anchor="ctr"/>
          <a:lstStyle/>
          <a:p>
            <a:pPr indent="0" marL="0">
              <a:buNone/>
            </a:pPr>
            <a:r>
              <a:rPr lang="en-US" sz="1700" b="1" dirty="0">
                <a:solidFill>
                  <a:srgbClr val="1F3A6E"/>
                </a:solidFill>
                <a:latin typeface="Calibri" pitchFamily="34" charset="0"/>
                <a:ea typeface="Calibri" pitchFamily="34" charset="-122"/>
                <a:cs typeface="Calibri" pitchFamily="34" charset="-120"/>
              </a:rPr>
              <a:t>Referral lifecycle</a:t>
            </a:r>
            <a:endParaRPr lang="en-US" sz="1700" dirty="0"/>
          </a:p>
        </p:txBody>
      </p:sp>
      <p:sp>
        <p:nvSpPr>
          <p:cNvPr id="19" name="Text 14"/>
          <p:cNvSpPr txBox="1"/>
          <p:nvPr/>
        </p:nvSpPr>
        <p:spPr>
          <a:xfrm>
            <a:off x="8348472" y="3154680"/>
            <a:ext cx="3063240" cy="914400"/>
          </a:xfrm>
          <a:prstGeom prst="rect">
            <a:avLst/>
          </a:prstGeom>
          <a:noFill/>
          <a:ln/>
        </p:spPr>
        <p:txBody>
          <a:bodyPr wrap="square" lIns="0" tIns="0" rIns="0" bIns="0" rtlCol="0" anchor="t"/>
          <a:lstStyle/>
          <a:p>
            <a:pPr indent="0" marL="0">
              <a:buNone/>
            </a:pPr>
            <a:r>
              <a:rPr lang="en-US" sz="1250" dirty="0">
                <a:solidFill>
                  <a:srgbClr val="1E2533"/>
                </a:solidFill>
                <a:latin typeface="Calibri" pitchFamily="34" charset="0"/>
                <a:ea typeface="Calibri" pitchFamily="34" charset="-122"/>
                <a:cs typeface="Calibri" pitchFamily="34" charset="-120"/>
              </a:rPr>
              <a:t>CREATED → SENT → DELIVERED → ACCEPTED → ARRIVED → ADMITTED, with role-based permissions on every step.</a:t>
            </a:r>
            <a:endParaRPr lang="en-US" sz="1250" dirty="0"/>
          </a:p>
        </p:txBody>
      </p:sp>
      <p:sp>
        <p:nvSpPr>
          <p:cNvPr id="20" name="Shape 15"/>
          <p:cNvSpPr/>
          <p:nvPr/>
        </p:nvSpPr>
        <p:spPr>
          <a:xfrm>
            <a:off x="548640" y="4434840"/>
            <a:ext cx="3520440" cy="1920240"/>
          </a:xfrm>
          <a:prstGeom prst="roundRect">
            <a:avLst>
              <a:gd name="adj" fmla="val 3810"/>
            </a:avLst>
          </a:prstGeom>
          <a:solidFill>
            <a:srgbClr val="F1F3F7"/>
          </a:solidFill>
          <a:ln w="12700">
            <a:solidFill>
              <a:srgbClr val="F1F3F7"/>
            </a:solidFill>
            <a:prstDash val="solid"/>
          </a:ln>
        </p:spPr>
      </p:sp>
      <p:sp>
        <p:nvSpPr>
          <p:cNvPr id="21" name="Shape 16"/>
          <p:cNvSpPr/>
          <p:nvPr/>
        </p:nvSpPr>
        <p:spPr>
          <a:xfrm>
            <a:off x="777240" y="4663440"/>
            <a:ext cx="548640" cy="548640"/>
          </a:xfrm>
          <a:prstGeom prst="ellipse">
            <a:avLst/>
          </a:prstGeom>
          <a:solidFill>
            <a:srgbClr val="B45309"/>
          </a:solidFill>
          <a:ln w="12700">
            <a:solidFill>
              <a:srgbClr val="B45309"/>
            </a:solidFill>
            <a:prstDash val="solid"/>
          </a:ln>
        </p:spPr>
      </p:sp>
      <p:pic>
        <p:nvPicPr>
          <p:cNvPr id="22" name="Image 3" descr="preencoded.png">    </p:cNvPr>
          <p:cNvPicPr>
            <a:picLocks noChangeAspect="1"/>
          </p:cNvPicPr>
          <p:nvPr/>
        </p:nvPicPr>
        <p:blipFill>
          <a:blip r:embed="rId4"/>
          <a:stretch>
            <a:fillRect/>
          </a:stretch>
        </p:blipFill>
        <p:spPr>
          <a:xfrm>
            <a:off x="919886" y="4806086"/>
            <a:ext cx="263347" cy="263347"/>
          </a:xfrm>
          <a:prstGeom prst="rect">
            <a:avLst/>
          </a:prstGeom>
        </p:spPr>
      </p:pic>
      <p:sp>
        <p:nvSpPr>
          <p:cNvPr id="23" name="Text 17"/>
          <p:cNvSpPr txBox="1"/>
          <p:nvPr/>
        </p:nvSpPr>
        <p:spPr>
          <a:xfrm>
            <a:off x="1463040" y="4709160"/>
            <a:ext cx="2423160" cy="457200"/>
          </a:xfrm>
          <a:prstGeom prst="rect">
            <a:avLst/>
          </a:prstGeom>
          <a:noFill/>
          <a:ln/>
        </p:spPr>
        <p:txBody>
          <a:bodyPr wrap="square" lIns="0" tIns="0" rIns="0" bIns="0" rtlCol="0" anchor="ctr"/>
          <a:lstStyle/>
          <a:p>
            <a:pPr indent="0" marL="0">
              <a:buNone/>
            </a:pPr>
            <a:r>
              <a:rPr lang="en-US" sz="1700" b="1" dirty="0">
                <a:solidFill>
                  <a:srgbClr val="1F3A6E"/>
                </a:solidFill>
                <a:latin typeface="Calibri" pitchFamily="34" charset="0"/>
                <a:ea typeface="Calibri" pitchFamily="34" charset="-122"/>
                <a:cs typeface="Calibri" pitchFamily="34" charset="-120"/>
              </a:rPr>
              <a:t>Capacity-aware acceptance</a:t>
            </a:r>
            <a:endParaRPr lang="en-US" sz="1700" dirty="0"/>
          </a:p>
        </p:txBody>
      </p:sp>
      <p:sp>
        <p:nvSpPr>
          <p:cNvPr id="24" name="Text 18"/>
          <p:cNvSpPr txBox="1"/>
          <p:nvPr/>
        </p:nvSpPr>
        <p:spPr>
          <a:xfrm>
            <a:off x="777240" y="5349240"/>
            <a:ext cx="3063240" cy="914400"/>
          </a:xfrm>
          <a:prstGeom prst="rect">
            <a:avLst/>
          </a:prstGeom>
          <a:noFill/>
          <a:ln/>
        </p:spPr>
        <p:txBody>
          <a:bodyPr wrap="square" lIns="0" tIns="0" rIns="0" bIns="0" rtlCol="0" anchor="t"/>
          <a:lstStyle/>
          <a:p>
            <a:pPr indent="0" marL="0">
              <a:buNone/>
            </a:pPr>
            <a:r>
              <a:rPr lang="en-US" sz="1250" dirty="0">
                <a:solidFill>
                  <a:srgbClr val="1E2533"/>
                </a:solidFill>
                <a:latin typeface="Calibri" pitchFamily="34" charset="0"/>
                <a:ea typeface="Calibri" pitchFamily="34" charset="-122"/>
                <a:cs typeface="Calibri" pitchFamily="34" charset="-120"/>
              </a:rPr>
              <a:t>Free beds = total − occupied − under maintenance − reserved. No referral into a full hospital.</a:t>
            </a:r>
            <a:endParaRPr lang="en-US" sz="1250" dirty="0"/>
          </a:p>
        </p:txBody>
      </p:sp>
      <p:sp>
        <p:nvSpPr>
          <p:cNvPr id="25" name="Shape 19"/>
          <p:cNvSpPr/>
          <p:nvPr/>
        </p:nvSpPr>
        <p:spPr>
          <a:xfrm>
            <a:off x="4334256" y="4434840"/>
            <a:ext cx="3520440" cy="1920240"/>
          </a:xfrm>
          <a:prstGeom prst="roundRect">
            <a:avLst>
              <a:gd name="adj" fmla="val 3810"/>
            </a:avLst>
          </a:prstGeom>
          <a:solidFill>
            <a:srgbClr val="F1F3F7"/>
          </a:solidFill>
          <a:ln w="12700">
            <a:solidFill>
              <a:srgbClr val="F1F3F7"/>
            </a:solidFill>
            <a:prstDash val="solid"/>
          </a:ln>
        </p:spPr>
      </p:sp>
      <p:sp>
        <p:nvSpPr>
          <p:cNvPr id="26" name="Shape 20"/>
          <p:cNvSpPr/>
          <p:nvPr/>
        </p:nvSpPr>
        <p:spPr>
          <a:xfrm>
            <a:off x="4562856" y="4663440"/>
            <a:ext cx="548640" cy="548640"/>
          </a:xfrm>
          <a:prstGeom prst="ellipse">
            <a:avLst/>
          </a:prstGeom>
          <a:solidFill>
            <a:srgbClr val="1F3A6E"/>
          </a:solidFill>
          <a:ln w="12700">
            <a:solidFill>
              <a:srgbClr val="1F3A6E"/>
            </a:solidFill>
            <a:prstDash val="solid"/>
          </a:ln>
        </p:spPr>
      </p:sp>
      <p:pic>
        <p:nvPicPr>
          <p:cNvPr id="27" name="Image 4" descr="preencoded.png">    </p:cNvPr>
          <p:cNvPicPr>
            <a:picLocks noChangeAspect="1"/>
          </p:cNvPicPr>
          <p:nvPr/>
        </p:nvPicPr>
        <p:blipFill>
          <a:blip r:embed="rId5"/>
          <a:stretch>
            <a:fillRect/>
          </a:stretch>
        </p:blipFill>
        <p:spPr>
          <a:xfrm>
            <a:off x="4705502" y="4806086"/>
            <a:ext cx="263347" cy="263347"/>
          </a:xfrm>
          <a:prstGeom prst="rect">
            <a:avLst/>
          </a:prstGeom>
        </p:spPr>
      </p:pic>
      <p:sp>
        <p:nvSpPr>
          <p:cNvPr id="28" name="Text 21"/>
          <p:cNvSpPr txBox="1"/>
          <p:nvPr/>
        </p:nvSpPr>
        <p:spPr>
          <a:xfrm>
            <a:off x="5248656" y="4709160"/>
            <a:ext cx="2423160" cy="457200"/>
          </a:xfrm>
          <a:prstGeom prst="rect">
            <a:avLst/>
          </a:prstGeom>
          <a:noFill/>
          <a:ln/>
        </p:spPr>
        <p:txBody>
          <a:bodyPr wrap="square" lIns="0" tIns="0" rIns="0" bIns="0" rtlCol="0" anchor="ctr"/>
          <a:lstStyle/>
          <a:p>
            <a:pPr indent="0" marL="0">
              <a:buNone/>
            </a:pPr>
            <a:r>
              <a:rPr lang="en-US" sz="1700" b="1" dirty="0">
                <a:solidFill>
                  <a:srgbClr val="1F3A6E"/>
                </a:solidFill>
                <a:latin typeface="Calibri" pitchFamily="34" charset="0"/>
                <a:ea typeface="Calibri" pitchFamily="34" charset="-122"/>
                <a:cs typeface="Calibri" pitchFamily="34" charset="-120"/>
              </a:rPr>
              <a:t>Mesh relay sync</a:t>
            </a:r>
            <a:endParaRPr lang="en-US" sz="1700" dirty="0"/>
          </a:p>
        </p:txBody>
      </p:sp>
      <p:sp>
        <p:nvSpPr>
          <p:cNvPr id="29" name="Text 22"/>
          <p:cNvSpPr txBox="1"/>
          <p:nvPr/>
        </p:nvSpPr>
        <p:spPr>
          <a:xfrm>
            <a:off x="4562856" y="5349240"/>
            <a:ext cx="3063240" cy="914400"/>
          </a:xfrm>
          <a:prstGeom prst="rect">
            <a:avLst/>
          </a:prstGeom>
          <a:noFill/>
          <a:ln/>
        </p:spPr>
        <p:txBody>
          <a:bodyPr wrap="square" lIns="0" tIns="0" rIns="0" bIns="0" rtlCol="0" anchor="t"/>
          <a:lstStyle/>
          <a:p>
            <a:pPr indent="0" marL="0">
              <a:buNone/>
            </a:pPr>
            <a:r>
              <a:rPr lang="en-US" sz="1250" dirty="0">
                <a:solidFill>
                  <a:srgbClr val="1E2533"/>
                </a:solidFill>
                <a:latin typeface="Calibri" pitchFamily="34" charset="0"/>
                <a:ea typeface="Calibri" pitchFamily="34" charset="-122"/>
                <a:cs typeface="Calibri" pitchFamily="34" charset="-120"/>
              </a:rPr>
              <a:t>A Socket.io relay carries referrals, patients and bed status between SC, PHC, CHC and DH.</a:t>
            </a:r>
            <a:endParaRPr lang="en-US" sz="1250" dirty="0"/>
          </a:p>
        </p:txBody>
      </p:sp>
      <p:sp>
        <p:nvSpPr>
          <p:cNvPr id="30" name="Shape 23"/>
          <p:cNvSpPr/>
          <p:nvPr/>
        </p:nvSpPr>
        <p:spPr>
          <a:xfrm>
            <a:off x="8119872" y="4434840"/>
            <a:ext cx="3520440" cy="1920240"/>
          </a:xfrm>
          <a:prstGeom prst="roundRect">
            <a:avLst>
              <a:gd name="adj" fmla="val 3810"/>
            </a:avLst>
          </a:prstGeom>
          <a:solidFill>
            <a:srgbClr val="F1F3F7"/>
          </a:solidFill>
          <a:ln w="12700">
            <a:solidFill>
              <a:srgbClr val="F1F3F7"/>
            </a:solidFill>
            <a:prstDash val="solid"/>
          </a:ln>
        </p:spPr>
      </p:sp>
      <p:sp>
        <p:nvSpPr>
          <p:cNvPr id="31" name="Shape 24"/>
          <p:cNvSpPr/>
          <p:nvPr/>
        </p:nvSpPr>
        <p:spPr>
          <a:xfrm>
            <a:off x="8348472" y="4663440"/>
            <a:ext cx="548640" cy="548640"/>
          </a:xfrm>
          <a:prstGeom prst="ellipse">
            <a:avLst/>
          </a:prstGeom>
          <a:solidFill>
            <a:srgbClr val="1F3A6E"/>
          </a:solidFill>
          <a:ln w="12700">
            <a:solidFill>
              <a:srgbClr val="1F3A6E"/>
            </a:solidFill>
            <a:prstDash val="solid"/>
          </a:ln>
        </p:spPr>
      </p:sp>
      <p:pic>
        <p:nvPicPr>
          <p:cNvPr id="32" name="Image 5" descr="preencoded.png">    </p:cNvPr>
          <p:cNvPicPr>
            <a:picLocks noChangeAspect="1"/>
          </p:cNvPicPr>
          <p:nvPr/>
        </p:nvPicPr>
        <p:blipFill>
          <a:blip r:embed="rId6"/>
          <a:stretch>
            <a:fillRect/>
          </a:stretch>
        </p:blipFill>
        <p:spPr>
          <a:xfrm>
            <a:off x="8491118" y="4806086"/>
            <a:ext cx="263347" cy="263347"/>
          </a:xfrm>
          <a:prstGeom prst="rect">
            <a:avLst/>
          </a:prstGeom>
        </p:spPr>
      </p:pic>
      <p:sp>
        <p:nvSpPr>
          <p:cNvPr id="33" name="Text 25"/>
          <p:cNvSpPr txBox="1"/>
          <p:nvPr/>
        </p:nvSpPr>
        <p:spPr>
          <a:xfrm>
            <a:off x="9034272" y="4709160"/>
            <a:ext cx="2423160" cy="457200"/>
          </a:xfrm>
          <a:prstGeom prst="rect">
            <a:avLst/>
          </a:prstGeom>
          <a:noFill/>
          <a:ln/>
        </p:spPr>
        <p:txBody>
          <a:bodyPr wrap="square" lIns="0" tIns="0" rIns="0" bIns="0" rtlCol="0" anchor="ctr"/>
          <a:lstStyle/>
          <a:p>
            <a:pPr indent="0" marL="0">
              <a:buNone/>
            </a:pPr>
            <a:r>
              <a:rPr lang="en-US" sz="1700" b="1" dirty="0">
                <a:solidFill>
                  <a:srgbClr val="1F3A6E"/>
                </a:solidFill>
                <a:latin typeface="Calibri" pitchFamily="34" charset="0"/>
                <a:ea typeface="Calibri" pitchFamily="34" charset="-122"/>
                <a:cs typeface="Calibri" pitchFamily="34" charset="-120"/>
              </a:rPr>
              <a:t>District cloud service</a:t>
            </a:r>
            <a:endParaRPr lang="en-US" sz="1700" dirty="0"/>
          </a:p>
        </p:txBody>
      </p:sp>
      <p:sp>
        <p:nvSpPr>
          <p:cNvPr id="34" name="Text 26"/>
          <p:cNvSpPr txBox="1"/>
          <p:nvPr/>
        </p:nvSpPr>
        <p:spPr>
          <a:xfrm>
            <a:off x="8348472" y="5349240"/>
            <a:ext cx="3063240" cy="914400"/>
          </a:xfrm>
          <a:prstGeom prst="rect">
            <a:avLst/>
          </a:prstGeom>
          <a:noFill/>
          <a:ln/>
        </p:spPr>
        <p:txBody>
          <a:bodyPr wrap="square" lIns="0" tIns="0" rIns="0" bIns="0" rtlCol="0" anchor="t"/>
          <a:lstStyle/>
          <a:p>
            <a:pPr indent="0" marL="0">
              <a:buNone/>
            </a:pPr>
            <a:r>
              <a:rPr lang="en-US" sz="1250" dirty="0">
                <a:solidFill>
                  <a:srgbClr val="1E2533"/>
                </a:solidFill>
                <a:latin typeface="Calibri" pitchFamily="34" charset="0"/>
                <a:ea typeface="Calibri" pitchFamily="34" charset="-122"/>
                <a:cs typeface="Calibri" pitchFamily="34" charset="-120"/>
              </a:rPr>
              <a:t>FastAPI + SQL receives uploads from each device’s outbox; a scoped cloud assistant answers questions.</a:t>
            </a:r>
            <a:endParaRPr lang="en-US" sz="1250" dirty="0"/>
          </a:p>
        </p:txBody>
      </p:sp>
      <p:sp>
        <p:nvSpPr>
          <p:cNvPr id="35" name="Text 27"/>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NalamMesh · 24CS502 Distributed and Cloud Computing</a:t>
            </a:r>
            <a:endParaRPr lang="en-US" sz="1000" dirty="0"/>
          </a:p>
        </p:txBody>
      </p:sp>
      <p:sp>
        <p:nvSpPr>
          <p:cNvPr id="36" name="Text 2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UNIT 1 · DEFINITION</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200" b="1" dirty="0">
                <a:solidFill>
                  <a:srgbClr val="1F3A6E"/>
                </a:solidFill>
                <a:latin typeface="Cambria" pitchFamily="34" charset="0"/>
                <a:ea typeface="Cambria" pitchFamily="34" charset="-122"/>
                <a:cs typeface="Cambria" pitchFamily="34" charset="-120"/>
              </a:rPr>
              <a:t>Why NalamMesh is a distributed system</a:t>
            </a:r>
            <a:endParaRPr lang="en-US" sz="3200" dirty="0"/>
          </a:p>
        </p:txBody>
      </p:sp>
      <p:sp>
        <p:nvSpPr>
          <p:cNvPr id="4" name="Shape 2"/>
          <p:cNvSpPr/>
          <p:nvPr/>
        </p:nvSpPr>
        <p:spPr>
          <a:xfrm>
            <a:off x="548640" y="1508760"/>
            <a:ext cx="4206240" cy="4572000"/>
          </a:xfrm>
          <a:prstGeom prst="roundRect">
            <a:avLst>
              <a:gd name="adj" fmla="val 1739"/>
            </a:avLst>
          </a:prstGeom>
          <a:solidFill>
            <a:srgbClr val="1F3A6E"/>
          </a:solidFill>
          <a:ln w="12700">
            <a:solidFill>
              <a:srgbClr val="1F3A6E"/>
            </a:solidFill>
            <a:prstDash val="solid"/>
          </a:ln>
        </p:spPr>
      </p:sp>
      <p:sp>
        <p:nvSpPr>
          <p:cNvPr id="5" name="Text 3"/>
          <p:cNvSpPr txBox="1"/>
          <p:nvPr/>
        </p:nvSpPr>
        <p:spPr>
          <a:xfrm>
            <a:off x="868680" y="1783080"/>
            <a:ext cx="3566160" cy="274320"/>
          </a:xfrm>
          <a:prstGeom prst="rect">
            <a:avLst/>
          </a:prstGeom>
          <a:noFill/>
          <a:ln/>
        </p:spPr>
        <p:txBody>
          <a:bodyPr wrap="square" lIns="0" tIns="0" rIns="0" bIns="0" rtlCol="0" anchor="t"/>
          <a:lstStyle/>
          <a:p>
            <a:pPr indent="0" marL="0">
              <a:buNone/>
            </a:pPr>
            <a:r>
              <a:rPr lang="en-US" sz="1100" b="1" spc="200" kern="0" dirty="0">
                <a:solidFill>
                  <a:srgbClr val="FF9933"/>
                </a:solidFill>
                <a:latin typeface="Calibri" pitchFamily="34" charset="0"/>
                <a:ea typeface="Calibri" pitchFamily="34" charset="-122"/>
                <a:cs typeface="Calibri" pitchFamily="34" charset="-120"/>
              </a:rPr>
              <a:t>FROM THE UNIT 1 SLIDES</a:t>
            </a:r>
            <a:endParaRPr lang="en-US" sz="1100" dirty="0"/>
          </a:p>
        </p:txBody>
      </p:sp>
      <p:sp>
        <p:nvSpPr>
          <p:cNvPr id="6" name="Text 4"/>
          <p:cNvSpPr txBox="1"/>
          <p:nvPr/>
        </p:nvSpPr>
        <p:spPr>
          <a:xfrm>
            <a:off x="868680" y="2194560"/>
            <a:ext cx="3566160" cy="1828800"/>
          </a:xfrm>
          <a:prstGeom prst="rect">
            <a:avLst/>
          </a:prstGeom>
          <a:noFill/>
          <a:ln/>
        </p:spPr>
        <p:txBody>
          <a:bodyPr wrap="square" lIns="0" tIns="0" rIns="0" bIns="0" rtlCol="0" anchor="t"/>
          <a:lstStyle/>
          <a:p>
            <a:pPr indent="0" marL="0">
              <a:buNone/>
            </a:pPr>
            <a:r>
              <a:rPr lang="en-US" sz="2100" i="1" dirty="0">
                <a:solidFill>
                  <a:srgbClr val="FFFFFF"/>
                </a:solidFill>
                <a:latin typeface="Cambria" pitchFamily="34" charset="0"/>
                <a:ea typeface="Cambria" pitchFamily="34" charset="-122"/>
                <a:cs typeface="Cambria" pitchFamily="34" charset="-120"/>
              </a:rPr>
              <a:t>“A collection of mostly autonomous processors communicating over a communication network.”</a:t>
            </a:r>
            <a:endParaRPr lang="en-US" sz="2100" dirty="0"/>
          </a:p>
        </p:txBody>
      </p:sp>
      <p:sp>
        <p:nvSpPr>
          <p:cNvPr id="7" name="Text 5"/>
          <p:cNvSpPr txBox="1"/>
          <p:nvPr/>
        </p:nvSpPr>
        <p:spPr>
          <a:xfrm>
            <a:off x="868680" y="4206240"/>
            <a:ext cx="3566160" cy="1463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Every facility runs its own copy of the app, on its own hardware, and cooperates with the others only by exchanging messages.</a:t>
            </a:r>
            <a:endParaRPr lang="en-US" sz="1400" dirty="0"/>
          </a:p>
        </p:txBody>
      </p:sp>
      <p:sp>
        <p:nvSpPr>
          <p:cNvPr id="8" name="Shape 6"/>
          <p:cNvSpPr/>
          <p:nvPr/>
        </p:nvSpPr>
        <p:spPr>
          <a:xfrm>
            <a:off x="5166360" y="1600200"/>
            <a:ext cx="566928" cy="566928"/>
          </a:xfrm>
          <a:prstGeom prst="ellipse">
            <a:avLst/>
          </a:prstGeom>
          <a:solidFill>
            <a:srgbClr val="1F3A6E"/>
          </a:solidFill>
          <a:ln w="12700">
            <a:solidFill>
              <a:srgbClr val="1F3A6E"/>
            </a:solidFill>
            <a:prstDash val="solid"/>
          </a:ln>
        </p:spPr>
      </p:sp>
      <p:pic>
        <p:nvPicPr>
          <p:cNvPr id="9" name="Image 0" descr="preencoded.png">    </p:cNvPr>
          <p:cNvPicPr>
            <a:picLocks noChangeAspect="1"/>
          </p:cNvPicPr>
          <p:nvPr/>
        </p:nvPicPr>
        <p:blipFill>
          <a:blip r:embed="rId1"/>
          <a:stretch>
            <a:fillRect/>
          </a:stretch>
        </p:blipFill>
        <p:spPr>
          <a:xfrm>
            <a:off x="5313761" y="1747601"/>
            <a:ext cx="272125" cy="272125"/>
          </a:xfrm>
          <a:prstGeom prst="rect">
            <a:avLst/>
          </a:prstGeom>
        </p:spPr>
      </p:pic>
      <p:sp>
        <p:nvSpPr>
          <p:cNvPr id="10" name="Text 7"/>
          <p:cNvSpPr txBox="1"/>
          <p:nvPr/>
        </p:nvSpPr>
        <p:spPr>
          <a:xfrm>
            <a:off x="5943600" y="1527048"/>
            <a:ext cx="5669280" cy="365760"/>
          </a:xfrm>
          <a:prstGeom prst="rect">
            <a:avLst/>
          </a:prstGeom>
          <a:noFill/>
          <a:ln/>
        </p:spPr>
        <p:txBody>
          <a:bodyPr wrap="square" lIns="0" tIns="0" rIns="0" bIns="0" rtlCol="0" anchor="t"/>
          <a:lstStyle/>
          <a:p>
            <a:pPr indent="0" marL="0">
              <a:buNone/>
            </a:pPr>
            <a:r>
              <a:rPr lang="en-US" sz="1700" b="1" dirty="0">
                <a:solidFill>
                  <a:srgbClr val="1F3A6E"/>
                </a:solidFill>
                <a:latin typeface="Calibri" pitchFamily="34" charset="0"/>
                <a:ea typeface="Calibri" pitchFamily="34" charset="-122"/>
                <a:cs typeface="Calibri" pitchFamily="34" charset="-120"/>
              </a:rPr>
              <a:t>No common physical clock</a:t>
            </a:r>
            <a:endParaRPr lang="en-US" sz="1700" dirty="0"/>
          </a:p>
        </p:txBody>
      </p:sp>
      <p:sp>
        <p:nvSpPr>
          <p:cNvPr id="11" name="Text 8"/>
          <p:cNvSpPr txBox="1"/>
          <p:nvPr/>
        </p:nvSpPr>
        <p:spPr>
          <a:xfrm>
            <a:off x="5943600" y="1920240"/>
            <a:ext cx="5669280" cy="685800"/>
          </a:xfrm>
          <a:prstGeom prst="rect">
            <a:avLst/>
          </a:prstGeom>
          <a:noFill/>
          <a:ln/>
        </p:spPr>
        <p:txBody>
          <a:bodyPr wrap="square" lIns="0" tIns="0" rIns="0" bIns="0" rtlCol="0" anchor="t"/>
          <a:lstStyle/>
          <a:p>
            <a:pPr indent="0" marL="0">
              <a:buNone/>
            </a:pPr>
            <a:r>
              <a:rPr lang="en-US" sz="1350" dirty="0">
                <a:solidFill>
                  <a:srgbClr val="1E2533"/>
                </a:solidFill>
                <a:latin typeface="Calibri" pitchFamily="34" charset="0"/>
                <a:ea typeface="Calibri" pitchFamily="34" charset="-122"/>
                <a:cs typeface="Calibri" pitchFamily="34" charset="-120"/>
              </a:rPr>
              <a:t>Each tablet and laptop keeps its own time; field clocks are often wrong. The cloud stamps its own received_at.</a:t>
            </a:r>
            <a:endParaRPr lang="en-US" sz="1350" dirty="0"/>
          </a:p>
        </p:txBody>
      </p:sp>
      <p:sp>
        <p:nvSpPr>
          <p:cNvPr id="12" name="Shape 9"/>
          <p:cNvSpPr/>
          <p:nvPr/>
        </p:nvSpPr>
        <p:spPr>
          <a:xfrm>
            <a:off x="5166360" y="2770632"/>
            <a:ext cx="566928" cy="566928"/>
          </a:xfrm>
          <a:prstGeom prst="ellipse">
            <a:avLst/>
          </a:prstGeom>
          <a:solidFill>
            <a:srgbClr val="1F3A6E"/>
          </a:solidFill>
          <a:ln w="12700">
            <a:solidFill>
              <a:srgbClr val="1F3A6E"/>
            </a:solidFill>
            <a:prstDash val="solid"/>
          </a:ln>
        </p:spPr>
      </p:sp>
      <p:pic>
        <p:nvPicPr>
          <p:cNvPr id="13" name="Image 1" descr="preencoded.png">    </p:cNvPr>
          <p:cNvPicPr>
            <a:picLocks noChangeAspect="1"/>
          </p:cNvPicPr>
          <p:nvPr/>
        </p:nvPicPr>
        <p:blipFill>
          <a:blip r:embed="rId2"/>
          <a:stretch>
            <a:fillRect/>
          </a:stretch>
        </p:blipFill>
        <p:spPr>
          <a:xfrm>
            <a:off x="5313761" y="2918033"/>
            <a:ext cx="272125" cy="272125"/>
          </a:xfrm>
          <a:prstGeom prst="rect">
            <a:avLst/>
          </a:prstGeom>
        </p:spPr>
      </p:pic>
      <p:sp>
        <p:nvSpPr>
          <p:cNvPr id="14" name="Text 10"/>
          <p:cNvSpPr txBox="1"/>
          <p:nvPr/>
        </p:nvSpPr>
        <p:spPr>
          <a:xfrm>
            <a:off x="5943600" y="2697480"/>
            <a:ext cx="5669280" cy="365760"/>
          </a:xfrm>
          <a:prstGeom prst="rect">
            <a:avLst/>
          </a:prstGeom>
          <a:noFill/>
          <a:ln/>
        </p:spPr>
        <p:txBody>
          <a:bodyPr wrap="square" lIns="0" tIns="0" rIns="0" bIns="0" rtlCol="0" anchor="t"/>
          <a:lstStyle/>
          <a:p>
            <a:pPr indent="0" marL="0">
              <a:buNone/>
            </a:pPr>
            <a:r>
              <a:rPr lang="en-US" sz="1700" b="1" dirty="0">
                <a:solidFill>
                  <a:srgbClr val="1F3A6E"/>
                </a:solidFill>
                <a:latin typeface="Calibri" pitchFamily="34" charset="0"/>
                <a:ea typeface="Calibri" pitchFamily="34" charset="-122"/>
                <a:cs typeface="Calibri" pitchFamily="34" charset="-120"/>
              </a:rPr>
              <a:t>No shared memory</a:t>
            </a:r>
            <a:endParaRPr lang="en-US" sz="1700" dirty="0"/>
          </a:p>
        </p:txBody>
      </p:sp>
      <p:sp>
        <p:nvSpPr>
          <p:cNvPr id="15" name="Text 11"/>
          <p:cNvSpPr txBox="1"/>
          <p:nvPr/>
        </p:nvSpPr>
        <p:spPr>
          <a:xfrm>
            <a:off x="5943600" y="3090672"/>
            <a:ext cx="5669280" cy="685800"/>
          </a:xfrm>
          <a:prstGeom prst="rect">
            <a:avLst/>
          </a:prstGeom>
          <a:noFill/>
          <a:ln/>
        </p:spPr>
        <p:txBody>
          <a:bodyPr wrap="square" lIns="0" tIns="0" rIns="0" bIns="0" rtlCol="0" anchor="t"/>
          <a:lstStyle/>
          <a:p>
            <a:pPr indent="0" marL="0">
              <a:buNone/>
            </a:pPr>
            <a:r>
              <a:rPr lang="en-US" sz="1350" dirty="0">
                <a:solidFill>
                  <a:srgbClr val="1E2533"/>
                </a:solidFill>
                <a:latin typeface="Calibri" pitchFamily="34" charset="0"/>
                <a:ea typeface="Calibri" pitchFamily="34" charset="-122"/>
                <a:cs typeface="Calibri" pitchFamily="34" charset="-120"/>
              </a:rPr>
              <a:t>Each facility’s data lives in its own IndexedDB. The only way to share state is to send it.</a:t>
            </a:r>
            <a:endParaRPr lang="en-US" sz="1350" dirty="0"/>
          </a:p>
        </p:txBody>
      </p:sp>
      <p:sp>
        <p:nvSpPr>
          <p:cNvPr id="16" name="Shape 12"/>
          <p:cNvSpPr/>
          <p:nvPr/>
        </p:nvSpPr>
        <p:spPr>
          <a:xfrm>
            <a:off x="5166360" y="3941064"/>
            <a:ext cx="566928" cy="566928"/>
          </a:xfrm>
          <a:prstGeom prst="ellipse">
            <a:avLst/>
          </a:prstGeom>
          <a:solidFill>
            <a:srgbClr val="1F3A6E"/>
          </a:solidFill>
          <a:ln w="12700">
            <a:solidFill>
              <a:srgbClr val="1F3A6E"/>
            </a:solidFill>
            <a:prstDash val="solid"/>
          </a:ln>
        </p:spPr>
      </p:sp>
      <p:pic>
        <p:nvPicPr>
          <p:cNvPr id="17" name="Image 2" descr="preencoded.png">    </p:cNvPr>
          <p:cNvPicPr>
            <a:picLocks noChangeAspect="1"/>
          </p:cNvPicPr>
          <p:nvPr/>
        </p:nvPicPr>
        <p:blipFill>
          <a:blip r:embed="rId3"/>
          <a:stretch>
            <a:fillRect/>
          </a:stretch>
        </p:blipFill>
        <p:spPr>
          <a:xfrm>
            <a:off x="5313761" y="4088465"/>
            <a:ext cx="272125" cy="272125"/>
          </a:xfrm>
          <a:prstGeom prst="rect">
            <a:avLst/>
          </a:prstGeom>
        </p:spPr>
      </p:pic>
      <p:sp>
        <p:nvSpPr>
          <p:cNvPr id="18" name="Text 13"/>
          <p:cNvSpPr txBox="1"/>
          <p:nvPr/>
        </p:nvSpPr>
        <p:spPr>
          <a:xfrm>
            <a:off x="5943600" y="3867912"/>
            <a:ext cx="5669280" cy="365760"/>
          </a:xfrm>
          <a:prstGeom prst="rect">
            <a:avLst/>
          </a:prstGeom>
          <a:noFill/>
          <a:ln/>
        </p:spPr>
        <p:txBody>
          <a:bodyPr wrap="square" lIns="0" tIns="0" rIns="0" bIns="0" rtlCol="0" anchor="t"/>
          <a:lstStyle/>
          <a:p>
            <a:pPr indent="0" marL="0">
              <a:buNone/>
            </a:pPr>
            <a:r>
              <a:rPr lang="en-US" sz="1700" b="1" dirty="0">
                <a:solidFill>
                  <a:srgbClr val="1F3A6E"/>
                </a:solidFill>
                <a:latin typeface="Calibri" pitchFamily="34" charset="0"/>
                <a:ea typeface="Calibri" pitchFamily="34" charset="-122"/>
                <a:cs typeface="Calibri" pitchFamily="34" charset="-120"/>
              </a:rPr>
              <a:t>Geographical separation</a:t>
            </a:r>
            <a:endParaRPr lang="en-US" sz="1700" dirty="0"/>
          </a:p>
        </p:txBody>
      </p:sp>
      <p:sp>
        <p:nvSpPr>
          <p:cNvPr id="19" name="Text 14"/>
          <p:cNvSpPr txBox="1"/>
          <p:nvPr/>
        </p:nvSpPr>
        <p:spPr>
          <a:xfrm>
            <a:off x="5943600" y="4261104"/>
            <a:ext cx="5669280" cy="685800"/>
          </a:xfrm>
          <a:prstGeom prst="rect">
            <a:avLst/>
          </a:prstGeom>
          <a:noFill/>
          <a:ln/>
        </p:spPr>
        <p:txBody>
          <a:bodyPr wrap="square" lIns="0" tIns="0" rIns="0" bIns="0" rtlCol="0" anchor="t"/>
          <a:lstStyle/>
          <a:p>
            <a:pPr indent="0" marL="0">
              <a:buNone/>
            </a:pPr>
            <a:r>
              <a:rPr lang="en-US" sz="1350" dirty="0">
                <a:solidFill>
                  <a:srgbClr val="1E2533"/>
                </a:solidFill>
                <a:latin typeface="Calibri" pitchFamily="34" charset="0"/>
                <a:ea typeface="Calibri" pitchFamily="34" charset="-122"/>
                <a:cs typeface="Calibri" pitchFamily="34" charset="-120"/>
              </a:rPr>
              <a:t>A Sub-Centre and its District Hospital can be 40–80 km apart, on 2G or no signal.</a:t>
            </a:r>
            <a:endParaRPr lang="en-US" sz="1350" dirty="0"/>
          </a:p>
        </p:txBody>
      </p:sp>
      <p:sp>
        <p:nvSpPr>
          <p:cNvPr id="20" name="Shape 15"/>
          <p:cNvSpPr/>
          <p:nvPr/>
        </p:nvSpPr>
        <p:spPr>
          <a:xfrm>
            <a:off x="5166360" y="5111496"/>
            <a:ext cx="566928" cy="566928"/>
          </a:xfrm>
          <a:prstGeom prst="ellipse">
            <a:avLst/>
          </a:prstGeom>
          <a:solidFill>
            <a:srgbClr val="1F3A6E"/>
          </a:solidFill>
          <a:ln w="12700">
            <a:solidFill>
              <a:srgbClr val="1F3A6E"/>
            </a:solidFill>
            <a:prstDash val="solid"/>
          </a:ln>
        </p:spPr>
      </p:sp>
      <p:pic>
        <p:nvPicPr>
          <p:cNvPr id="21" name="Image 3" descr="preencoded.png">    </p:cNvPr>
          <p:cNvPicPr>
            <a:picLocks noChangeAspect="1"/>
          </p:cNvPicPr>
          <p:nvPr/>
        </p:nvPicPr>
        <p:blipFill>
          <a:blip r:embed="rId4"/>
          <a:stretch>
            <a:fillRect/>
          </a:stretch>
        </p:blipFill>
        <p:spPr>
          <a:xfrm>
            <a:off x="5313761" y="5258897"/>
            <a:ext cx="272125" cy="272125"/>
          </a:xfrm>
          <a:prstGeom prst="rect">
            <a:avLst/>
          </a:prstGeom>
        </p:spPr>
      </p:pic>
      <p:sp>
        <p:nvSpPr>
          <p:cNvPr id="22" name="Text 16"/>
          <p:cNvSpPr txBox="1"/>
          <p:nvPr/>
        </p:nvSpPr>
        <p:spPr>
          <a:xfrm>
            <a:off x="5943600" y="5038344"/>
            <a:ext cx="5669280" cy="365760"/>
          </a:xfrm>
          <a:prstGeom prst="rect">
            <a:avLst/>
          </a:prstGeom>
          <a:noFill/>
          <a:ln/>
        </p:spPr>
        <p:txBody>
          <a:bodyPr wrap="square" lIns="0" tIns="0" rIns="0" bIns="0" rtlCol="0" anchor="t"/>
          <a:lstStyle/>
          <a:p>
            <a:pPr indent="0" marL="0">
              <a:buNone/>
            </a:pPr>
            <a:r>
              <a:rPr lang="en-US" sz="1700" b="1" dirty="0">
                <a:solidFill>
                  <a:srgbClr val="1F3A6E"/>
                </a:solidFill>
                <a:latin typeface="Calibri" pitchFamily="34" charset="0"/>
                <a:ea typeface="Calibri" pitchFamily="34" charset="-122"/>
                <a:cs typeface="Calibri" pitchFamily="34" charset="-120"/>
              </a:rPr>
              <a:t>Autonomy and heterogeneity</a:t>
            </a:r>
            <a:endParaRPr lang="en-US" sz="1700" dirty="0"/>
          </a:p>
        </p:txBody>
      </p:sp>
      <p:sp>
        <p:nvSpPr>
          <p:cNvPr id="23" name="Text 17"/>
          <p:cNvSpPr txBox="1"/>
          <p:nvPr/>
        </p:nvSpPr>
        <p:spPr>
          <a:xfrm>
            <a:off x="5943600" y="5431536"/>
            <a:ext cx="5669280" cy="685800"/>
          </a:xfrm>
          <a:prstGeom prst="rect">
            <a:avLst/>
          </a:prstGeom>
          <a:noFill/>
          <a:ln/>
        </p:spPr>
        <p:txBody>
          <a:bodyPr wrap="square" lIns="0" tIns="0" rIns="0" bIns="0" rtlCol="0" anchor="t"/>
          <a:lstStyle/>
          <a:p>
            <a:pPr indent="0" marL="0">
              <a:buNone/>
            </a:pPr>
            <a:r>
              <a:rPr lang="en-US" sz="1350" dirty="0">
                <a:solidFill>
                  <a:srgbClr val="1E2533"/>
                </a:solidFill>
                <a:latin typeface="Calibri" pitchFamily="34" charset="0"/>
                <a:ea typeface="Calibri" pitchFamily="34" charset="-122"/>
                <a:cs typeface="Calibri" pitchFamily="34" charset="-120"/>
              </a:rPr>
              <a:t>Android tablets (Capacitor), desktop browsers, a Node.js relay and a Python cloud service.</a:t>
            </a:r>
            <a:endParaRPr lang="en-US" sz="1350" dirty="0"/>
          </a:p>
        </p:txBody>
      </p:sp>
      <p:sp>
        <p:nvSpPr>
          <p:cNvPr id="24" name="Text 18"/>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NalamMesh · 24CS502 Distributed and Cloud Computing</a:t>
            </a:r>
            <a:endParaRPr lang="en-US" sz="1000" dirty="0"/>
          </a:p>
        </p:txBody>
      </p:sp>
      <p:sp>
        <p:nvSpPr>
          <p:cNvPr id="25" name="Text 19"/>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SYSTEM ARCHITECTURE</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200" b="1" dirty="0">
                <a:solidFill>
                  <a:srgbClr val="1F3A6E"/>
                </a:solidFill>
                <a:latin typeface="Cambria" pitchFamily="34" charset="0"/>
                <a:ea typeface="Cambria" pitchFamily="34" charset="-122"/>
                <a:cs typeface="Cambria" pitchFamily="34" charset="-120"/>
              </a:rPr>
              <a:t>Three kinds of node, two kinds of channel</a:t>
            </a:r>
            <a:endParaRPr lang="en-US" sz="3200" dirty="0"/>
          </a:p>
        </p:txBody>
      </p:sp>
      <p:sp>
        <p:nvSpPr>
          <p:cNvPr id="4" name="Shape 2"/>
          <p:cNvSpPr/>
          <p:nvPr/>
        </p:nvSpPr>
        <p:spPr>
          <a:xfrm>
            <a:off x="548640" y="1508760"/>
            <a:ext cx="4572000" cy="4526280"/>
          </a:xfrm>
          <a:prstGeom prst="roundRect">
            <a:avLst>
              <a:gd name="adj" fmla="val 1616"/>
            </a:avLst>
          </a:prstGeom>
          <a:solidFill>
            <a:srgbClr val="E8EEF8"/>
          </a:solidFill>
          <a:ln w="12700">
            <a:solidFill>
              <a:srgbClr val="E8EEF8"/>
            </a:solidFill>
            <a:prstDash val="solid"/>
          </a:ln>
        </p:spPr>
      </p:sp>
      <p:sp>
        <p:nvSpPr>
          <p:cNvPr id="5" name="Text 3"/>
          <p:cNvSpPr txBox="1"/>
          <p:nvPr/>
        </p:nvSpPr>
        <p:spPr>
          <a:xfrm>
            <a:off x="822960" y="1645920"/>
            <a:ext cx="4023360" cy="365760"/>
          </a:xfrm>
          <a:prstGeom prst="rect">
            <a:avLst/>
          </a:prstGeom>
          <a:noFill/>
          <a:ln/>
        </p:spPr>
        <p:txBody>
          <a:bodyPr wrap="square" lIns="0" tIns="0" rIns="0" bIns="0" rtlCol="0" anchor="t"/>
          <a:lstStyle/>
          <a:p>
            <a:pPr indent="0" marL="0">
              <a:buNone/>
            </a:pPr>
            <a:r>
              <a:rPr lang="en-US" sz="1500" b="1" dirty="0">
                <a:solidFill>
                  <a:srgbClr val="1F3A6E"/>
                </a:solidFill>
                <a:latin typeface="Calibri" pitchFamily="34" charset="0"/>
                <a:ea typeface="Calibri" pitchFamily="34" charset="-122"/>
                <a:cs typeface="Calibri" pitchFamily="34" charset="-120"/>
              </a:rPr>
              <a:t>Facility devices (autonomous nodes)</a:t>
            </a:r>
            <a:endParaRPr lang="en-US" sz="1500" dirty="0"/>
          </a:p>
        </p:txBody>
      </p:sp>
      <p:sp>
        <p:nvSpPr>
          <p:cNvPr id="6" name="Shape 4"/>
          <p:cNvSpPr/>
          <p:nvPr/>
        </p:nvSpPr>
        <p:spPr>
          <a:xfrm>
            <a:off x="822960" y="2148840"/>
            <a:ext cx="1874520" cy="1234440"/>
          </a:xfrm>
          <a:prstGeom prst="roundRect">
            <a:avLst>
              <a:gd name="adj" fmla="val 4444"/>
            </a:avLst>
          </a:prstGeom>
          <a:solidFill>
            <a:srgbClr val="FFFFFF"/>
          </a:solidFill>
          <a:ln w="12700">
            <a:solidFill>
              <a:srgbClr val="C9D5EA"/>
            </a:solidFill>
            <a:prstDash val="solid"/>
          </a:ln>
        </p:spPr>
      </p:sp>
      <p:sp>
        <p:nvSpPr>
          <p:cNvPr id="7" name="Shape 5"/>
          <p:cNvSpPr/>
          <p:nvPr/>
        </p:nvSpPr>
        <p:spPr>
          <a:xfrm>
            <a:off x="960120" y="2286000"/>
            <a:ext cx="411480" cy="411480"/>
          </a:xfrm>
          <a:prstGeom prst="ellipse">
            <a:avLst/>
          </a:prstGeom>
          <a:solidFill>
            <a:srgbClr val="1F3A6E"/>
          </a:solidFill>
          <a:ln w="12700">
            <a:solidFill>
              <a:srgbClr val="1F3A6E"/>
            </a:solidFill>
            <a:prstDash val="solid"/>
          </a:ln>
        </p:spPr>
      </p:sp>
      <p:pic>
        <p:nvPicPr>
          <p:cNvPr id="8" name="Image 0" descr="preencoded.png">    </p:cNvPr>
          <p:cNvPicPr>
            <a:picLocks noChangeAspect="1"/>
          </p:cNvPicPr>
          <p:nvPr/>
        </p:nvPicPr>
        <p:blipFill>
          <a:blip r:embed="rId1"/>
          <a:stretch>
            <a:fillRect/>
          </a:stretch>
        </p:blipFill>
        <p:spPr>
          <a:xfrm>
            <a:off x="1067105" y="2392985"/>
            <a:ext cx="197510" cy="197510"/>
          </a:xfrm>
          <a:prstGeom prst="rect">
            <a:avLst/>
          </a:prstGeom>
        </p:spPr>
      </p:pic>
      <p:sp>
        <p:nvSpPr>
          <p:cNvPr id="9" name="Text 6"/>
          <p:cNvSpPr txBox="1"/>
          <p:nvPr/>
        </p:nvSpPr>
        <p:spPr>
          <a:xfrm>
            <a:off x="1463040" y="2304288"/>
            <a:ext cx="1188720" cy="365760"/>
          </a:xfrm>
          <a:prstGeom prst="rect">
            <a:avLst/>
          </a:prstGeom>
          <a:noFill/>
          <a:ln/>
        </p:spPr>
        <p:txBody>
          <a:bodyPr wrap="square" lIns="0" tIns="0" rIns="0" bIns="0" rtlCol="0" anchor="ctr"/>
          <a:lstStyle/>
          <a:p>
            <a:pPr indent="0" marL="0">
              <a:buNone/>
            </a:pPr>
            <a:r>
              <a:rPr lang="en-US" sz="1600" b="1" dirty="0">
                <a:solidFill>
                  <a:srgbClr val="1F3A6E"/>
                </a:solidFill>
                <a:latin typeface="Calibri" pitchFamily="34" charset="0"/>
                <a:ea typeface="Calibri" pitchFamily="34" charset="-122"/>
                <a:cs typeface="Calibri" pitchFamily="34" charset="-120"/>
              </a:rPr>
              <a:t>SC</a:t>
            </a:r>
            <a:endParaRPr lang="en-US" sz="1600" dirty="0"/>
          </a:p>
        </p:txBody>
      </p:sp>
      <p:sp>
        <p:nvSpPr>
          <p:cNvPr id="10" name="Text 7"/>
          <p:cNvSpPr txBox="1"/>
          <p:nvPr/>
        </p:nvSpPr>
        <p:spPr>
          <a:xfrm>
            <a:off x="960120" y="2788920"/>
            <a:ext cx="1645920" cy="502920"/>
          </a:xfrm>
          <a:prstGeom prst="rect">
            <a:avLst/>
          </a:prstGeom>
          <a:noFill/>
          <a:ln/>
        </p:spPr>
        <p:txBody>
          <a:bodyPr wrap="square" lIns="0" tIns="0" rIns="0" bIns="0" rtlCol="0" anchor="t"/>
          <a:lstStyle/>
          <a:p>
            <a:pPr indent="0" marL="0">
              <a:buNone/>
            </a:pPr>
            <a:r>
              <a:rPr lang="en-US" sz="1100" dirty="0">
                <a:solidFill>
                  <a:srgbClr val="5B6475"/>
                </a:solidFill>
                <a:latin typeface="Calibri" pitchFamily="34" charset="0"/>
                <a:ea typeface="Calibri" pitchFamily="34" charset="-122"/>
                <a:cs typeface="Calibri" pitchFamily="34" charset="-120"/>
              </a:rPr>
              <a:t>Sub-Centre</a:t>
            </a:r>
            <a:endParaRPr lang="en-US" sz="1100" dirty="0"/>
          </a:p>
        </p:txBody>
      </p:sp>
      <p:sp>
        <p:nvSpPr>
          <p:cNvPr id="11" name="Shape 8"/>
          <p:cNvSpPr/>
          <p:nvPr/>
        </p:nvSpPr>
        <p:spPr>
          <a:xfrm>
            <a:off x="2880360" y="2148840"/>
            <a:ext cx="1874520" cy="1234440"/>
          </a:xfrm>
          <a:prstGeom prst="roundRect">
            <a:avLst>
              <a:gd name="adj" fmla="val 4444"/>
            </a:avLst>
          </a:prstGeom>
          <a:solidFill>
            <a:srgbClr val="FFFFFF"/>
          </a:solidFill>
          <a:ln w="12700">
            <a:solidFill>
              <a:srgbClr val="C9D5EA"/>
            </a:solidFill>
            <a:prstDash val="solid"/>
          </a:ln>
        </p:spPr>
      </p:sp>
      <p:sp>
        <p:nvSpPr>
          <p:cNvPr id="12" name="Shape 9"/>
          <p:cNvSpPr/>
          <p:nvPr/>
        </p:nvSpPr>
        <p:spPr>
          <a:xfrm>
            <a:off x="3017520" y="2286000"/>
            <a:ext cx="411480" cy="411480"/>
          </a:xfrm>
          <a:prstGeom prst="ellipse">
            <a:avLst/>
          </a:prstGeom>
          <a:solidFill>
            <a:srgbClr val="1F3A6E"/>
          </a:solidFill>
          <a:ln w="12700">
            <a:solidFill>
              <a:srgbClr val="1F3A6E"/>
            </a:solidFill>
            <a:prstDash val="solid"/>
          </a:ln>
        </p:spPr>
      </p:sp>
      <p:pic>
        <p:nvPicPr>
          <p:cNvPr id="13" name="Image 1" descr="preencoded.png">    </p:cNvPr>
          <p:cNvPicPr>
            <a:picLocks noChangeAspect="1"/>
          </p:cNvPicPr>
          <p:nvPr/>
        </p:nvPicPr>
        <p:blipFill>
          <a:blip r:embed="rId2"/>
          <a:stretch>
            <a:fillRect/>
          </a:stretch>
        </p:blipFill>
        <p:spPr>
          <a:xfrm>
            <a:off x="3124505" y="2392985"/>
            <a:ext cx="197510" cy="197510"/>
          </a:xfrm>
          <a:prstGeom prst="rect">
            <a:avLst/>
          </a:prstGeom>
        </p:spPr>
      </p:pic>
      <p:sp>
        <p:nvSpPr>
          <p:cNvPr id="14" name="Text 10"/>
          <p:cNvSpPr txBox="1"/>
          <p:nvPr/>
        </p:nvSpPr>
        <p:spPr>
          <a:xfrm>
            <a:off x="3520440" y="2304288"/>
            <a:ext cx="1188720" cy="365760"/>
          </a:xfrm>
          <a:prstGeom prst="rect">
            <a:avLst/>
          </a:prstGeom>
          <a:noFill/>
          <a:ln/>
        </p:spPr>
        <p:txBody>
          <a:bodyPr wrap="square" lIns="0" tIns="0" rIns="0" bIns="0" rtlCol="0" anchor="ctr"/>
          <a:lstStyle/>
          <a:p>
            <a:pPr indent="0" marL="0">
              <a:buNone/>
            </a:pPr>
            <a:r>
              <a:rPr lang="en-US" sz="1600" b="1" dirty="0">
                <a:solidFill>
                  <a:srgbClr val="1F3A6E"/>
                </a:solidFill>
                <a:latin typeface="Calibri" pitchFamily="34" charset="0"/>
                <a:ea typeface="Calibri" pitchFamily="34" charset="-122"/>
                <a:cs typeface="Calibri" pitchFamily="34" charset="-120"/>
              </a:rPr>
              <a:t>PHC</a:t>
            </a:r>
            <a:endParaRPr lang="en-US" sz="1600" dirty="0"/>
          </a:p>
        </p:txBody>
      </p:sp>
      <p:sp>
        <p:nvSpPr>
          <p:cNvPr id="15" name="Text 11"/>
          <p:cNvSpPr txBox="1"/>
          <p:nvPr/>
        </p:nvSpPr>
        <p:spPr>
          <a:xfrm>
            <a:off x="3017520" y="2788920"/>
            <a:ext cx="1645920" cy="502920"/>
          </a:xfrm>
          <a:prstGeom prst="rect">
            <a:avLst/>
          </a:prstGeom>
          <a:noFill/>
          <a:ln/>
        </p:spPr>
        <p:txBody>
          <a:bodyPr wrap="square" lIns="0" tIns="0" rIns="0" bIns="0" rtlCol="0" anchor="t"/>
          <a:lstStyle/>
          <a:p>
            <a:pPr indent="0" marL="0">
              <a:buNone/>
            </a:pPr>
            <a:r>
              <a:rPr lang="en-US" sz="1100" dirty="0">
                <a:solidFill>
                  <a:srgbClr val="5B6475"/>
                </a:solidFill>
                <a:latin typeface="Calibri" pitchFamily="34" charset="0"/>
                <a:ea typeface="Calibri" pitchFamily="34" charset="-122"/>
                <a:cs typeface="Calibri" pitchFamily="34" charset="-120"/>
              </a:rPr>
              <a:t>Primary Health Centre</a:t>
            </a:r>
            <a:endParaRPr lang="en-US" sz="1100" dirty="0"/>
          </a:p>
        </p:txBody>
      </p:sp>
      <p:sp>
        <p:nvSpPr>
          <p:cNvPr id="16" name="Shape 12"/>
          <p:cNvSpPr/>
          <p:nvPr/>
        </p:nvSpPr>
        <p:spPr>
          <a:xfrm>
            <a:off x="822960" y="3566160"/>
            <a:ext cx="1874520" cy="1234440"/>
          </a:xfrm>
          <a:prstGeom prst="roundRect">
            <a:avLst>
              <a:gd name="adj" fmla="val 4444"/>
            </a:avLst>
          </a:prstGeom>
          <a:solidFill>
            <a:srgbClr val="FFFFFF"/>
          </a:solidFill>
          <a:ln w="12700">
            <a:solidFill>
              <a:srgbClr val="C9D5EA"/>
            </a:solidFill>
            <a:prstDash val="solid"/>
          </a:ln>
        </p:spPr>
      </p:sp>
      <p:sp>
        <p:nvSpPr>
          <p:cNvPr id="17" name="Shape 13"/>
          <p:cNvSpPr/>
          <p:nvPr/>
        </p:nvSpPr>
        <p:spPr>
          <a:xfrm>
            <a:off x="960120" y="3703320"/>
            <a:ext cx="411480" cy="411480"/>
          </a:xfrm>
          <a:prstGeom prst="ellipse">
            <a:avLst/>
          </a:prstGeom>
          <a:solidFill>
            <a:srgbClr val="1F3A6E"/>
          </a:solidFill>
          <a:ln w="12700">
            <a:solidFill>
              <a:srgbClr val="1F3A6E"/>
            </a:solidFill>
            <a:prstDash val="solid"/>
          </a:ln>
        </p:spPr>
      </p:sp>
      <p:pic>
        <p:nvPicPr>
          <p:cNvPr id="18" name="Image 2" descr="preencoded.png">    </p:cNvPr>
          <p:cNvPicPr>
            <a:picLocks noChangeAspect="1"/>
          </p:cNvPicPr>
          <p:nvPr/>
        </p:nvPicPr>
        <p:blipFill>
          <a:blip r:embed="rId3"/>
          <a:stretch>
            <a:fillRect/>
          </a:stretch>
        </p:blipFill>
        <p:spPr>
          <a:xfrm>
            <a:off x="1067105" y="3810305"/>
            <a:ext cx="197510" cy="197510"/>
          </a:xfrm>
          <a:prstGeom prst="rect">
            <a:avLst/>
          </a:prstGeom>
        </p:spPr>
      </p:pic>
      <p:sp>
        <p:nvSpPr>
          <p:cNvPr id="19" name="Text 14"/>
          <p:cNvSpPr txBox="1"/>
          <p:nvPr/>
        </p:nvSpPr>
        <p:spPr>
          <a:xfrm>
            <a:off x="1463040" y="3721608"/>
            <a:ext cx="1188720" cy="365760"/>
          </a:xfrm>
          <a:prstGeom prst="rect">
            <a:avLst/>
          </a:prstGeom>
          <a:noFill/>
          <a:ln/>
        </p:spPr>
        <p:txBody>
          <a:bodyPr wrap="square" lIns="0" tIns="0" rIns="0" bIns="0" rtlCol="0" anchor="ctr"/>
          <a:lstStyle/>
          <a:p>
            <a:pPr indent="0" marL="0">
              <a:buNone/>
            </a:pPr>
            <a:r>
              <a:rPr lang="en-US" sz="1600" b="1" dirty="0">
                <a:solidFill>
                  <a:srgbClr val="1F3A6E"/>
                </a:solidFill>
                <a:latin typeface="Calibri" pitchFamily="34" charset="0"/>
                <a:ea typeface="Calibri" pitchFamily="34" charset="-122"/>
                <a:cs typeface="Calibri" pitchFamily="34" charset="-120"/>
              </a:rPr>
              <a:t>CHC</a:t>
            </a:r>
            <a:endParaRPr lang="en-US" sz="1600" dirty="0"/>
          </a:p>
        </p:txBody>
      </p:sp>
      <p:sp>
        <p:nvSpPr>
          <p:cNvPr id="20" name="Text 15"/>
          <p:cNvSpPr txBox="1"/>
          <p:nvPr/>
        </p:nvSpPr>
        <p:spPr>
          <a:xfrm>
            <a:off x="960120" y="4206240"/>
            <a:ext cx="1645920" cy="502920"/>
          </a:xfrm>
          <a:prstGeom prst="rect">
            <a:avLst/>
          </a:prstGeom>
          <a:noFill/>
          <a:ln/>
        </p:spPr>
        <p:txBody>
          <a:bodyPr wrap="square" lIns="0" tIns="0" rIns="0" bIns="0" rtlCol="0" anchor="t"/>
          <a:lstStyle/>
          <a:p>
            <a:pPr indent="0" marL="0">
              <a:buNone/>
            </a:pPr>
            <a:r>
              <a:rPr lang="en-US" sz="1100" dirty="0">
                <a:solidFill>
                  <a:srgbClr val="5B6475"/>
                </a:solidFill>
                <a:latin typeface="Calibri" pitchFamily="34" charset="0"/>
                <a:ea typeface="Calibri" pitchFamily="34" charset="-122"/>
                <a:cs typeface="Calibri" pitchFamily="34" charset="-120"/>
              </a:rPr>
              <a:t>Community Health Centre</a:t>
            </a:r>
            <a:endParaRPr lang="en-US" sz="1100" dirty="0"/>
          </a:p>
        </p:txBody>
      </p:sp>
      <p:sp>
        <p:nvSpPr>
          <p:cNvPr id="21" name="Shape 16"/>
          <p:cNvSpPr/>
          <p:nvPr/>
        </p:nvSpPr>
        <p:spPr>
          <a:xfrm>
            <a:off x="2880360" y="3566160"/>
            <a:ext cx="1874520" cy="1234440"/>
          </a:xfrm>
          <a:prstGeom prst="roundRect">
            <a:avLst>
              <a:gd name="adj" fmla="val 4444"/>
            </a:avLst>
          </a:prstGeom>
          <a:solidFill>
            <a:srgbClr val="FFFFFF"/>
          </a:solidFill>
          <a:ln w="12700">
            <a:solidFill>
              <a:srgbClr val="C9D5EA"/>
            </a:solidFill>
            <a:prstDash val="solid"/>
          </a:ln>
        </p:spPr>
      </p:sp>
      <p:sp>
        <p:nvSpPr>
          <p:cNvPr id="22" name="Shape 17"/>
          <p:cNvSpPr/>
          <p:nvPr/>
        </p:nvSpPr>
        <p:spPr>
          <a:xfrm>
            <a:off x="3017520" y="3703320"/>
            <a:ext cx="411480" cy="411480"/>
          </a:xfrm>
          <a:prstGeom prst="ellipse">
            <a:avLst/>
          </a:prstGeom>
          <a:solidFill>
            <a:srgbClr val="B45309"/>
          </a:solidFill>
          <a:ln w="12700">
            <a:solidFill>
              <a:srgbClr val="B45309"/>
            </a:solidFill>
            <a:prstDash val="solid"/>
          </a:ln>
        </p:spPr>
      </p:sp>
      <p:pic>
        <p:nvPicPr>
          <p:cNvPr id="23" name="Image 3" descr="preencoded.png">    </p:cNvPr>
          <p:cNvPicPr>
            <a:picLocks noChangeAspect="1"/>
          </p:cNvPicPr>
          <p:nvPr/>
        </p:nvPicPr>
        <p:blipFill>
          <a:blip r:embed="rId4"/>
          <a:stretch>
            <a:fillRect/>
          </a:stretch>
        </p:blipFill>
        <p:spPr>
          <a:xfrm>
            <a:off x="3124505" y="3810305"/>
            <a:ext cx="197510" cy="197510"/>
          </a:xfrm>
          <a:prstGeom prst="rect">
            <a:avLst/>
          </a:prstGeom>
        </p:spPr>
      </p:pic>
      <p:sp>
        <p:nvSpPr>
          <p:cNvPr id="24" name="Text 18"/>
          <p:cNvSpPr txBox="1"/>
          <p:nvPr/>
        </p:nvSpPr>
        <p:spPr>
          <a:xfrm>
            <a:off x="3520440" y="3721608"/>
            <a:ext cx="1188720" cy="365760"/>
          </a:xfrm>
          <a:prstGeom prst="rect">
            <a:avLst/>
          </a:prstGeom>
          <a:noFill/>
          <a:ln/>
        </p:spPr>
        <p:txBody>
          <a:bodyPr wrap="square" lIns="0" tIns="0" rIns="0" bIns="0" rtlCol="0" anchor="ctr"/>
          <a:lstStyle/>
          <a:p>
            <a:pPr indent="0" marL="0">
              <a:buNone/>
            </a:pPr>
            <a:r>
              <a:rPr lang="en-US" sz="1600" b="1" dirty="0">
                <a:solidFill>
                  <a:srgbClr val="1F3A6E"/>
                </a:solidFill>
                <a:latin typeface="Calibri" pitchFamily="34" charset="0"/>
                <a:ea typeface="Calibri" pitchFamily="34" charset="-122"/>
                <a:cs typeface="Calibri" pitchFamily="34" charset="-120"/>
              </a:rPr>
              <a:t>DH</a:t>
            </a:r>
            <a:endParaRPr lang="en-US" sz="1600" dirty="0"/>
          </a:p>
        </p:txBody>
      </p:sp>
      <p:sp>
        <p:nvSpPr>
          <p:cNvPr id="25" name="Text 19"/>
          <p:cNvSpPr txBox="1"/>
          <p:nvPr/>
        </p:nvSpPr>
        <p:spPr>
          <a:xfrm>
            <a:off x="3017520" y="4206240"/>
            <a:ext cx="1645920" cy="502920"/>
          </a:xfrm>
          <a:prstGeom prst="rect">
            <a:avLst/>
          </a:prstGeom>
          <a:noFill/>
          <a:ln/>
        </p:spPr>
        <p:txBody>
          <a:bodyPr wrap="square" lIns="0" tIns="0" rIns="0" bIns="0" rtlCol="0" anchor="t"/>
          <a:lstStyle/>
          <a:p>
            <a:pPr indent="0" marL="0">
              <a:buNone/>
            </a:pPr>
            <a:r>
              <a:rPr lang="en-US" sz="1100" dirty="0">
                <a:solidFill>
                  <a:srgbClr val="5B6475"/>
                </a:solidFill>
                <a:latin typeface="Calibri" pitchFamily="34" charset="0"/>
                <a:ea typeface="Calibri" pitchFamily="34" charset="-122"/>
                <a:cs typeface="Calibri" pitchFamily="34" charset="-120"/>
              </a:rPr>
              <a:t>District Hospital</a:t>
            </a:r>
            <a:endParaRPr lang="en-US" sz="1100" dirty="0"/>
          </a:p>
        </p:txBody>
      </p:sp>
      <p:sp>
        <p:nvSpPr>
          <p:cNvPr id="26" name="Text 20"/>
          <p:cNvSpPr txBox="1"/>
          <p:nvPr/>
        </p:nvSpPr>
        <p:spPr>
          <a:xfrm>
            <a:off x="822960" y="5029200"/>
            <a:ext cx="4023360" cy="822960"/>
          </a:xfrm>
          <a:prstGeom prst="rect">
            <a:avLst/>
          </a:prstGeom>
          <a:noFill/>
          <a:ln/>
        </p:spPr>
        <p:txBody>
          <a:bodyPr wrap="square" lIns="0" tIns="0" rIns="0" bIns="0" rtlCol="0" anchor="t"/>
          <a:lstStyle/>
          <a:p>
            <a:pPr indent="0" marL="0">
              <a:buNone/>
            </a:pPr>
            <a:r>
              <a:rPr lang="en-US" sz="1200" dirty="0">
                <a:solidFill>
                  <a:srgbClr val="1F3A6E"/>
                </a:solidFill>
                <a:latin typeface="Calibri" pitchFamily="34" charset="0"/>
                <a:ea typeface="Calibri" pitchFamily="34" charset="-122"/>
                <a:cs typeface="Calibri" pitchFamily="34" charset="-120"/>
              </a:rPr>
              <a:t>Each node: IndexedDB · TF.js triage · outbox</a:t>
            </a:r>
            <a:endParaRPr lang="en-US" sz="1200" dirty="0"/>
          </a:p>
          <a:p>
            <a:pPr indent="0" marL="0">
              <a:buNone/>
            </a:pPr>
            <a:r>
              <a:rPr lang="en-US" sz="1200" dirty="0">
                <a:solidFill>
                  <a:srgbClr val="1F3A6E"/>
                </a:solidFill>
                <a:latin typeface="Calibri" pitchFamily="34" charset="0"/>
                <a:ea typeface="Calibri" pitchFamily="34" charset="-122"/>
                <a:cs typeface="Calibri" pitchFamily="34" charset="-120"/>
              </a:rPr>
              <a:t>Tabs on one device sync over BroadcastChannel</a:t>
            </a:r>
            <a:endParaRPr lang="en-US" sz="1200" dirty="0"/>
          </a:p>
        </p:txBody>
      </p:sp>
      <p:sp>
        <p:nvSpPr>
          <p:cNvPr id="27" name="Shape 21"/>
          <p:cNvSpPr/>
          <p:nvPr/>
        </p:nvSpPr>
        <p:spPr>
          <a:xfrm>
            <a:off x="7406640" y="1508760"/>
            <a:ext cx="4236415" cy="2057400"/>
          </a:xfrm>
          <a:prstGeom prst="roundRect">
            <a:avLst>
              <a:gd name="adj" fmla="val 3556"/>
            </a:avLst>
          </a:prstGeom>
          <a:solidFill>
            <a:srgbClr val="1F3A6E"/>
          </a:solidFill>
          <a:ln w="12700">
            <a:solidFill>
              <a:srgbClr val="1F3A6E"/>
            </a:solidFill>
            <a:prstDash val="solid"/>
          </a:ln>
        </p:spPr>
      </p:sp>
      <p:sp>
        <p:nvSpPr>
          <p:cNvPr id="28" name="Shape 22"/>
          <p:cNvSpPr/>
          <p:nvPr/>
        </p:nvSpPr>
        <p:spPr>
          <a:xfrm>
            <a:off x="7680960" y="1737360"/>
            <a:ext cx="594360" cy="594360"/>
          </a:xfrm>
          <a:prstGeom prst="ellipse">
            <a:avLst/>
          </a:prstGeom>
          <a:solidFill>
            <a:srgbClr val="FF9933"/>
          </a:solidFill>
          <a:ln w="12700">
            <a:solidFill>
              <a:srgbClr val="FF9933"/>
            </a:solidFill>
            <a:prstDash val="solid"/>
          </a:ln>
        </p:spPr>
      </p:sp>
      <p:pic>
        <p:nvPicPr>
          <p:cNvPr id="29" name="Image 4" descr="preencoded.png">    </p:cNvPr>
          <p:cNvPicPr>
            <a:picLocks noChangeAspect="1"/>
          </p:cNvPicPr>
          <p:nvPr/>
        </p:nvPicPr>
        <p:blipFill>
          <a:blip r:embed="rId5"/>
          <a:stretch>
            <a:fillRect/>
          </a:stretch>
        </p:blipFill>
        <p:spPr>
          <a:xfrm>
            <a:off x="7835494" y="1891894"/>
            <a:ext cx="285293" cy="285293"/>
          </a:xfrm>
          <a:prstGeom prst="rect">
            <a:avLst/>
          </a:prstGeom>
        </p:spPr>
      </p:pic>
      <p:sp>
        <p:nvSpPr>
          <p:cNvPr id="30" name="Text 23"/>
          <p:cNvSpPr txBox="1"/>
          <p:nvPr/>
        </p:nvSpPr>
        <p:spPr>
          <a:xfrm>
            <a:off x="8458200" y="1783080"/>
            <a:ext cx="3047695"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Mesh relay</a:t>
            </a:r>
            <a:endParaRPr lang="en-US" sz="1900" dirty="0"/>
          </a:p>
        </p:txBody>
      </p:sp>
      <p:sp>
        <p:nvSpPr>
          <p:cNvPr id="31" name="Text 24"/>
          <p:cNvSpPr txBox="1"/>
          <p:nvPr/>
        </p:nvSpPr>
        <p:spPr>
          <a:xfrm>
            <a:off x="7680960" y="2468880"/>
            <a:ext cx="3687775" cy="1005840"/>
          </a:xfrm>
          <a:prstGeom prst="rect">
            <a:avLst/>
          </a:prstGeom>
          <a:noFill/>
          <a:ln/>
        </p:spPr>
        <p:txBody>
          <a:bodyPr wrap="square" lIns="0" tIns="0" rIns="0" bIns="0" rtlCol="0" anchor="t"/>
          <a:lstStyle/>
          <a:p>
            <a:pPr indent="0" marL="0">
              <a:buNone/>
            </a:pPr>
            <a:r>
              <a:rPr lang="en-US" sz="1250" dirty="0">
                <a:solidFill>
                  <a:srgbClr val="DCE4F2"/>
                </a:solidFill>
                <a:latin typeface="Calibri" pitchFamily="34" charset="0"/>
                <a:ea typeface="Calibri" pitchFamily="34" charset="-122"/>
                <a:cs typeface="Calibri" pitchFamily="34" charset="-120"/>
              </a:rPr>
              <a:t>Node.js + Socket.io (port 3001). Registers nodes, forwards referrals and bed status, replays missed events on reconnect.</a:t>
            </a:r>
            <a:endParaRPr lang="en-US" sz="1250" dirty="0"/>
          </a:p>
        </p:txBody>
      </p:sp>
      <p:sp>
        <p:nvSpPr>
          <p:cNvPr id="32" name="Shape 25"/>
          <p:cNvSpPr/>
          <p:nvPr/>
        </p:nvSpPr>
        <p:spPr>
          <a:xfrm>
            <a:off x="7406640" y="3977640"/>
            <a:ext cx="4236415" cy="2057400"/>
          </a:xfrm>
          <a:prstGeom prst="roundRect">
            <a:avLst>
              <a:gd name="adj" fmla="val 3556"/>
            </a:avLst>
          </a:prstGeom>
          <a:solidFill>
            <a:srgbClr val="138808"/>
          </a:solidFill>
          <a:ln w="12700">
            <a:solidFill>
              <a:srgbClr val="138808"/>
            </a:solidFill>
            <a:prstDash val="solid"/>
          </a:ln>
        </p:spPr>
      </p:sp>
      <p:sp>
        <p:nvSpPr>
          <p:cNvPr id="33" name="Shape 26"/>
          <p:cNvSpPr/>
          <p:nvPr/>
        </p:nvSpPr>
        <p:spPr>
          <a:xfrm>
            <a:off x="7680960" y="4206240"/>
            <a:ext cx="594360" cy="594360"/>
          </a:xfrm>
          <a:prstGeom prst="ellipse">
            <a:avLst/>
          </a:prstGeom>
          <a:solidFill>
            <a:srgbClr val="0D6E06"/>
          </a:solidFill>
          <a:ln w="12700">
            <a:solidFill>
              <a:srgbClr val="0D6E06"/>
            </a:solidFill>
            <a:prstDash val="solid"/>
          </a:ln>
        </p:spPr>
      </p:sp>
      <p:pic>
        <p:nvPicPr>
          <p:cNvPr id="34" name="Image 5" descr="preencoded.png">    </p:cNvPr>
          <p:cNvPicPr>
            <a:picLocks noChangeAspect="1"/>
          </p:cNvPicPr>
          <p:nvPr/>
        </p:nvPicPr>
        <p:blipFill>
          <a:blip r:embed="rId6"/>
          <a:stretch>
            <a:fillRect/>
          </a:stretch>
        </p:blipFill>
        <p:spPr>
          <a:xfrm>
            <a:off x="7835494" y="4360774"/>
            <a:ext cx="285293" cy="285293"/>
          </a:xfrm>
          <a:prstGeom prst="rect">
            <a:avLst/>
          </a:prstGeom>
        </p:spPr>
      </p:pic>
      <p:sp>
        <p:nvSpPr>
          <p:cNvPr id="35" name="Text 27"/>
          <p:cNvSpPr txBox="1"/>
          <p:nvPr/>
        </p:nvSpPr>
        <p:spPr>
          <a:xfrm>
            <a:off x="8458200" y="4251960"/>
            <a:ext cx="3047695"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District cloud</a:t>
            </a:r>
            <a:endParaRPr lang="en-US" sz="1900" dirty="0"/>
          </a:p>
        </p:txBody>
      </p:sp>
      <p:sp>
        <p:nvSpPr>
          <p:cNvPr id="36" name="Text 28"/>
          <p:cNvSpPr txBox="1"/>
          <p:nvPr/>
        </p:nvSpPr>
        <p:spPr>
          <a:xfrm>
            <a:off x="7680960" y="4937760"/>
            <a:ext cx="3687775" cy="1005840"/>
          </a:xfrm>
          <a:prstGeom prst="rect">
            <a:avLst/>
          </a:prstGeom>
          <a:noFill/>
          <a:ln/>
        </p:spPr>
        <p:txBody>
          <a:bodyPr wrap="square" lIns="0" tIns="0" rIns="0" bIns="0" rtlCol="0" anchor="t"/>
          <a:lstStyle/>
          <a:p>
            <a:pPr indent="0" marL="0">
              <a:buNone/>
            </a:pPr>
            <a:r>
              <a:rPr lang="en-US" sz="1250" dirty="0">
                <a:solidFill>
                  <a:srgbClr val="E8F5E9"/>
                </a:solidFill>
                <a:latin typeface="Calibri" pitchFamily="34" charset="0"/>
                <a:ea typeface="Calibri" pitchFamily="34" charset="-122"/>
                <a:cs typeface="Calibri" pitchFamily="34" charset="-120"/>
              </a:rPr>
              <a:t>FastAPI + SQL (port 8000). Receives outbox uploads, resolves conflicts last-write-wins, rejects duplicates.</a:t>
            </a:r>
            <a:endParaRPr lang="en-US" sz="1250" dirty="0"/>
          </a:p>
        </p:txBody>
      </p:sp>
      <p:sp>
        <p:nvSpPr>
          <p:cNvPr id="37" name="Shape 29"/>
          <p:cNvSpPr/>
          <p:nvPr/>
        </p:nvSpPr>
        <p:spPr>
          <a:xfrm>
            <a:off x="5212080" y="2560320"/>
            <a:ext cx="2103120" cy="914"/>
          </a:xfrm>
          <a:prstGeom prst="line">
            <a:avLst/>
          </a:prstGeom>
          <a:noFill/>
          <a:ln w="31750">
            <a:solidFill>
              <a:srgbClr val="1F3A6E"/>
            </a:solidFill>
            <a:prstDash val="solid"/>
            <a:headEnd type="triangle"/>
            <a:tailEnd type="triangle"/>
          </a:ln>
        </p:spPr>
      </p:sp>
      <p:sp>
        <p:nvSpPr>
          <p:cNvPr id="38" name="Text 30"/>
          <p:cNvSpPr txBox="1"/>
          <p:nvPr/>
        </p:nvSpPr>
        <p:spPr>
          <a:xfrm>
            <a:off x="5212080" y="1828800"/>
            <a:ext cx="2103120" cy="640080"/>
          </a:xfrm>
          <a:prstGeom prst="rect">
            <a:avLst/>
          </a:prstGeom>
          <a:noFill/>
          <a:ln/>
        </p:spPr>
        <p:txBody>
          <a:bodyPr wrap="square" lIns="0" tIns="0" rIns="0" bIns="0" rtlCol="0" anchor="b"/>
          <a:lstStyle/>
          <a:p>
            <a:pPr algn="ctr" indent="0" marL="0">
              <a:buNone/>
            </a:pPr>
            <a:r>
              <a:rPr lang="en-US" sz="1050" dirty="0">
                <a:solidFill>
                  <a:srgbClr val="1F3A6E"/>
                </a:solidFill>
                <a:latin typeface="Calibri" pitchFamily="34" charset="0"/>
                <a:ea typeface="Calibri" pitchFamily="34" charset="-122"/>
                <a:cs typeface="Calibri" pitchFamily="34" charset="-120"/>
              </a:rPr>
              <a:t>Socket.io events with ack</a:t>
            </a:r>
            <a:endParaRPr lang="en-US" sz="1050" dirty="0"/>
          </a:p>
          <a:p>
            <a:pPr algn="ctr" indent="0" marL="0">
              <a:buNone/>
            </a:pPr>
            <a:r>
              <a:rPr lang="en-US" sz="1050" dirty="0">
                <a:solidFill>
                  <a:srgbClr val="1F3A6E"/>
                </a:solidFill>
                <a:latin typeface="Calibri" pitchFamily="34" charset="0"/>
                <a:ea typeface="Calibri" pitchFamily="34" charset="-122"/>
                <a:cs typeface="Calibri" pitchFamily="34" charset="-120"/>
              </a:rPr>
              <a:t>HTTP poll every 10 s if blocked</a:t>
            </a:r>
            <a:endParaRPr lang="en-US" sz="1050" dirty="0"/>
          </a:p>
        </p:txBody>
      </p:sp>
      <p:sp>
        <p:nvSpPr>
          <p:cNvPr id="39" name="Shape 31"/>
          <p:cNvSpPr/>
          <p:nvPr/>
        </p:nvSpPr>
        <p:spPr>
          <a:xfrm>
            <a:off x="5212080" y="4983480"/>
            <a:ext cx="2103120" cy="914"/>
          </a:xfrm>
          <a:prstGeom prst="line">
            <a:avLst/>
          </a:prstGeom>
          <a:noFill/>
          <a:ln w="31750">
            <a:solidFill>
              <a:srgbClr val="138808"/>
            </a:solidFill>
            <a:prstDash val="solid"/>
            <a:tailEnd type="triangle"/>
          </a:ln>
        </p:spPr>
      </p:sp>
      <p:sp>
        <p:nvSpPr>
          <p:cNvPr id="40" name="Text 32"/>
          <p:cNvSpPr txBox="1"/>
          <p:nvPr/>
        </p:nvSpPr>
        <p:spPr>
          <a:xfrm>
            <a:off x="5212080" y="4251960"/>
            <a:ext cx="2103120" cy="640080"/>
          </a:xfrm>
          <a:prstGeom prst="rect">
            <a:avLst/>
          </a:prstGeom>
          <a:noFill/>
          <a:ln/>
        </p:spPr>
        <p:txBody>
          <a:bodyPr wrap="square" lIns="0" tIns="0" rIns="0" bIns="0" rtlCol="0" anchor="b"/>
          <a:lstStyle/>
          <a:p>
            <a:pPr algn="ctr" indent="0" marL="0">
              <a:buNone/>
            </a:pPr>
            <a:r>
              <a:rPr lang="en-US" sz="1050" dirty="0">
                <a:solidFill>
                  <a:srgbClr val="0D6E06"/>
                </a:solidFill>
                <a:latin typeface="Calibri" pitchFamily="34" charset="0"/>
                <a:ea typeface="Calibri" pitchFamily="34" charset="-122"/>
                <a:cs typeface="Calibri" pitchFamily="34" charset="-120"/>
              </a:rPr>
              <a:t>HTTPS REST</a:t>
            </a:r>
            <a:endParaRPr lang="en-US" sz="1050" dirty="0"/>
          </a:p>
          <a:p>
            <a:pPr algn="ctr" indent="0" marL="0">
              <a:buNone/>
            </a:pPr>
            <a:r>
              <a:rPr lang="en-US" sz="1050" dirty="0">
                <a:solidFill>
                  <a:srgbClr val="0D6E06"/>
                </a:solidFill>
                <a:latin typeface="Calibri" pitchFamily="34" charset="0"/>
                <a:ea typeface="Calibri" pitchFamily="34" charset="-122"/>
                <a:cs typeface="Calibri" pitchFamily="34" charset="-120"/>
              </a:rPr>
              <a:t>durable upload outbox</a:t>
            </a:r>
            <a:endParaRPr lang="en-US" sz="1050" dirty="0"/>
          </a:p>
        </p:txBody>
      </p:sp>
      <p:sp>
        <p:nvSpPr>
          <p:cNvPr id="41" name="Text 3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NalamMesh · 24CS502 Distributed and Cloud Computing</a:t>
            </a:r>
            <a:endParaRPr lang="en-US" sz="1000" dirty="0"/>
          </a:p>
        </p:txBody>
      </p:sp>
      <p:sp>
        <p:nvSpPr>
          <p:cNvPr id="42" name="Text 3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AT A GLANCE</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200" b="1" dirty="0">
                <a:solidFill>
                  <a:srgbClr val="1F3A6E"/>
                </a:solidFill>
                <a:latin typeface="Cambria" pitchFamily="34" charset="0"/>
                <a:ea typeface="Cambria" pitchFamily="34" charset="-122"/>
                <a:cs typeface="Cambria" pitchFamily="34" charset="-120"/>
              </a:rPr>
              <a:t>Course concepts mapped to NalamMesh</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822960"/>
                <a:gridCol w="3200400"/>
                <a:gridCol w="5330952"/>
                <a:gridCol w="1737360"/>
              </a:tblGrid>
              <a:tr h="37490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Unit</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1F3A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Concept (from the slides)</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1F3A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 it appears in NalamMesh</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1F3A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1F3A6E"/>
                    </a:solidFill>
                  </a:tcPr>
                </a:tc>
              </a:tr>
              <a:tr h="374904">
                <a:tc>
                  <a:txBody>
                    <a:bodyPr/>
                    <a:lstStyle/>
                    <a:p>
                      <a:pPr indent="0" marL="0">
                        <a:buNone/>
                      </a:pPr>
                      <a:r>
                        <a:rPr lang="en-US" sz="1200" b="1" dirty="0">
                          <a:solidFill>
                            <a:srgbClr val="1F3A6E"/>
                          </a:solidFill>
                          <a:latin typeface="Calibri" pitchFamily="34" charset="0"/>
                          <a:ea typeface="Calibri" pitchFamily="34" charset="-122"/>
                          <a:cs typeface="Calibri" pitchFamily="34" charset="-120"/>
                        </a:rPr>
                        <a:t>Unit 1</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00" dirty="0">
                          <a:solidFill>
                            <a:srgbClr val="1E2533"/>
                          </a:solidFill>
                          <a:latin typeface="Calibri" pitchFamily="34" charset="0"/>
                          <a:ea typeface="Calibri" pitchFamily="34" charset="-122"/>
                          <a:cs typeface="Calibri" pitchFamily="34" charset="-120"/>
                        </a:rPr>
                        <a:t>Distributed system model</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00" dirty="0">
                          <a:solidFill>
                            <a:srgbClr val="5B6475"/>
                          </a:solidFill>
                          <a:latin typeface="Calibri" pitchFamily="34" charset="0"/>
                          <a:ea typeface="Calibri" pitchFamily="34" charset="-122"/>
                          <a:cs typeface="Calibri" pitchFamily="34" charset="-120"/>
                        </a:rPr>
                        <a:t>Independent facility nodes, each with its own storage and clock</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algn="ctr" indent="0" marL="0">
                        <a:buNone/>
                      </a:pPr>
                      <a:r>
                        <a:rPr lang="en-US" sz="1200" b="1" dirty="0">
                          <a:solidFill>
                            <a:srgbClr val="0D6E06"/>
                          </a:solidFill>
                          <a:latin typeface="Calibri" pitchFamily="34" charset="0"/>
                          <a:ea typeface="Calibri" pitchFamily="34" charset="-122"/>
                          <a:cs typeface="Calibri" pitchFamily="34" charset="-120"/>
                        </a:rPr>
                        <a:t>Implemented</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E8F5E9"/>
                    </a:solidFill>
                  </a:tcPr>
                </a:tc>
              </a:tr>
              <a:tr h="374904">
                <a:tc>
                  <a:txBody>
                    <a:bodyPr/>
                    <a:lstStyle/>
                    <a:p>
                      <a:pPr indent="0" marL="0">
                        <a:buNone/>
                      </a:pPr>
                      <a:r>
                        <a:rPr lang="en-US" sz="1200" b="1" dirty="0">
                          <a:solidFill>
                            <a:srgbClr val="1F3A6E"/>
                          </a:solidFill>
                          <a:latin typeface="Calibri" pitchFamily="34" charset="0"/>
                          <a:ea typeface="Calibri" pitchFamily="34" charset="-122"/>
                          <a:cs typeface="Calibri" pitchFamily="34" charset="-120"/>
                        </a:rPr>
                        <a:t>Unit 1</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latin typeface="Calibri" pitchFamily="34" charset="0"/>
                          <a:ea typeface="Calibri" pitchFamily="34" charset="-122"/>
                          <a:cs typeface="Calibri" pitchFamily="34" charset="-120"/>
                        </a:rPr>
                        <a:t>Message passing</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00" dirty="0">
                          <a:solidFill>
                            <a:srgbClr val="5B6475"/>
                          </a:solidFill>
                          <a:latin typeface="Calibri" pitchFamily="34" charset="0"/>
                          <a:ea typeface="Calibri" pitchFamily="34" charset="-122"/>
                          <a:cs typeface="Calibri" pitchFamily="34" charset="-120"/>
                        </a:rPr>
                        <a:t>Socket.io events between facilities; no shared memory</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D6E06"/>
                          </a:solidFill>
                          <a:latin typeface="Calibri" pitchFamily="34" charset="0"/>
                          <a:ea typeface="Calibri" pitchFamily="34" charset="-122"/>
                          <a:cs typeface="Calibri" pitchFamily="34" charset="-120"/>
                        </a:rPr>
                        <a:t>Implemented</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E8F5E9"/>
                    </a:solidFill>
                  </a:tcPr>
                </a:tc>
              </a:tr>
              <a:tr h="374904">
                <a:tc>
                  <a:txBody>
                    <a:bodyPr/>
                    <a:lstStyle/>
                    <a:p>
                      <a:pPr indent="0" marL="0">
                        <a:buNone/>
                      </a:pPr>
                      <a:r>
                        <a:rPr lang="en-US" sz="1200" b="1" dirty="0">
                          <a:solidFill>
                            <a:srgbClr val="1F3A6E"/>
                          </a:solidFill>
                          <a:latin typeface="Calibri" pitchFamily="34" charset="0"/>
                          <a:ea typeface="Calibri" pitchFamily="34" charset="-122"/>
                          <a:cs typeface="Calibri" pitchFamily="34" charset="-120"/>
                        </a:rPr>
                        <a:t>Unit 1</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00" dirty="0">
                          <a:solidFill>
                            <a:srgbClr val="1E2533"/>
                          </a:solidFill>
                          <a:latin typeface="Calibri" pitchFamily="34" charset="0"/>
                          <a:ea typeface="Calibri" pitchFamily="34" charset="-122"/>
                          <a:cs typeface="Calibri" pitchFamily="34" charset="-120"/>
                        </a:rPr>
                        <a:t>Blocking / non-blocking primitives</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00" dirty="0">
                          <a:solidFill>
                            <a:srgbClr val="5B6475"/>
                          </a:solidFill>
                          <a:latin typeface="Calibri" pitchFamily="34" charset="0"/>
                          <a:ea typeface="Calibri" pitchFamily="34" charset="-122"/>
                          <a:cs typeface="Calibri" pitchFamily="34" charset="-120"/>
                        </a:rPr>
                        <a:t>Acked publish with 5 s timeout; asynchronous outbox</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algn="ctr" indent="0" marL="0">
                        <a:buNone/>
                      </a:pPr>
                      <a:r>
                        <a:rPr lang="en-US" sz="1200" b="1" dirty="0">
                          <a:solidFill>
                            <a:srgbClr val="0D6E06"/>
                          </a:solidFill>
                          <a:latin typeface="Calibri" pitchFamily="34" charset="0"/>
                          <a:ea typeface="Calibri" pitchFamily="34" charset="-122"/>
                          <a:cs typeface="Calibri" pitchFamily="34" charset="-120"/>
                        </a:rPr>
                        <a:t>Implemented</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E8F5E9"/>
                    </a:solidFill>
                  </a:tcPr>
                </a:tc>
              </a:tr>
              <a:tr h="374904">
                <a:tc>
                  <a:txBody>
                    <a:bodyPr/>
                    <a:lstStyle/>
                    <a:p>
                      <a:pPr indent="0" marL="0">
                        <a:buNone/>
                      </a:pPr>
                      <a:r>
                        <a:rPr lang="en-US" sz="1200" b="1" dirty="0">
                          <a:solidFill>
                            <a:srgbClr val="1F3A6E"/>
                          </a:solidFill>
                          <a:latin typeface="Calibri" pitchFamily="34" charset="0"/>
                          <a:ea typeface="Calibri" pitchFamily="34" charset="-122"/>
                          <a:cs typeface="Calibri" pitchFamily="34" charset="-120"/>
                        </a:rPr>
                        <a:t>Unit 1</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latin typeface="Calibri" pitchFamily="34" charset="0"/>
                          <a:ea typeface="Calibri" pitchFamily="34" charset="-122"/>
                          <a:cs typeface="Calibri" pitchFamily="34" charset="-120"/>
                        </a:rPr>
                        <a:t>Asynchronous execution</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00" dirty="0">
                          <a:solidFill>
                            <a:srgbClr val="5B6475"/>
                          </a:solidFill>
                          <a:latin typeface="Calibri" pitchFamily="34" charset="0"/>
                          <a:ea typeface="Calibri" pitchFamily="34" charset="-122"/>
                          <a:cs typeface="Calibri" pitchFamily="34" charset="-120"/>
                        </a:rPr>
                        <a:t>Heartbeats, timeouts, exponential backoff, polling fallback</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D6E06"/>
                          </a:solidFill>
                          <a:latin typeface="Calibri" pitchFamily="34" charset="0"/>
                          <a:ea typeface="Calibri" pitchFamily="34" charset="-122"/>
                          <a:cs typeface="Calibri" pitchFamily="34" charset="-120"/>
                        </a:rPr>
                        <a:t>Implemented</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E8F5E9"/>
                    </a:solidFill>
                  </a:tcPr>
                </a:tc>
              </a:tr>
              <a:tr h="374904">
                <a:tc>
                  <a:txBody>
                    <a:bodyPr/>
                    <a:lstStyle/>
                    <a:p>
                      <a:pPr indent="0" marL="0">
                        <a:buNone/>
                      </a:pPr>
                      <a:r>
                        <a:rPr lang="en-US" sz="1200" b="1" dirty="0">
                          <a:solidFill>
                            <a:srgbClr val="1F3A6E"/>
                          </a:solidFill>
                          <a:latin typeface="Calibri" pitchFamily="34" charset="0"/>
                          <a:ea typeface="Calibri" pitchFamily="34" charset="-122"/>
                          <a:cs typeface="Calibri" pitchFamily="34" charset="-120"/>
                        </a:rPr>
                        <a:t>Unit 1</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00" dirty="0">
                          <a:solidFill>
                            <a:srgbClr val="1E2533"/>
                          </a:solidFill>
                          <a:latin typeface="Calibri" pitchFamily="34" charset="0"/>
                          <a:ea typeface="Calibri" pitchFamily="34" charset="-122"/>
                          <a:cs typeface="Calibri" pitchFamily="34" charset="-120"/>
                        </a:rPr>
                        <a:t>Causal order and concurrent events</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00" dirty="0">
                          <a:solidFill>
                            <a:srgbClr val="5B6475"/>
                          </a:solidFill>
                          <a:latin typeface="Calibri" pitchFamily="34" charset="0"/>
                          <a:ea typeface="Calibri" pitchFamily="34" charset="-122"/>
                          <a:cs typeface="Calibri" pitchFamily="34" charset="-120"/>
                        </a:rPr>
                        <a:t>Referral timeline merged as a union of events</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algn="ctr" indent="0" marL="0">
                        <a:buNone/>
                      </a:pPr>
                      <a:r>
                        <a:rPr lang="en-US" sz="1200" b="1" dirty="0">
                          <a:solidFill>
                            <a:srgbClr val="0D6E06"/>
                          </a:solidFill>
                          <a:latin typeface="Calibri" pitchFamily="34" charset="0"/>
                          <a:ea typeface="Calibri" pitchFamily="34" charset="-122"/>
                          <a:cs typeface="Calibri" pitchFamily="34" charset="-120"/>
                        </a:rPr>
                        <a:t>Implemented</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E8F5E9"/>
                    </a:solidFill>
                  </a:tcPr>
                </a:tc>
              </a:tr>
              <a:tr h="374904">
                <a:tc>
                  <a:txBody>
                    <a:bodyPr/>
                    <a:lstStyle/>
                    <a:p>
                      <a:pPr indent="0" marL="0">
                        <a:buNone/>
                      </a:pPr>
                      <a:r>
                        <a:rPr lang="en-US" sz="1200" b="1" dirty="0">
                          <a:solidFill>
                            <a:srgbClr val="1F3A6E"/>
                          </a:solidFill>
                          <a:latin typeface="Calibri" pitchFamily="34" charset="0"/>
                          <a:ea typeface="Calibri" pitchFamily="34" charset="-122"/>
                          <a:cs typeface="Calibri" pitchFamily="34" charset="-120"/>
                        </a:rPr>
                        <a:t>Unit 2</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latin typeface="Calibri" pitchFamily="34" charset="0"/>
                          <a:ea typeface="Calibri" pitchFamily="34" charset="-122"/>
                          <a:cs typeface="Calibri" pitchFamily="34" charset="-120"/>
                        </a:rPr>
                        <a:t>Physical vs logical time</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00" dirty="0">
                          <a:solidFill>
                            <a:srgbClr val="5B6475"/>
                          </a:solidFill>
                          <a:latin typeface="Calibri" pitchFamily="34" charset="0"/>
                          <a:ea typeface="Calibri" pitchFamily="34" charset="-122"/>
                          <a:cs typeface="Calibri" pitchFamily="34" charset="-120"/>
                        </a:rPr>
                        <a:t>Server-side received_at; last-write-wins on device clock</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B45309"/>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BEB"/>
                    </a:solidFill>
                  </a:tcPr>
                </a:tc>
              </a:tr>
              <a:tr h="374904">
                <a:tc>
                  <a:txBody>
                    <a:bodyPr/>
                    <a:lstStyle/>
                    <a:p>
                      <a:pPr indent="0" marL="0">
                        <a:buNone/>
                      </a:pPr>
                      <a:r>
                        <a:rPr lang="en-US" sz="1200" b="1" dirty="0">
                          <a:solidFill>
                            <a:srgbClr val="1F3A6E"/>
                          </a:solidFill>
                          <a:latin typeface="Calibri" pitchFamily="34" charset="0"/>
                          <a:ea typeface="Calibri" pitchFamily="34" charset="-122"/>
                          <a:cs typeface="Calibri" pitchFamily="34" charset="-120"/>
                        </a:rPr>
                        <a:t>Unit 2</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00" dirty="0">
                          <a:solidFill>
                            <a:srgbClr val="1E2533"/>
                          </a:solidFill>
                          <a:latin typeface="Calibri" pitchFamily="34" charset="0"/>
                          <a:ea typeface="Calibri" pitchFamily="34" charset="-122"/>
                          <a:cs typeface="Calibri" pitchFamily="34" charset="-120"/>
                        </a:rPr>
                        <a:t>Channels, FIFO and recovery</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00" dirty="0">
                          <a:solidFill>
                            <a:srgbClr val="5B6475"/>
                          </a:solidFill>
                          <a:latin typeface="Calibri" pitchFamily="34" charset="0"/>
                          <a:ea typeface="Calibri" pitchFamily="34" charset="-122"/>
                          <a:cs typeface="Calibri" pitchFamily="34" charset="-120"/>
                        </a:rPr>
                        <a:t>Oldest-first uploads; catch-up “since t” after a partition</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algn="ctr" indent="0" marL="0">
                        <a:buNone/>
                      </a:pPr>
                      <a:r>
                        <a:rPr lang="en-US" sz="1200" b="1" dirty="0">
                          <a:solidFill>
                            <a:srgbClr val="0D6E06"/>
                          </a:solidFill>
                          <a:latin typeface="Calibri" pitchFamily="34" charset="0"/>
                          <a:ea typeface="Calibri" pitchFamily="34" charset="-122"/>
                          <a:cs typeface="Calibri" pitchFamily="34" charset="-120"/>
                        </a:rPr>
                        <a:t>Implemented</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E8F5E9"/>
                    </a:solidFill>
                  </a:tcPr>
                </a:tc>
              </a:tr>
              <a:tr h="374904">
                <a:tc>
                  <a:txBody>
                    <a:bodyPr/>
                    <a:lstStyle/>
                    <a:p>
                      <a:pPr indent="0" marL="0">
                        <a:buNone/>
                      </a:pPr>
                      <a:r>
                        <a:rPr lang="en-US" sz="1200" b="1" dirty="0">
                          <a:solidFill>
                            <a:srgbClr val="1F3A6E"/>
                          </a:solidFill>
                          <a:latin typeface="Calibri" pitchFamily="34" charset="0"/>
                          <a:ea typeface="Calibri" pitchFamily="34" charset="-122"/>
                          <a:cs typeface="Calibri" pitchFamily="34" charset="-120"/>
                        </a:rPr>
                        <a:t>Unit 2</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latin typeface="Calibri" pitchFamily="34" charset="0"/>
                          <a:ea typeface="Calibri" pitchFamily="34" charset="-122"/>
                          <a:cs typeface="Calibri" pitchFamily="34" charset="-120"/>
                        </a:rPr>
                        <a:t>Global snapshot algorithms</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00" dirty="0">
                          <a:solidFill>
                            <a:srgbClr val="5B6475"/>
                          </a:solidFill>
                          <a:latin typeface="Calibri" pitchFamily="34" charset="0"/>
                          <a:ea typeface="Calibri" pitchFamily="34" charset="-122"/>
                          <a:cs typeface="Calibri" pitchFamily="34" charset="-120"/>
                        </a:rPr>
                        <a:t>Per-device store dump only; no consistent cut</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5B6475"/>
                          </a:solidFill>
                          <a:latin typeface="Calibri" pitchFamily="34" charset="0"/>
                          <a:ea typeface="Calibri" pitchFamily="34" charset="-122"/>
                          <a:cs typeface="Calibri" pitchFamily="34" charset="-120"/>
                        </a:rPr>
                        <a:t>Future work</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1F3F7"/>
                    </a:solidFill>
                  </a:tcPr>
                </a:tc>
              </a:tr>
              <a:tr h="374904">
                <a:tc>
                  <a:txBody>
                    <a:bodyPr/>
                    <a:lstStyle/>
                    <a:p>
                      <a:pPr indent="0" marL="0">
                        <a:buNone/>
                      </a:pPr>
                      <a:r>
                        <a:rPr lang="en-US" sz="1200" b="1" dirty="0">
                          <a:solidFill>
                            <a:srgbClr val="1F3A6E"/>
                          </a:solidFill>
                          <a:latin typeface="Calibri" pitchFamily="34" charset="0"/>
                          <a:ea typeface="Calibri" pitchFamily="34" charset="-122"/>
                          <a:cs typeface="Calibri" pitchFamily="34" charset="-120"/>
                        </a:rPr>
                        <a:t>Unit 3</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00" dirty="0">
                          <a:solidFill>
                            <a:srgbClr val="1E2533"/>
                          </a:solidFill>
                          <a:latin typeface="Calibri" pitchFamily="34" charset="0"/>
                          <a:ea typeface="Calibri" pitchFamily="34" charset="-122"/>
                          <a:cs typeface="Calibri" pitchFamily="34" charset="-120"/>
                        </a:rPr>
                        <a:t>Distributed mutual exclusion</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00" dirty="0">
                          <a:solidFill>
                            <a:srgbClr val="5B6475"/>
                          </a:solidFill>
                          <a:latin typeface="Calibri" pitchFamily="34" charset="0"/>
                          <a:ea typeface="Calibri" pitchFamily="34" charset="-122"/>
                          <a:cs typeface="Calibri" pitchFamily="34" charset="-120"/>
                        </a:rPr>
                        <a:t>Last free bed can be reserved from two devices</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algn="ctr" indent="0" marL="0">
                        <a:buNone/>
                      </a:pPr>
                      <a:r>
                        <a:rPr lang="en-US" sz="1200" b="1" dirty="0">
                          <a:solidFill>
                            <a:srgbClr val="5B6475"/>
                          </a:solidFill>
                          <a:latin typeface="Calibri" pitchFamily="34" charset="0"/>
                          <a:ea typeface="Calibri" pitchFamily="34" charset="-122"/>
                          <a:cs typeface="Calibri" pitchFamily="34" charset="-120"/>
                        </a:rPr>
                        <a:t>Future work</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1F3F7"/>
                    </a:solidFill>
                  </a:tcPr>
                </a:tc>
              </a:tr>
              <a:tr h="374904">
                <a:tc>
                  <a:txBody>
                    <a:bodyPr/>
                    <a:lstStyle/>
                    <a:p>
                      <a:pPr indent="0" marL="0">
                        <a:buNone/>
                      </a:pPr>
                      <a:r>
                        <a:rPr lang="en-US" sz="1200" b="1" dirty="0">
                          <a:solidFill>
                            <a:srgbClr val="1F3A6E"/>
                          </a:solidFill>
                          <a:latin typeface="Calibri" pitchFamily="34" charset="0"/>
                          <a:ea typeface="Calibri" pitchFamily="34" charset="-122"/>
                          <a:cs typeface="Calibri" pitchFamily="34" charset="-120"/>
                        </a:rPr>
                        <a:t>Unit 4</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latin typeface="Calibri" pitchFamily="34" charset="0"/>
                          <a:ea typeface="Calibri" pitchFamily="34" charset="-122"/>
                          <a:cs typeface="Calibri" pitchFamily="34" charset="-120"/>
                        </a:rPr>
                        <a:t>Storage and overlay networks</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00" dirty="0">
                          <a:solidFill>
                            <a:srgbClr val="5B6475"/>
                          </a:solidFill>
                          <a:latin typeface="Calibri" pitchFamily="34" charset="0"/>
                          <a:ea typeface="Calibri" pitchFamily="34" charset="-122"/>
                          <a:cs typeface="Calibri" pitchFamily="34" charset="-120"/>
                        </a:rPr>
                        <a:t>IndexedDB + SQL; mesh relay as an overlay</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B45309"/>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BEB"/>
                    </a:solidFill>
                  </a:tcPr>
                </a:tc>
              </a:tr>
              <a:tr h="374904">
                <a:tc>
                  <a:txBody>
                    <a:bodyPr/>
                    <a:lstStyle/>
                    <a:p>
                      <a:pPr indent="0" marL="0">
                        <a:buNone/>
                      </a:pPr>
                      <a:r>
                        <a:rPr lang="en-US" sz="1200" b="1" dirty="0">
                          <a:solidFill>
                            <a:srgbClr val="1F3A6E"/>
                          </a:solidFill>
                          <a:latin typeface="Calibri" pitchFamily="34" charset="0"/>
                          <a:ea typeface="Calibri" pitchFamily="34" charset="-122"/>
                          <a:cs typeface="Calibri" pitchFamily="34" charset="-120"/>
                        </a:rPr>
                        <a:t>Unit 4</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00" dirty="0">
                          <a:solidFill>
                            <a:srgbClr val="1E2533"/>
                          </a:solidFill>
                          <a:latin typeface="Calibri" pitchFamily="34" charset="0"/>
                          <a:ea typeface="Calibri" pitchFamily="34" charset="-122"/>
                          <a:cs typeface="Calibri" pitchFamily="34" charset="-120"/>
                        </a:rPr>
                        <a:t>VMs and containers</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00" dirty="0">
                          <a:solidFill>
                            <a:srgbClr val="5B6475"/>
                          </a:solidFill>
                          <a:latin typeface="Calibri" pitchFamily="34" charset="0"/>
                          <a:ea typeface="Calibri" pitchFamily="34" charset="-122"/>
                          <a:cs typeface="Calibri" pitchFamily="34" charset="-120"/>
                        </a:rPr>
                        <a:t>Hosted PaaS and serverless; no Dockerfile or VM</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algn="ctr" indent="0" marL="0">
                        <a:buNone/>
                      </a:pPr>
                      <a:r>
                        <a:rPr lang="en-US" sz="1200" b="1" dirty="0">
                          <a:solidFill>
                            <a:srgbClr val="5B6475"/>
                          </a:solidFill>
                          <a:latin typeface="Calibri" pitchFamily="34" charset="0"/>
                          <a:ea typeface="Calibri" pitchFamily="34" charset="-122"/>
                          <a:cs typeface="Calibri" pitchFamily="34" charset="-120"/>
                        </a:rPr>
                        <a:t>Future work</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1F3F7"/>
                    </a:solidFill>
                  </a:tcPr>
                </a:tc>
              </a:tr>
            </a:tbl>
          </a:graphicData>
        </a:graphic>
      </p:graphicFrame>
      <p:sp>
        <p:nvSpPr>
          <p:cNvPr id="5" name="Text 2"/>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NalamMesh · 24CS502 Distributed and Cloud Computing</a:t>
            </a:r>
            <a:endParaRPr lang="en-US" sz="10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UNIT 1 · INTERPROCESS COMMUNICATION</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200" b="1" dirty="0">
                <a:solidFill>
                  <a:srgbClr val="1F3A6E"/>
                </a:solidFill>
                <a:latin typeface="Cambria" pitchFamily="34" charset="0"/>
                <a:ea typeface="Cambria" pitchFamily="34" charset="-122"/>
                <a:cs typeface="Cambria" pitchFamily="34" charset="-120"/>
              </a:rPr>
              <a:t>Message passing, not shared memory</a:t>
            </a:r>
            <a:endParaRPr lang="en-US" sz="3200" dirty="0"/>
          </a:p>
        </p:txBody>
      </p:sp>
      <p:sp>
        <p:nvSpPr>
          <p:cNvPr id="4" name="Shape 2"/>
          <p:cNvSpPr/>
          <p:nvPr/>
        </p:nvSpPr>
        <p:spPr>
          <a:xfrm>
            <a:off x="548640" y="1508760"/>
            <a:ext cx="3931920" cy="4526280"/>
          </a:xfrm>
          <a:prstGeom prst="roundRect">
            <a:avLst>
              <a:gd name="adj" fmla="val 1860"/>
            </a:avLst>
          </a:prstGeom>
          <a:solidFill>
            <a:srgbClr val="E8EEF8"/>
          </a:solidFill>
          <a:ln w="12700">
            <a:solidFill>
              <a:srgbClr val="E8EEF8"/>
            </a:solidFill>
            <a:prstDash val="solid"/>
          </a:ln>
        </p:spPr>
      </p:sp>
      <p:sp>
        <p:nvSpPr>
          <p:cNvPr id="5" name="Shape 3"/>
          <p:cNvSpPr/>
          <p:nvPr/>
        </p:nvSpPr>
        <p:spPr>
          <a:xfrm>
            <a:off x="822960" y="1737360"/>
            <a:ext cx="594360" cy="594360"/>
          </a:xfrm>
          <a:prstGeom prst="ellipse">
            <a:avLst/>
          </a:prstGeom>
          <a:solidFill>
            <a:srgbClr val="1F3A6E"/>
          </a:solidFill>
          <a:ln w="12700">
            <a:solidFill>
              <a:srgbClr val="1F3A6E"/>
            </a:solidFill>
            <a:prstDash val="solid"/>
          </a:ln>
        </p:spPr>
      </p:sp>
      <p:pic>
        <p:nvPicPr>
          <p:cNvPr id="6" name="Image 0" descr="preencoded.png">    </p:cNvPr>
          <p:cNvPicPr>
            <a:picLocks noChangeAspect="1"/>
          </p:cNvPicPr>
          <p:nvPr/>
        </p:nvPicPr>
        <p:blipFill>
          <a:blip r:embed="rId1"/>
          <a:stretch>
            <a:fillRect/>
          </a:stretch>
        </p:blipFill>
        <p:spPr>
          <a:xfrm>
            <a:off x="977494" y="1891894"/>
            <a:ext cx="285293" cy="285293"/>
          </a:xfrm>
          <a:prstGeom prst="rect">
            <a:avLst/>
          </a:prstGeom>
        </p:spPr>
      </p:pic>
      <p:sp>
        <p:nvSpPr>
          <p:cNvPr id="7" name="Text 4"/>
          <p:cNvSpPr txBox="1"/>
          <p:nvPr/>
        </p:nvSpPr>
        <p:spPr>
          <a:xfrm>
            <a:off x="1554480" y="1783080"/>
            <a:ext cx="2743200" cy="502920"/>
          </a:xfrm>
          <a:prstGeom prst="rect">
            <a:avLst/>
          </a:prstGeom>
          <a:noFill/>
          <a:ln/>
        </p:spPr>
        <p:txBody>
          <a:bodyPr wrap="square" lIns="0" tIns="0" rIns="0" bIns="0" rtlCol="0" anchor="ctr"/>
          <a:lstStyle/>
          <a:p>
            <a:pPr indent="0" marL="0">
              <a:buNone/>
            </a:pPr>
            <a:r>
              <a:rPr lang="en-US" sz="1800" b="1" dirty="0">
                <a:solidFill>
                  <a:srgbClr val="1F3A6E"/>
                </a:solidFill>
                <a:latin typeface="Calibri" pitchFamily="34" charset="0"/>
                <a:ea typeface="Calibri" pitchFamily="34" charset="-122"/>
                <a:cs typeface="Calibri" pitchFamily="34" charset="-120"/>
              </a:rPr>
              <a:t>Why message passing</a:t>
            </a:r>
            <a:endParaRPr lang="en-US" sz="1800" dirty="0"/>
          </a:p>
        </p:txBody>
      </p:sp>
      <p:sp>
        <p:nvSpPr>
          <p:cNvPr id="8" name="Text 5"/>
          <p:cNvSpPr txBox="1"/>
          <p:nvPr/>
        </p:nvSpPr>
        <p:spPr>
          <a:xfrm>
            <a:off x="822960" y="2514600"/>
            <a:ext cx="342900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Shared memory needs processors on one machine. Our nodes are kilometres apart.</a:t>
            </a:r>
            <a:endParaRPr lang="en-US" sz="1400" dirty="0"/>
          </a:p>
          <a:p>
            <a:pPr marL="342900" indent="-3429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Every change to a patient, referral or bed is sent as a named event.</a:t>
            </a:r>
            <a:endParaRPr lang="en-US" sz="1400" dirty="0"/>
          </a:p>
          <a:p>
            <a:pPr marL="342900" indent="-3429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The relay forwards events; it never lets one node edit another’s data.</a:t>
            </a:r>
            <a:endParaRPr lang="en-US" sz="1400" dirty="0"/>
          </a:p>
          <a:p>
            <a:pPr marL="342900" indent="-3429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Receivers decide how to merge what arrives.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800600" y="1508760"/>
          <a:ext cx="6842455" cy="914400"/>
        </p:xfrm>
        <a:graphic>
          <a:graphicData uri="http://schemas.openxmlformats.org/drawingml/2006/table">
            <a:tbl>
              <a:tblPr/>
              <a:tblGrid>
                <a:gridCol w="2331720"/>
                <a:gridCol w="1325880"/>
                <a:gridCol w="3182112"/>
              </a:tblGrid>
              <a:tr h="5486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Event</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1F3A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Direction</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1F3A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1F3A6E"/>
                    </a:solidFill>
                  </a:tcPr>
                </a:tc>
              </a:tr>
              <a:tr h="548640">
                <a:tc>
                  <a:txBody>
                    <a:bodyPr/>
                    <a:lstStyle/>
                    <a:p>
                      <a:pPr indent="0" marL="0">
                        <a:buNone/>
                      </a:pPr>
                      <a:r>
                        <a:rPr lang="en-US" sz="1100" b="1" dirty="0">
                          <a:solidFill>
                            <a:srgbClr val="1F3A6E"/>
                          </a:solidFill>
                          <a:latin typeface="Courier New" pitchFamily="34" charset="0"/>
                          <a:ea typeface="Courier New" pitchFamily="34" charset="-122"/>
                          <a:cs typeface="Courier New" pitchFamily="34" charset="-120"/>
                        </a:rPr>
                        <a:t>mesh:register</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00" dirty="0">
                          <a:solidFill>
                            <a:srgbClr val="5B6475"/>
                          </a:solidFill>
                          <a:latin typeface="Calibri" pitchFamily="34" charset="0"/>
                          <a:ea typeface="Calibri" pitchFamily="34" charset="-122"/>
                          <a:cs typeface="Calibri" pitchFamily="34" charset="-120"/>
                        </a:rPr>
                        <a:t>node → relay</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00" dirty="0">
                          <a:solidFill>
                            <a:srgbClr val="1E2533"/>
                          </a:solidFill>
                          <a:latin typeface="Calibri" pitchFamily="34" charset="0"/>
                          <a:ea typeface="Calibri" pitchFamily="34" charset="-122"/>
                          <a:cs typeface="Calibri" pitchFamily="34" charset="-120"/>
                        </a:rPr>
                        <a:t>Join the mesh; receive the list of peers</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r>
              <a:tr h="548640">
                <a:tc>
                  <a:txBody>
                    <a:bodyPr/>
                    <a:lstStyle/>
                    <a:p>
                      <a:pPr indent="0" marL="0">
                        <a:buNone/>
                      </a:pPr>
                      <a:r>
                        <a:rPr lang="en-US" sz="1100" b="1" dirty="0">
                          <a:solidFill>
                            <a:srgbClr val="1F3A6E"/>
                          </a:solidFill>
                          <a:latin typeface="Courier New" pitchFamily="34" charset="0"/>
                          <a:ea typeface="Courier New" pitchFamily="34" charset="-122"/>
                          <a:cs typeface="Courier New" pitchFamily="34" charset="-120"/>
                        </a:rPr>
                        <a:t>mesh:heartbeat</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00" dirty="0">
                          <a:solidFill>
                            <a:srgbClr val="5B6475"/>
                          </a:solidFill>
                          <a:latin typeface="Calibri" pitchFamily="34" charset="0"/>
                          <a:ea typeface="Calibri" pitchFamily="34" charset="-122"/>
                          <a:cs typeface="Calibri" pitchFamily="34" charset="-120"/>
                        </a:rPr>
                        <a:t>node → relay</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latin typeface="Calibri" pitchFamily="34" charset="0"/>
                          <a:ea typeface="Calibri" pitchFamily="34" charset="-122"/>
                          <a:cs typeface="Calibri" pitchFamily="34" charset="-120"/>
                        </a:rPr>
                        <a:t>“Still alive” every 5 s</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1F3A6E"/>
                          </a:solidFill>
                          <a:latin typeface="Courier New" pitchFamily="34" charset="0"/>
                          <a:ea typeface="Courier New" pitchFamily="34" charset="-122"/>
                          <a:cs typeface="Courier New" pitchFamily="34" charset="-120"/>
                        </a:rPr>
                        <a:t>mesh:relay</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00" dirty="0">
                          <a:solidFill>
                            <a:srgbClr val="5B6475"/>
                          </a:solidFill>
                          <a:latin typeface="Calibri" pitchFamily="34" charset="0"/>
                          <a:ea typeface="Calibri" pitchFamily="34" charset="-122"/>
                          <a:cs typeface="Calibri" pitchFamily="34" charset="-120"/>
                        </a:rPr>
                        <a:t>node → node</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00" dirty="0">
                          <a:solidFill>
                            <a:srgbClr val="1E2533"/>
                          </a:solidFill>
                          <a:latin typeface="Calibri" pitchFamily="34" charset="0"/>
                          <a:ea typeface="Calibri" pitchFamily="34" charset="-122"/>
                          <a:cs typeface="Calibri" pitchFamily="34" charset="-120"/>
                        </a:rPr>
                        <a:t>Targeted or broadcast message, hop-limited</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r>
              <a:tr h="548640">
                <a:tc>
                  <a:txBody>
                    <a:bodyPr/>
                    <a:lstStyle/>
                    <a:p>
                      <a:pPr indent="0" marL="0">
                        <a:buNone/>
                      </a:pPr>
                      <a:r>
                        <a:rPr lang="en-US" sz="1100" b="1" dirty="0">
                          <a:solidFill>
                            <a:srgbClr val="1F3A6E"/>
                          </a:solidFill>
                          <a:latin typeface="Courier New" pitchFamily="34" charset="0"/>
                          <a:ea typeface="Courier New" pitchFamily="34" charset="-122"/>
                          <a:cs typeface="Courier New" pitchFamily="34" charset="-120"/>
                        </a:rPr>
                        <a:t>patient:sync</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00" dirty="0">
                          <a:solidFill>
                            <a:srgbClr val="5B6475"/>
                          </a:solidFill>
                          <a:latin typeface="Calibri" pitchFamily="34" charset="0"/>
                          <a:ea typeface="Calibri" pitchFamily="34" charset="-122"/>
                          <a:cs typeface="Calibri" pitchFamily="34" charset="-120"/>
                        </a:rPr>
                        <a:t>node → all</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latin typeface="Calibri" pitchFamily="34" charset="0"/>
                          <a:ea typeface="Calibri" pitchFamily="34" charset="-122"/>
                          <a:cs typeface="Calibri" pitchFamily="34" charset="-120"/>
                        </a:rPr>
                        <a:t>New or updated patient record</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1F3A6E"/>
                          </a:solidFill>
                          <a:latin typeface="Courier New" pitchFamily="34" charset="0"/>
                          <a:ea typeface="Courier New" pitchFamily="34" charset="-122"/>
                          <a:cs typeface="Courier New" pitchFamily="34" charset="-120"/>
                        </a:rPr>
                        <a:t>referral:publish</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00" dirty="0">
                          <a:solidFill>
                            <a:srgbClr val="5B6475"/>
                          </a:solidFill>
                          <a:latin typeface="Calibri" pitchFamily="34" charset="0"/>
                          <a:ea typeface="Calibri" pitchFamily="34" charset="-122"/>
                          <a:cs typeface="Calibri" pitchFamily="34" charset="-120"/>
                        </a:rPr>
                        <a:t>node → relay</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00" dirty="0">
                          <a:solidFill>
                            <a:srgbClr val="1E2533"/>
                          </a:solidFill>
                          <a:latin typeface="Calibri" pitchFamily="34" charset="0"/>
                          <a:ea typeface="Calibri" pitchFamily="34" charset="-122"/>
                          <a:cs typeface="Calibri" pitchFamily="34" charset="-120"/>
                        </a:rPr>
                        <a:t>Referral change, acknowledged</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r>
              <a:tr h="548640">
                <a:tc>
                  <a:txBody>
                    <a:bodyPr/>
                    <a:lstStyle/>
                    <a:p>
                      <a:pPr indent="0" marL="0">
                        <a:buNone/>
                      </a:pPr>
                      <a:r>
                        <a:rPr lang="en-US" sz="1100" b="1" dirty="0">
                          <a:solidFill>
                            <a:srgbClr val="1F3A6E"/>
                          </a:solidFill>
                          <a:latin typeface="Courier New" pitchFamily="34" charset="0"/>
                          <a:ea typeface="Courier New" pitchFamily="34" charset="-122"/>
                          <a:cs typeface="Courier New" pitchFamily="34" charset="-120"/>
                        </a:rPr>
                        <a:t>sync:request / sync:batch</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00" dirty="0">
                          <a:solidFill>
                            <a:srgbClr val="5B6475"/>
                          </a:solidFill>
                          <a:latin typeface="Calibri" pitchFamily="34" charset="0"/>
                          <a:ea typeface="Calibri" pitchFamily="34" charset="-122"/>
                          <a:cs typeface="Calibri" pitchFamily="34" charset="-120"/>
                        </a:rPr>
                        <a:t>node ↔ relay</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latin typeface="Calibri" pitchFamily="34" charset="0"/>
                          <a:ea typeface="Calibri" pitchFamily="34" charset="-122"/>
                          <a:cs typeface="Calibri" pitchFamily="34" charset="-120"/>
                        </a:rPr>
                        <a:t>Replay everything missed since t</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1F3A6E"/>
                          </a:solidFill>
                          <a:latin typeface="Courier New" pitchFamily="34" charset="0"/>
                          <a:ea typeface="Courier New" pitchFamily="34" charset="-122"/>
                          <a:cs typeface="Courier New" pitchFamily="34" charset="-120"/>
                        </a:rPr>
                        <a:t>referral:catchup</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00" dirty="0">
                          <a:solidFill>
                            <a:srgbClr val="5B6475"/>
                          </a:solidFill>
                          <a:latin typeface="Calibri" pitchFamily="34" charset="0"/>
                          <a:ea typeface="Calibri" pitchFamily="34" charset="-122"/>
                          <a:cs typeface="Calibri" pitchFamily="34" charset="-120"/>
                        </a:rPr>
                        <a:t>node ↔ relay</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00" dirty="0">
                          <a:solidFill>
                            <a:srgbClr val="1E2533"/>
                          </a:solidFill>
                          <a:latin typeface="Calibri" pitchFamily="34" charset="0"/>
                          <a:ea typeface="Calibri" pitchFamily="34" charset="-122"/>
                          <a:cs typeface="Calibri" pitchFamily="34" charset="-120"/>
                        </a:rPr>
                        <a:t>Referral changes missed while offline</a:t>
                      </a:r>
                      <a:endParaRPr lang="en-US" sz="1200" dirty="0">
                        <a:latin typeface="Calibri" charset="0"/>
                        <a:ea typeface="Calibri" charset="0"/>
                        <a:cs typeface="Calibri" charset="0"/>
                      </a:endParaRPr>
                    </a:p>
                  </a:txBody>
                  <a:tcPr marL="91440" marR="91440" marT="27432" marB="27432"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r>
            </a:tbl>
          </a:graphicData>
        </a:graphic>
      </p:graphicFrame>
      <p:sp>
        <p:nvSpPr>
          <p:cNvPr id="10" name="Text 6"/>
          <p:cNvSpPr txBox="1"/>
          <p:nvPr/>
        </p:nvSpPr>
        <p:spPr>
          <a:xfrm>
            <a:off x="4800600" y="5943600"/>
            <a:ext cx="6766560" cy="274320"/>
          </a:xfrm>
          <a:prstGeom prst="rect">
            <a:avLst/>
          </a:prstGeom>
          <a:noFill/>
          <a:ln/>
        </p:spPr>
        <p:txBody>
          <a:bodyPr wrap="square" lIns="0" tIns="0" rIns="0" bIns="0" rtlCol="0" anchor="t"/>
          <a:lstStyle/>
          <a:p>
            <a:pPr indent="0" marL="0">
              <a:buNone/>
            </a:pPr>
            <a:r>
              <a:rPr lang="en-US" sz="1000" i="1" dirty="0">
                <a:solidFill>
                  <a:srgbClr val="5B6475"/>
                </a:solidFill>
                <a:latin typeface="Calibri" pitchFamily="34" charset="0"/>
                <a:ea typeface="Calibri" pitchFamily="34" charset="-122"/>
                <a:cs typeface="Calibri" pitchFamily="34" charset="-120"/>
              </a:rPr>
              <a:t>Source: server/mesh-server.ts</a:t>
            </a:r>
            <a:endParaRPr lang="en-US" sz="1000" dirty="0"/>
          </a:p>
        </p:txBody>
      </p:sp>
      <p:sp>
        <p:nvSpPr>
          <p:cNvPr id="11" name="Text 7"/>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NalamMesh · 24CS502 Distributed and Cloud Computing</a:t>
            </a:r>
            <a:endParaRPr lang="en-US" sz="1000" dirty="0"/>
          </a:p>
        </p:txBody>
      </p:sp>
      <p:sp>
        <p:nvSpPr>
          <p:cNvPr id="12"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UNIT 1 · PRIMITIVES FOR DISTRIBUTED COMMUNICATION</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200" b="1" dirty="0">
                <a:solidFill>
                  <a:srgbClr val="1F3A6E"/>
                </a:solidFill>
                <a:latin typeface="Cambria" pitchFamily="34" charset="0"/>
                <a:ea typeface="Cambria" pitchFamily="34" charset="-122"/>
                <a:cs typeface="Cambria" pitchFamily="34" charset="-120"/>
              </a:rPr>
              <a:t>Blocking with a timeout vs non-blocking send</a:t>
            </a:r>
            <a:endParaRPr lang="en-US" sz="3200" dirty="0"/>
          </a:p>
        </p:txBody>
      </p:sp>
      <p:sp>
        <p:nvSpPr>
          <p:cNvPr id="4" name="Shape 2"/>
          <p:cNvSpPr/>
          <p:nvPr/>
        </p:nvSpPr>
        <p:spPr>
          <a:xfrm>
            <a:off x="548640" y="1508760"/>
            <a:ext cx="5364328" cy="4526280"/>
          </a:xfrm>
          <a:prstGeom prst="roundRect">
            <a:avLst>
              <a:gd name="adj" fmla="val 1616"/>
            </a:avLst>
          </a:prstGeom>
          <a:solidFill>
            <a:srgbClr val="F1F3F7"/>
          </a:solidFill>
          <a:ln w="12700">
            <a:solidFill>
              <a:srgbClr val="F1F3F7"/>
            </a:solidFill>
            <a:prstDash val="solid"/>
          </a:ln>
        </p:spPr>
      </p:sp>
      <p:sp>
        <p:nvSpPr>
          <p:cNvPr id="5" name="Shape 3"/>
          <p:cNvSpPr/>
          <p:nvPr/>
        </p:nvSpPr>
        <p:spPr>
          <a:xfrm>
            <a:off x="822960" y="1737360"/>
            <a:ext cx="594360" cy="594360"/>
          </a:xfrm>
          <a:prstGeom prst="ellipse">
            <a:avLst/>
          </a:prstGeom>
          <a:solidFill>
            <a:srgbClr val="1F3A6E"/>
          </a:solidFill>
          <a:ln w="12700">
            <a:solidFill>
              <a:srgbClr val="1F3A6E"/>
            </a:solidFill>
            <a:prstDash val="solid"/>
          </a:ln>
        </p:spPr>
      </p:sp>
      <p:pic>
        <p:nvPicPr>
          <p:cNvPr id="6" name="Image 0" descr="preencoded.png">    </p:cNvPr>
          <p:cNvPicPr>
            <a:picLocks noChangeAspect="1"/>
          </p:cNvPicPr>
          <p:nvPr/>
        </p:nvPicPr>
        <p:blipFill>
          <a:blip r:embed="rId1"/>
          <a:stretch>
            <a:fillRect/>
          </a:stretch>
        </p:blipFill>
        <p:spPr>
          <a:xfrm>
            <a:off x="977494" y="1891894"/>
            <a:ext cx="285293" cy="285293"/>
          </a:xfrm>
          <a:prstGeom prst="rect">
            <a:avLst/>
          </a:prstGeom>
        </p:spPr>
      </p:pic>
      <p:sp>
        <p:nvSpPr>
          <p:cNvPr id="7" name="Text 4"/>
          <p:cNvSpPr txBox="1"/>
          <p:nvPr/>
        </p:nvSpPr>
        <p:spPr>
          <a:xfrm>
            <a:off x="1554480" y="1737360"/>
            <a:ext cx="4175608" cy="320040"/>
          </a:xfrm>
          <a:prstGeom prst="rect">
            <a:avLst/>
          </a:prstGeom>
          <a:noFill/>
          <a:ln/>
        </p:spPr>
        <p:txBody>
          <a:bodyPr wrap="square" lIns="0" tIns="0" rIns="0" bIns="0" rtlCol="0" anchor="t"/>
          <a:lstStyle/>
          <a:p>
            <a:pPr indent="0" marL="0">
              <a:buNone/>
            </a:pPr>
            <a:r>
              <a:rPr lang="en-US" sz="1700" b="1" dirty="0">
                <a:solidFill>
                  <a:srgbClr val="1F3A6E"/>
                </a:solidFill>
                <a:latin typeface="Calibri" pitchFamily="34" charset="0"/>
                <a:ea typeface="Calibri" pitchFamily="34" charset="-122"/>
                <a:cs typeface="Calibri" pitchFamily="34" charset="-120"/>
              </a:rPr>
              <a:t>Synchronous, waits for an ack</a:t>
            </a:r>
            <a:endParaRPr lang="en-US" sz="1700" dirty="0"/>
          </a:p>
        </p:txBody>
      </p:sp>
      <p:sp>
        <p:nvSpPr>
          <p:cNvPr id="8" name="Text 5"/>
          <p:cNvSpPr txBox="1"/>
          <p:nvPr/>
        </p:nvSpPr>
        <p:spPr>
          <a:xfrm>
            <a:off x="1554480" y="2057400"/>
            <a:ext cx="4175608" cy="274320"/>
          </a:xfrm>
          <a:prstGeom prst="rect">
            <a:avLst/>
          </a:prstGeom>
          <a:noFill/>
          <a:ln/>
        </p:spPr>
        <p:txBody>
          <a:bodyPr wrap="square" lIns="0" tIns="0" rIns="0" bIns="0" rtlCol="0" anchor="t"/>
          <a:lstStyle/>
          <a:p>
            <a:pPr indent="0" marL="0">
              <a:buNone/>
            </a:pPr>
            <a:r>
              <a:rPr lang="en-US" sz="1250" dirty="0">
                <a:solidFill>
                  <a:srgbClr val="5B6475"/>
                </a:solidFill>
                <a:latin typeface="Calibri" pitchFamily="34" charset="0"/>
                <a:ea typeface="Calibri" pitchFamily="34" charset="-122"/>
                <a:cs typeface="Calibri" pitchFamily="34" charset="-120"/>
              </a:rPr>
              <a:t>Publishing a referral change</a:t>
            </a:r>
            <a:endParaRPr lang="en-US" sz="1250" dirty="0"/>
          </a:p>
        </p:txBody>
      </p:sp>
      <p:sp>
        <p:nvSpPr>
          <p:cNvPr id="9" name="Shape 6"/>
          <p:cNvSpPr/>
          <p:nvPr/>
        </p:nvSpPr>
        <p:spPr>
          <a:xfrm>
            <a:off x="822960" y="2560320"/>
            <a:ext cx="4815688" cy="1005840"/>
          </a:xfrm>
          <a:prstGeom prst="roundRect">
            <a:avLst>
              <a:gd name="adj" fmla="val 5455"/>
            </a:avLst>
          </a:prstGeom>
          <a:solidFill>
            <a:srgbClr val="11223F"/>
          </a:solidFill>
          <a:ln w="12700">
            <a:solidFill>
              <a:srgbClr val="11223F"/>
            </a:solidFill>
            <a:prstDash val="solid"/>
          </a:ln>
        </p:spPr>
      </p:sp>
      <p:sp>
        <p:nvSpPr>
          <p:cNvPr id="10" name="Text 7"/>
          <p:cNvSpPr txBox="1"/>
          <p:nvPr/>
        </p:nvSpPr>
        <p:spPr>
          <a:xfrm>
            <a:off x="1005840" y="2670048"/>
            <a:ext cx="4449928" cy="786384"/>
          </a:xfrm>
          <a:prstGeom prst="rect">
            <a:avLst/>
          </a:prstGeom>
          <a:noFill/>
          <a:ln/>
        </p:spPr>
        <p:txBody>
          <a:bodyPr wrap="square" lIns="0" tIns="0" rIns="0" bIns="0" rtlCol="0" anchor="ctr"/>
          <a:lstStyle/>
          <a:p>
            <a:pPr indent="0" marL="0">
              <a:buNone/>
            </a:pPr>
            <a:r>
              <a:rPr lang="en-US" sz="1100" dirty="0">
                <a:solidFill>
                  <a:srgbClr val="E6ECF5"/>
                </a:solidFill>
                <a:latin typeface="Courier New" pitchFamily="34" charset="0"/>
                <a:ea typeface="Courier New" pitchFamily="34" charset="-122"/>
                <a:cs typeface="Courier New" pitchFamily="34" charset="-120"/>
              </a:rPr>
              <a:t>socket.timeout(5000).emit(</a:t>
            </a:r>
            <a:endParaRPr lang="en-US" sz="1100" dirty="0"/>
          </a:p>
          <a:p>
            <a:pPr indent="0" marL="0">
              <a:buNone/>
            </a:pPr>
            <a:r>
              <a:rPr lang="en-US" sz="1100" dirty="0">
                <a:solidFill>
                  <a:srgbClr val="E6ECF5"/>
                </a:solidFill>
                <a:latin typeface="Courier New" pitchFamily="34" charset="0"/>
                <a:ea typeface="Courier New" pitchFamily="34" charset="-122"/>
                <a:cs typeface="Courier New" pitchFamily="34" charset="-120"/>
              </a:rPr>
              <a:t>  'referral:publish', payload,</a:t>
            </a:r>
            <a:endParaRPr lang="en-US" sz="1100" dirty="0"/>
          </a:p>
          <a:p>
            <a:pPr indent="0" marL="0">
              <a:buNone/>
            </a:pPr>
            <a:r>
              <a:rPr lang="en-US" sz="1100" dirty="0">
                <a:solidFill>
                  <a:srgbClr val="E6ECF5"/>
                </a:solidFill>
                <a:latin typeface="Courier New" pitchFamily="34" charset="0"/>
                <a:ea typeface="Courier New" pitchFamily="34" charset="-122"/>
                <a:cs typeface="Courier New" pitchFamily="34" charset="-120"/>
              </a:rPr>
              <a:t>  (err, ack) =&gt; ...)</a:t>
            </a:r>
            <a:endParaRPr lang="en-US" sz="1100" dirty="0"/>
          </a:p>
        </p:txBody>
      </p:sp>
      <p:sp>
        <p:nvSpPr>
          <p:cNvPr id="11" name="Text 8"/>
          <p:cNvSpPr txBox="1"/>
          <p:nvPr/>
        </p:nvSpPr>
        <p:spPr>
          <a:xfrm>
            <a:off x="822960" y="3794760"/>
            <a:ext cx="4815688" cy="21031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E2533"/>
                </a:solidFill>
                <a:latin typeface="Calibri" pitchFamily="34" charset="0"/>
                <a:ea typeface="Calibri" pitchFamily="34" charset="-122"/>
                <a:cs typeface="Calibri" pitchFamily="34" charset="-120"/>
              </a:rPr>
              <a:t>Sender waits up to 5 s for the relay to confirm.</a:t>
            </a:r>
            <a:endParaRPr lang="en-US" sz="1350" dirty="0"/>
          </a:p>
          <a:p>
            <a:pPr marL="342900" indent="-342900">
              <a:spcAft>
                <a:spcPts val="600"/>
              </a:spcAft>
              <a:buSzPct val="100000"/>
              <a:buChar char="•"/>
            </a:pPr>
            <a:r>
              <a:rPr lang="en-US" sz="1350" dirty="0">
                <a:solidFill>
                  <a:srgbClr val="1E2533"/>
                </a:solidFill>
                <a:latin typeface="Calibri" pitchFamily="34" charset="0"/>
                <a:ea typeface="Calibri" pitchFamily="34" charset="-122"/>
                <a:cs typeface="Calibri" pitchFamily="34" charset="-120"/>
              </a:rPr>
              <a:t>Result is always one of ACKED, REFUSED or UNAVAILABLE.</a:t>
            </a:r>
            <a:endParaRPr lang="en-US" sz="1350" dirty="0"/>
          </a:p>
          <a:p>
            <a:pPr marL="342900" indent="-342900">
              <a:spcAft>
                <a:spcPts val="600"/>
              </a:spcAft>
              <a:buSzPct val="100000"/>
              <a:buChar char="•"/>
            </a:pPr>
            <a:r>
              <a:rPr lang="en-US" sz="1350" dirty="0">
                <a:solidFill>
                  <a:srgbClr val="1E2533"/>
                </a:solidFill>
                <a:latin typeface="Calibri" pitchFamily="34" charset="0"/>
                <a:ea typeface="Calibri" pitchFamily="34" charset="-122"/>
                <a:cs typeface="Calibri" pitchFamily="34" charset="-120"/>
              </a:rPr>
              <a:t>The screen never claims “delivered” unless it was.</a:t>
            </a:r>
            <a:endParaRPr lang="en-US" sz="1350" dirty="0"/>
          </a:p>
        </p:txBody>
      </p:sp>
      <p:sp>
        <p:nvSpPr>
          <p:cNvPr id="12" name="Shape 9"/>
          <p:cNvSpPr/>
          <p:nvPr/>
        </p:nvSpPr>
        <p:spPr>
          <a:xfrm>
            <a:off x="6278728" y="1508760"/>
            <a:ext cx="5364328" cy="4526280"/>
          </a:xfrm>
          <a:prstGeom prst="roundRect">
            <a:avLst>
              <a:gd name="adj" fmla="val 1616"/>
            </a:avLst>
          </a:prstGeom>
          <a:solidFill>
            <a:srgbClr val="E8F5E9"/>
          </a:solidFill>
          <a:ln w="12700">
            <a:solidFill>
              <a:srgbClr val="E8F5E9"/>
            </a:solidFill>
            <a:prstDash val="solid"/>
          </a:ln>
        </p:spPr>
      </p:sp>
      <p:sp>
        <p:nvSpPr>
          <p:cNvPr id="13" name="Shape 10"/>
          <p:cNvSpPr/>
          <p:nvPr/>
        </p:nvSpPr>
        <p:spPr>
          <a:xfrm>
            <a:off x="6553048" y="1737360"/>
            <a:ext cx="594360" cy="594360"/>
          </a:xfrm>
          <a:prstGeom prst="ellipse">
            <a:avLst/>
          </a:prstGeom>
          <a:solidFill>
            <a:srgbClr val="138808"/>
          </a:solidFill>
          <a:ln w="12700">
            <a:solidFill>
              <a:srgbClr val="138808"/>
            </a:solidFill>
            <a:prstDash val="solid"/>
          </a:ln>
        </p:spPr>
      </p:sp>
      <p:pic>
        <p:nvPicPr>
          <p:cNvPr id="14" name="Image 1" descr="preencoded.png">    </p:cNvPr>
          <p:cNvPicPr>
            <a:picLocks noChangeAspect="1"/>
          </p:cNvPicPr>
          <p:nvPr/>
        </p:nvPicPr>
        <p:blipFill>
          <a:blip r:embed="rId2"/>
          <a:stretch>
            <a:fillRect/>
          </a:stretch>
        </p:blipFill>
        <p:spPr>
          <a:xfrm>
            <a:off x="6707581" y="1891894"/>
            <a:ext cx="285293" cy="285293"/>
          </a:xfrm>
          <a:prstGeom prst="rect">
            <a:avLst/>
          </a:prstGeom>
        </p:spPr>
      </p:pic>
      <p:sp>
        <p:nvSpPr>
          <p:cNvPr id="15" name="Text 11"/>
          <p:cNvSpPr txBox="1"/>
          <p:nvPr/>
        </p:nvSpPr>
        <p:spPr>
          <a:xfrm>
            <a:off x="7284568" y="1737360"/>
            <a:ext cx="4175608" cy="320040"/>
          </a:xfrm>
          <a:prstGeom prst="rect">
            <a:avLst/>
          </a:prstGeom>
          <a:noFill/>
          <a:ln/>
        </p:spPr>
        <p:txBody>
          <a:bodyPr wrap="square" lIns="0" tIns="0" rIns="0" bIns="0" rtlCol="0" anchor="t"/>
          <a:lstStyle/>
          <a:p>
            <a:pPr indent="0" marL="0">
              <a:buNone/>
            </a:pPr>
            <a:r>
              <a:rPr lang="en-US" sz="1700" b="1" dirty="0">
                <a:solidFill>
                  <a:srgbClr val="0D6E06"/>
                </a:solidFill>
                <a:latin typeface="Calibri" pitchFamily="34" charset="0"/>
                <a:ea typeface="Calibri" pitchFamily="34" charset="-122"/>
                <a:cs typeface="Calibri" pitchFamily="34" charset="-120"/>
              </a:rPr>
              <a:t>Asynchronous, returns at once</a:t>
            </a:r>
            <a:endParaRPr lang="en-US" sz="1700" dirty="0"/>
          </a:p>
        </p:txBody>
      </p:sp>
      <p:sp>
        <p:nvSpPr>
          <p:cNvPr id="16" name="Text 12"/>
          <p:cNvSpPr txBox="1"/>
          <p:nvPr/>
        </p:nvSpPr>
        <p:spPr>
          <a:xfrm>
            <a:off x="7284568" y="2057400"/>
            <a:ext cx="4175608" cy="274320"/>
          </a:xfrm>
          <a:prstGeom prst="rect">
            <a:avLst/>
          </a:prstGeom>
          <a:noFill/>
          <a:ln/>
        </p:spPr>
        <p:txBody>
          <a:bodyPr wrap="square" lIns="0" tIns="0" rIns="0" bIns="0" rtlCol="0" anchor="t"/>
          <a:lstStyle/>
          <a:p>
            <a:pPr indent="0" marL="0">
              <a:buNone/>
            </a:pPr>
            <a:r>
              <a:rPr lang="en-US" sz="1250" dirty="0">
                <a:solidFill>
                  <a:srgbClr val="5B6475"/>
                </a:solidFill>
                <a:latin typeface="Calibri" pitchFamily="34" charset="0"/>
                <a:ea typeface="Calibri" pitchFamily="34" charset="-122"/>
                <a:cs typeface="Calibri" pitchFamily="34" charset="-120"/>
              </a:rPr>
              <a:t>Uploading records to the district cloud</a:t>
            </a:r>
            <a:endParaRPr lang="en-US" sz="1250" dirty="0"/>
          </a:p>
        </p:txBody>
      </p:sp>
      <p:sp>
        <p:nvSpPr>
          <p:cNvPr id="17" name="Shape 13"/>
          <p:cNvSpPr/>
          <p:nvPr/>
        </p:nvSpPr>
        <p:spPr>
          <a:xfrm>
            <a:off x="6553048" y="2560320"/>
            <a:ext cx="4815688" cy="1005840"/>
          </a:xfrm>
          <a:prstGeom prst="roundRect">
            <a:avLst>
              <a:gd name="adj" fmla="val 5455"/>
            </a:avLst>
          </a:prstGeom>
          <a:solidFill>
            <a:srgbClr val="11223F"/>
          </a:solidFill>
          <a:ln w="12700">
            <a:solidFill>
              <a:srgbClr val="11223F"/>
            </a:solidFill>
            <a:prstDash val="solid"/>
          </a:ln>
        </p:spPr>
      </p:sp>
      <p:sp>
        <p:nvSpPr>
          <p:cNvPr id="18" name="Text 14"/>
          <p:cNvSpPr txBox="1"/>
          <p:nvPr/>
        </p:nvSpPr>
        <p:spPr>
          <a:xfrm>
            <a:off x="6735928" y="2670048"/>
            <a:ext cx="4449928" cy="786384"/>
          </a:xfrm>
          <a:prstGeom prst="rect">
            <a:avLst/>
          </a:prstGeom>
          <a:noFill/>
          <a:ln/>
        </p:spPr>
        <p:txBody>
          <a:bodyPr wrap="square" lIns="0" tIns="0" rIns="0" bIns="0" rtlCol="0" anchor="ctr"/>
          <a:lstStyle/>
          <a:p>
            <a:pPr indent="0" marL="0">
              <a:buNone/>
            </a:pPr>
            <a:r>
              <a:rPr lang="en-US" sz="1100" dirty="0">
                <a:solidFill>
                  <a:srgbClr val="E6ECF5"/>
                </a:solidFill>
                <a:latin typeface="Courier New" pitchFamily="34" charset="0"/>
                <a:ea typeface="Courier New" pitchFamily="34" charset="-122"/>
                <a:cs typeface="Courier New" pitchFamily="34" charset="-120"/>
              </a:rPr>
              <a:t>await addToSyncQueue(item)  // local</a:t>
            </a:r>
            <a:endParaRPr lang="en-US" sz="1100" dirty="0"/>
          </a:p>
          <a:p>
            <a:pPr indent="0" marL="0">
              <a:buNone/>
            </a:pPr>
            <a:r>
              <a:rPr lang="en-US" sz="1100" dirty="0">
                <a:solidFill>
                  <a:srgbClr val="E6ECF5"/>
                </a:solidFill>
                <a:latin typeface="Courier New" pitchFamily="34" charset="0"/>
                <a:ea typeface="Courier New" pitchFamily="34" charset="-122"/>
                <a:cs typeface="Courier New" pitchFamily="34" charset="-120"/>
              </a:rPr>
              <a:t>// return to the UI immediately;</a:t>
            </a:r>
            <a:endParaRPr lang="en-US" sz="1100" dirty="0"/>
          </a:p>
          <a:p>
            <a:pPr indent="0" marL="0">
              <a:buNone/>
            </a:pPr>
            <a:r>
              <a:rPr lang="en-US" sz="1100" dirty="0">
                <a:solidFill>
                  <a:srgbClr val="E6ECF5"/>
                </a:solidFill>
                <a:latin typeface="Courier New" pitchFamily="34" charset="0"/>
                <a:ea typeface="Courier New" pitchFamily="34" charset="-122"/>
                <a:cs typeface="Courier New" pitchFamily="34" charset="-120"/>
              </a:rPr>
              <a:t>// outbox uploads in background</a:t>
            </a:r>
            <a:endParaRPr lang="en-US" sz="1100" dirty="0"/>
          </a:p>
        </p:txBody>
      </p:sp>
      <p:sp>
        <p:nvSpPr>
          <p:cNvPr id="19" name="Text 15"/>
          <p:cNvSpPr txBox="1"/>
          <p:nvPr/>
        </p:nvSpPr>
        <p:spPr>
          <a:xfrm>
            <a:off x="6553048" y="3794760"/>
            <a:ext cx="4815688" cy="21031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E2533"/>
                </a:solidFill>
                <a:latin typeface="Calibri" pitchFamily="34" charset="0"/>
                <a:ea typeface="Calibri" pitchFamily="34" charset="-122"/>
                <a:cs typeface="Calibri" pitchFamily="34" charset="-120"/>
              </a:rPr>
              <a:t>The write goes to IndexedDB’s syncQueue; the worker carries on.</a:t>
            </a:r>
            <a:endParaRPr lang="en-US" sz="1350" dirty="0"/>
          </a:p>
          <a:p>
            <a:pPr marL="342900" indent="-342900">
              <a:spcAft>
                <a:spcPts val="600"/>
              </a:spcAft>
              <a:buSzPct val="100000"/>
              <a:buChar char="•"/>
            </a:pPr>
            <a:r>
              <a:rPr lang="en-US" sz="1350" dirty="0">
                <a:solidFill>
                  <a:srgbClr val="1E2533"/>
                </a:solidFill>
                <a:latin typeface="Calibri" pitchFamily="34" charset="0"/>
                <a:ea typeface="Calibri" pitchFamily="34" charset="-122"/>
                <a:cs typeface="Calibri" pitchFamily="34" charset="-120"/>
              </a:rPr>
              <a:t>A background loop uploads when the network returns.</a:t>
            </a:r>
            <a:endParaRPr lang="en-US" sz="1350" dirty="0"/>
          </a:p>
          <a:p>
            <a:pPr marL="342900" indent="-342900">
              <a:spcAft>
                <a:spcPts val="600"/>
              </a:spcAft>
              <a:buSzPct val="100000"/>
              <a:buChar char="•"/>
            </a:pPr>
            <a:r>
              <a:rPr lang="en-US" sz="1350" dirty="0">
                <a:solidFill>
                  <a:srgbClr val="1E2533"/>
                </a:solidFill>
                <a:latin typeface="Calibri" pitchFamily="34" charset="0"/>
                <a:ea typeface="Calibri" pitchFamily="34" charset="-122"/>
                <a:cs typeface="Calibri" pitchFamily="34" charset="-120"/>
              </a:rPr>
              <a:t>Killing the backend changes nothing about using the app.</a:t>
            </a:r>
            <a:endParaRPr lang="en-US" sz="1350" dirty="0"/>
          </a:p>
        </p:txBody>
      </p:sp>
      <p:sp>
        <p:nvSpPr>
          <p:cNvPr id="20" name="Text 16"/>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NalamMesh · 24CS502 Distributed and Cloud Computing</a:t>
            </a:r>
            <a:endParaRPr lang="en-US" sz="1000" dirty="0"/>
          </a:p>
        </p:txBody>
      </p:sp>
      <p:sp>
        <p:nvSpPr>
          <p:cNvPr id="21" name="Text 17"/>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UNIT 1 · SYNCHRONOUS VS ASYNCHRONOUS EXECUTIONS</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200" b="1" dirty="0">
                <a:solidFill>
                  <a:srgbClr val="1F3A6E"/>
                </a:solidFill>
                <a:latin typeface="Cambria" pitchFamily="34" charset="0"/>
                <a:ea typeface="Cambria" pitchFamily="34" charset="-122"/>
                <a:cs typeface="Cambria" pitchFamily="34" charset="-120"/>
              </a:rPr>
              <a:t>Living with unbounded message delay</a:t>
            </a:r>
            <a:endParaRPr lang="en-US" sz="3200" dirty="0"/>
          </a:p>
        </p:txBody>
      </p:sp>
      <p:sp>
        <p:nvSpPr>
          <p:cNvPr id="4" name="Text 2"/>
          <p:cNvSpPr txBox="1"/>
          <p:nvPr/>
        </p:nvSpPr>
        <p:spPr>
          <a:xfrm>
            <a:off x="548640" y="1463040"/>
            <a:ext cx="11094415" cy="731520"/>
          </a:xfrm>
          <a:prstGeom prst="rect">
            <a:avLst/>
          </a:prstGeom>
          <a:noFill/>
          <a:ln/>
        </p:spPr>
        <p:txBody>
          <a:bodyPr wrap="square" lIns="0" tIns="0" rIns="0" bIns="0" rtlCol="0" anchor="t"/>
          <a:lstStyle/>
          <a:p>
            <a:pPr indent="0" marL="0">
              <a:buNone/>
            </a:pPr>
            <a:r>
              <a:rPr lang="en-US" sz="1500" dirty="0">
                <a:solidFill>
                  <a:srgbClr val="5B6475"/>
                </a:solidFill>
                <a:latin typeface="Calibri" pitchFamily="34" charset="0"/>
                <a:ea typeface="Calibri" pitchFamily="34" charset="-122"/>
                <a:cs typeface="Calibri" pitchFamily="34" charset="-120"/>
              </a:rPr>
              <a:t>In an asynchronous system there is no upper bound on message delay, so a slow node cannot be told apart from a dead one. NalamMesh never assumes a bound: it uses timeouts to decide and retries so nothing is lost.</a:t>
            </a:r>
            <a:endParaRPr lang="en-US" sz="1500" dirty="0"/>
          </a:p>
        </p:txBody>
      </p:sp>
      <p:sp>
        <p:nvSpPr>
          <p:cNvPr id="5" name="Shape 3"/>
          <p:cNvSpPr/>
          <p:nvPr/>
        </p:nvSpPr>
        <p:spPr>
          <a:xfrm>
            <a:off x="548640" y="2423160"/>
            <a:ext cx="2567864" cy="3017520"/>
          </a:xfrm>
          <a:prstGeom prst="roundRect">
            <a:avLst>
              <a:gd name="adj" fmla="val 2849"/>
            </a:avLst>
          </a:prstGeom>
          <a:solidFill>
            <a:srgbClr val="F1F3F7"/>
          </a:solidFill>
          <a:ln w="12700">
            <a:solidFill>
              <a:srgbClr val="F1F3F7"/>
            </a:solidFill>
            <a:prstDash val="solid"/>
          </a:ln>
        </p:spPr>
      </p:sp>
      <p:sp>
        <p:nvSpPr>
          <p:cNvPr id="6" name="Shape 4"/>
          <p:cNvSpPr/>
          <p:nvPr/>
        </p:nvSpPr>
        <p:spPr>
          <a:xfrm>
            <a:off x="822960" y="2697480"/>
            <a:ext cx="502920" cy="502920"/>
          </a:xfrm>
          <a:prstGeom prst="ellipse">
            <a:avLst/>
          </a:prstGeom>
          <a:solidFill>
            <a:srgbClr val="1F3A6E"/>
          </a:solidFill>
          <a:ln w="12700">
            <a:solidFill>
              <a:srgbClr val="1F3A6E"/>
            </a:solidFill>
            <a:prstDash val="solid"/>
          </a:ln>
        </p:spPr>
      </p:sp>
      <p:pic>
        <p:nvPicPr>
          <p:cNvPr id="7" name="Image 0" descr="preencoded.png">    </p:cNvPr>
          <p:cNvPicPr>
            <a:picLocks noChangeAspect="1"/>
          </p:cNvPicPr>
          <p:nvPr/>
        </p:nvPicPr>
        <p:blipFill>
          <a:blip r:embed="rId1"/>
          <a:stretch>
            <a:fillRect/>
          </a:stretch>
        </p:blipFill>
        <p:spPr>
          <a:xfrm>
            <a:off x="953719" y="2828239"/>
            <a:ext cx="241402" cy="241402"/>
          </a:xfrm>
          <a:prstGeom prst="rect">
            <a:avLst/>
          </a:prstGeom>
        </p:spPr>
      </p:pic>
      <p:sp>
        <p:nvSpPr>
          <p:cNvPr id="8" name="Text 5"/>
          <p:cNvSpPr txBox="1"/>
          <p:nvPr/>
        </p:nvSpPr>
        <p:spPr>
          <a:xfrm>
            <a:off x="822960" y="3337560"/>
            <a:ext cx="2019224" cy="822960"/>
          </a:xfrm>
          <a:prstGeom prst="rect">
            <a:avLst/>
          </a:prstGeom>
          <a:noFill/>
          <a:ln/>
        </p:spPr>
        <p:txBody>
          <a:bodyPr wrap="square" lIns="0" tIns="0" rIns="0" bIns="0" rtlCol="0" anchor="ctr"/>
          <a:lstStyle/>
          <a:p>
            <a:pPr indent="0" marL="0">
              <a:buNone/>
            </a:pPr>
            <a:r>
              <a:rPr lang="en-US" sz="4800" b="1" dirty="0">
                <a:solidFill>
                  <a:srgbClr val="1F3A6E"/>
                </a:solidFill>
                <a:latin typeface="Cambria" pitchFamily="34" charset="0"/>
                <a:ea typeface="Cambria" pitchFamily="34" charset="-122"/>
                <a:cs typeface="Cambria" pitchFamily="34" charset="-120"/>
              </a:rPr>
              <a:t>5 s</a:t>
            </a:r>
            <a:endParaRPr lang="en-US" sz="4800" dirty="0"/>
          </a:p>
        </p:txBody>
      </p:sp>
      <p:sp>
        <p:nvSpPr>
          <p:cNvPr id="9" name="Text 6"/>
          <p:cNvSpPr txBox="1"/>
          <p:nvPr/>
        </p:nvSpPr>
        <p:spPr>
          <a:xfrm>
            <a:off x="822960" y="4160520"/>
            <a:ext cx="2110664" cy="32004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Heartbeat</a:t>
            </a:r>
            <a:endParaRPr lang="en-US" sz="1400" dirty="0"/>
          </a:p>
        </p:txBody>
      </p:sp>
      <p:sp>
        <p:nvSpPr>
          <p:cNvPr id="10" name="Text 7"/>
          <p:cNvSpPr txBox="1"/>
          <p:nvPr/>
        </p:nvSpPr>
        <p:spPr>
          <a:xfrm>
            <a:off x="822960" y="4526280"/>
            <a:ext cx="2110664" cy="822960"/>
          </a:xfrm>
          <a:prstGeom prst="rect">
            <a:avLst/>
          </a:prstGeom>
          <a:noFill/>
          <a:ln/>
        </p:spPr>
        <p:txBody>
          <a:bodyPr wrap="square" lIns="0" tIns="0" rIns="0" bIns="0" rtlCol="0" anchor="t"/>
          <a:lstStyle/>
          <a:p>
            <a:pPr indent="0" marL="0">
              <a:buNone/>
            </a:pPr>
            <a:r>
              <a:rPr lang="en-US" sz="1200" dirty="0">
                <a:solidFill>
                  <a:srgbClr val="1E2533"/>
                </a:solidFill>
                <a:latin typeface="Calibri" pitchFamily="34" charset="0"/>
                <a:ea typeface="Calibri" pitchFamily="34" charset="-122"/>
                <a:cs typeface="Calibri" pitchFamily="34" charset="-120"/>
              </a:rPr>
              <a:t>Each node tells the relay it is alive (mesh:heartbeat).</a:t>
            </a:r>
            <a:endParaRPr lang="en-US" sz="1200" dirty="0"/>
          </a:p>
        </p:txBody>
      </p:sp>
      <p:sp>
        <p:nvSpPr>
          <p:cNvPr id="11" name="Shape 8"/>
          <p:cNvSpPr/>
          <p:nvPr/>
        </p:nvSpPr>
        <p:spPr>
          <a:xfrm>
            <a:off x="3390824" y="2423160"/>
            <a:ext cx="2567864" cy="3017520"/>
          </a:xfrm>
          <a:prstGeom prst="roundRect">
            <a:avLst>
              <a:gd name="adj" fmla="val 2849"/>
            </a:avLst>
          </a:prstGeom>
          <a:solidFill>
            <a:srgbClr val="F1F3F7"/>
          </a:solidFill>
          <a:ln w="12700">
            <a:solidFill>
              <a:srgbClr val="F1F3F7"/>
            </a:solidFill>
            <a:prstDash val="solid"/>
          </a:ln>
        </p:spPr>
      </p:sp>
      <p:sp>
        <p:nvSpPr>
          <p:cNvPr id="12" name="Shape 9"/>
          <p:cNvSpPr/>
          <p:nvPr/>
        </p:nvSpPr>
        <p:spPr>
          <a:xfrm>
            <a:off x="3665144" y="2697480"/>
            <a:ext cx="502920" cy="502920"/>
          </a:xfrm>
          <a:prstGeom prst="ellipse">
            <a:avLst/>
          </a:prstGeom>
          <a:solidFill>
            <a:srgbClr val="1F3A6E"/>
          </a:solidFill>
          <a:ln w="12700">
            <a:solidFill>
              <a:srgbClr val="1F3A6E"/>
            </a:solidFill>
            <a:prstDash val="solid"/>
          </a:ln>
        </p:spPr>
      </p:sp>
      <p:pic>
        <p:nvPicPr>
          <p:cNvPr id="13" name="Image 1" descr="preencoded.png">    </p:cNvPr>
          <p:cNvPicPr>
            <a:picLocks noChangeAspect="1"/>
          </p:cNvPicPr>
          <p:nvPr/>
        </p:nvPicPr>
        <p:blipFill>
          <a:blip r:embed="rId2"/>
          <a:stretch>
            <a:fillRect/>
          </a:stretch>
        </p:blipFill>
        <p:spPr>
          <a:xfrm>
            <a:off x="3795903" y="2828239"/>
            <a:ext cx="241402" cy="241402"/>
          </a:xfrm>
          <a:prstGeom prst="rect">
            <a:avLst/>
          </a:prstGeom>
        </p:spPr>
      </p:pic>
      <p:sp>
        <p:nvSpPr>
          <p:cNvPr id="14" name="Text 10"/>
          <p:cNvSpPr txBox="1"/>
          <p:nvPr/>
        </p:nvSpPr>
        <p:spPr>
          <a:xfrm>
            <a:off x="3665144" y="3337560"/>
            <a:ext cx="2019224" cy="822960"/>
          </a:xfrm>
          <a:prstGeom prst="rect">
            <a:avLst/>
          </a:prstGeom>
          <a:noFill/>
          <a:ln/>
        </p:spPr>
        <p:txBody>
          <a:bodyPr wrap="square" lIns="0" tIns="0" rIns="0" bIns="0" rtlCol="0" anchor="ctr"/>
          <a:lstStyle/>
          <a:p>
            <a:pPr indent="0" marL="0">
              <a:buNone/>
            </a:pPr>
            <a:r>
              <a:rPr lang="en-US" sz="4800" b="1" dirty="0">
                <a:solidFill>
                  <a:srgbClr val="1F3A6E"/>
                </a:solidFill>
                <a:latin typeface="Cambria" pitchFamily="34" charset="0"/>
                <a:ea typeface="Cambria" pitchFamily="34" charset="-122"/>
                <a:cs typeface="Cambria" pitchFamily="34" charset="-120"/>
              </a:rPr>
              <a:t>10 s</a:t>
            </a:r>
            <a:endParaRPr lang="en-US" sz="4800" dirty="0"/>
          </a:p>
        </p:txBody>
      </p:sp>
      <p:sp>
        <p:nvSpPr>
          <p:cNvPr id="15" name="Text 11"/>
          <p:cNvSpPr txBox="1"/>
          <p:nvPr/>
        </p:nvSpPr>
        <p:spPr>
          <a:xfrm>
            <a:off x="3665144" y="4160520"/>
            <a:ext cx="2110664" cy="32004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Polling fallback</a:t>
            </a:r>
            <a:endParaRPr lang="en-US" sz="1400" dirty="0"/>
          </a:p>
        </p:txBody>
      </p:sp>
      <p:sp>
        <p:nvSpPr>
          <p:cNvPr id="16" name="Text 12"/>
          <p:cNvSpPr txBox="1"/>
          <p:nvPr/>
        </p:nvSpPr>
        <p:spPr>
          <a:xfrm>
            <a:off x="3665144" y="4526280"/>
            <a:ext cx="2110664" cy="822960"/>
          </a:xfrm>
          <a:prstGeom prst="rect">
            <a:avLst/>
          </a:prstGeom>
          <a:noFill/>
          <a:ln/>
        </p:spPr>
        <p:txBody>
          <a:bodyPr wrap="square" lIns="0" tIns="0" rIns="0" bIns="0" rtlCol="0" anchor="t"/>
          <a:lstStyle/>
          <a:p>
            <a:pPr indent="0" marL="0">
              <a:buNone/>
            </a:pPr>
            <a:r>
              <a:rPr lang="en-US" sz="1200" dirty="0">
                <a:solidFill>
                  <a:srgbClr val="1E2533"/>
                </a:solidFill>
                <a:latin typeface="Calibri" pitchFamily="34" charset="0"/>
                <a:ea typeface="Calibri" pitchFamily="34" charset="-122"/>
                <a:cs typeface="Calibri" pitchFamily="34" charset="-120"/>
              </a:rPr>
              <a:t>If the websocket is blocked, poll the relay over plain HTTP.</a:t>
            </a:r>
            <a:endParaRPr lang="en-US" sz="1200" dirty="0"/>
          </a:p>
        </p:txBody>
      </p:sp>
      <p:sp>
        <p:nvSpPr>
          <p:cNvPr id="17" name="Shape 13"/>
          <p:cNvSpPr/>
          <p:nvPr/>
        </p:nvSpPr>
        <p:spPr>
          <a:xfrm>
            <a:off x="6233008" y="2423160"/>
            <a:ext cx="2567864" cy="3017520"/>
          </a:xfrm>
          <a:prstGeom prst="roundRect">
            <a:avLst>
              <a:gd name="adj" fmla="val 2849"/>
            </a:avLst>
          </a:prstGeom>
          <a:solidFill>
            <a:srgbClr val="1F3A6E"/>
          </a:solidFill>
          <a:ln w="12700">
            <a:solidFill>
              <a:srgbClr val="1F3A6E"/>
            </a:solidFill>
            <a:prstDash val="solid"/>
          </a:ln>
        </p:spPr>
      </p:sp>
      <p:sp>
        <p:nvSpPr>
          <p:cNvPr id="18" name="Shape 14"/>
          <p:cNvSpPr/>
          <p:nvPr/>
        </p:nvSpPr>
        <p:spPr>
          <a:xfrm>
            <a:off x="6507328" y="2697480"/>
            <a:ext cx="502920" cy="502920"/>
          </a:xfrm>
          <a:prstGeom prst="ellipse">
            <a:avLst/>
          </a:prstGeom>
          <a:solidFill>
            <a:srgbClr val="FF9933"/>
          </a:solidFill>
          <a:ln w="12700">
            <a:solidFill>
              <a:srgbClr val="FF9933"/>
            </a:solidFill>
            <a:prstDash val="solid"/>
          </a:ln>
        </p:spPr>
      </p:sp>
      <p:pic>
        <p:nvPicPr>
          <p:cNvPr id="19" name="Image 2" descr="preencoded.png">    </p:cNvPr>
          <p:cNvPicPr>
            <a:picLocks noChangeAspect="1"/>
          </p:cNvPicPr>
          <p:nvPr/>
        </p:nvPicPr>
        <p:blipFill>
          <a:blip r:embed="rId3"/>
          <a:stretch>
            <a:fillRect/>
          </a:stretch>
        </p:blipFill>
        <p:spPr>
          <a:xfrm>
            <a:off x="6638087" y="2828239"/>
            <a:ext cx="241402" cy="241402"/>
          </a:xfrm>
          <a:prstGeom prst="rect">
            <a:avLst/>
          </a:prstGeom>
        </p:spPr>
      </p:pic>
      <p:sp>
        <p:nvSpPr>
          <p:cNvPr id="20" name="Text 15"/>
          <p:cNvSpPr txBox="1"/>
          <p:nvPr/>
        </p:nvSpPr>
        <p:spPr>
          <a:xfrm>
            <a:off x="6507328" y="3337560"/>
            <a:ext cx="2019224" cy="82296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×3</a:t>
            </a:r>
            <a:endParaRPr lang="en-US" sz="4800" dirty="0"/>
          </a:p>
        </p:txBody>
      </p:sp>
      <p:sp>
        <p:nvSpPr>
          <p:cNvPr id="21" name="Text 16"/>
          <p:cNvSpPr txBox="1"/>
          <p:nvPr/>
        </p:nvSpPr>
        <p:spPr>
          <a:xfrm>
            <a:off x="6507328" y="4160520"/>
            <a:ext cx="2110664" cy="320040"/>
          </a:xfrm>
          <a:prstGeom prst="rect">
            <a:avLst/>
          </a:prstGeom>
          <a:noFill/>
          <a:ln/>
        </p:spPr>
        <p:txBody>
          <a:bodyPr wrap="square" lIns="0" tIns="0" rIns="0" bIns="0" rtlCol="0" anchor="t"/>
          <a:lstStyle/>
          <a:p>
            <a:pPr indent="0" marL="0">
              <a:buNone/>
            </a:pPr>
            <a:r>
              <a:rPr lang="en-US" sz="1400" b="1" dirty="0">
                <a:solidFill>
                  <a:srgbClr val="FF9933"/>
                </a:solidFill>
                <a:latin typeface="Calibri" pitchFamily="34" charset="0"/>
                <a:ea typeface="Calibri" pitchFamily="34" charset="-122"/>
                <a:cs typeface="Calibri" pitchFamily="34" charset="-120"/>
              </a:rPr>
              <a:t>Backoff factor</a:t>
            </a:r>
            <a:endParaRPr lang="en-US" sz="1400" dirty="0"/>
          </a:p>
        </p:txBody>
      </p:sp>
      <p:sp>
        <p:nvSpPr>
          <p:cNvPr id="22" name="Text 17"/>
          <p:cNvSpPr txBox="1"/>
          <p:nvPr/>
        </p:nvSpPr>
        <p:spPr>
          <a:xfrm>
            <a:off x="6507328" y="4526280"/>
            <a:ext cx="2110664" cy="822960"/>
          </a:xfrm>
          <a:prstGeom prst="rect">
            <a:avLst/>
          </a:prstGeom>
          <a:noFill/>
          <a:ln/>
        </p:spPr>
        <p:txBody>
          <a:bodyPr wrap="square" lIns="0" tIns="0" rIns="0" bIns="0" rtlCol="0" anchor="t"/>
          <a:lstStyle/>
          <a:p>
            <a:pPr indent="0" marL="0">
              <a:buNone/>
            </a:pPr>
            <a:r>
              <a:rPr lang="en-US" sz="1200" dirty="0">
                <a:solidFill>
                  <a:srgbClr val="DCE4F2"/>
                </a:solidFill>
                <a:latin typeface="Calibri" pitchFamily="34" charset="0"/>
                <a:ea typeface="Calibri" pitchFamily="34" charset="-122"/>
                <a:cs typeface="Calibri" pitchFamily="34" charset="-120"/>
              </a:rPr>
              <a:t>Retry uploads after 5 s, 15 s, 45 s … capped at 5 min.</a:t>
            </a:r>
            <a:endParaRPr lang="en-US" sz="1200" dirty="0"/>
          </a:p>
        </p:txBody>
      </p:sp>
      <p:sp>
        <p:nvSpPr>
          <p:cNvPr id="23" name="Shape 18"/>
          <p:cNvSpPr/>
          <p:nvPr/>
        </p:nvSpPr>
        <p:spPr>
          <a:xfrm>
            <a:off x="9075191" y="2423160"/>
            <a:ext cx="2567864" cy="3017520"/>
          </a:xfrm>
          <a:prstGeom prst="roundRect">
            <a:avLst>
              <a:gd name="adj" fmla="val 2849"/>
            </a:avLst>
          </a:prstGeom>
          <a:solidFill>
            <a:srgbClr val="F1F3F7"/>
          </a:solidFill>
          <a:ln w="12700">
            <a:solidFill>
              <a:srgbClr val="F1F3F7"/>
            </a:solidFill>
            <a:prstDash val="solid"/>
          </a:ln>
        </p:spPr>
      </p:sp>
      <p:sp>
        <p:nvSpPr>
          <p:cNvPr id="24" name="Shape 19"/>
          <p:cNvSpPr/>
          <p:nvPr/>
        </p:nvSpPr>
        <p:spPr>
          <a:xfrm>
            <a:off x="9349511" y="2697480"/>
            <a:ext cx="502920" cy="502920"/>
          </a:xfrm>
          <a:prstGeom prst="ellipse">
            <a:avLst/>
          </a:prstGeom>
          <a:solidFill>
            <a:srgbClr val="1F3A6E"/>
          </a:solidFill>
          <a:ln w="12700">
            <a:solidFill>
              <a:srgbClr val="1F3A6E"/>
            </a:solidFill>
            <a:prstDash val="solid"/>
          </a:ln>
        </p:spPr>
      </p:sp>
      <p:pic>
        <p:nvPicPr>
          <p:cNvPr id="25" name="Image 3" descr="preencoded.png">    </p:cNvPr>
          <p:cNvPicPr>
            <a:picLocks noChangeAspect="1"/>
          </p:cNvPicPr>
          <p:nvPr/>
        </p:nvPicPr>
        <p:blipFill>
          <a:blip r:embed="rId4"/>
          <a:stretch>
            <a:fillRect/>
          </a:stretch>
        </p:blipFill>
        <p:spPr>
          <a:xfrm>
            <a:off x="9480271" y="2828239"/>
            <a:ext cx="241402" cy="241402"/>
          </a:xfrm>
          <a:prstGeom prst="rect">
            <a:avLst/>
          </a:prstGeom>
        </p:spPr>
      </p:pic>
      <p:sp>
        <p:nvSpPr>
          <p:cNvPr id="26" name="Text 20"/>
          <p:cNvSpPr txBox="1"/>
          <p:nvPr/>
        </p:nvSpPr>
        <p:spPr>
          <a:xfrm>
            <a:off x="9349511" y="3337560"/>
            <a:ext cx="2019224" cy="822960"/>
          </a:xfrm>
          <a:prstGeom prst="rect">
            <a:avLst/>
          </a:prstGeom>
          <a:noFill/>
          <a:ln/>
        </p:spPr>
        <p:txBody>
          <a:bodyPr wrap="square" lIns="0" tIns="0" rIns="0" bIns="0" rtlCol="0" anchor="ctr"/>
          <a:lstStyle/>
          <a:p>
            <a:pPr indent="0" marL="0">
              <a:buNone/>
            </a:pPr>
            <a:r>
              <a:rPr lang="en-US" sz="4800" b="1" dirty="0">
                <a:solidFill>
                  <a:srgbClr val="1F3A6E"/>
                </a:solidFill>
                <a:latin typeface="Cambria" pitchFamily="34" charset="0"/>
                <a:ea typeface="Cambria" pitchFamily="34" charset="-122"/>
                <a:cs typeface="Cambria" pitchFamily="34" charset="-120"/>
              </a:rPr>
              <a:t>60 s</a:t>
            </a:r>
            <a:endParaRPr lang="en-US" sz="4800" dirty="0"/>
          </a:p>
        </p:txBody>
      </p:sp>
      <p:sp>
        <p:nvSpPr>
          <p:cNvPr id="27" name="Text 21"/>
          <p:cNvSpPr txBox="1"/>
          <p:nvPr/>
        </p:nvSpPr>
        <p:spPr>
          <a:xfrm>
            <a:off x="9349511" y="4160520"/>
            <a:ext cx="2110664" cy="32004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Sweep and TTL</a:t>
            </a:r>
            <a:endParaRPr lang="en-US" sz="1400" dirty="0"/>
          </a:p>
        </p:txBody>
      </p:sp>
      <p:sp>
        <p:nvSpPr>
          <p:cNvPr id="28" name="Text 22"/>
          <p:cNvSpPr txBox="1"/>
          <p:nvPr/>
        </p:nvSpPr>
        <p:spPr>
          <a:xfrm>
            <a:off x="9349511" y="4526280"/>
            <a:ext cx="2110664" cy="822960"/>
          </a:xfrm>
          <a:prstGeom prst="rect">
            <a:avLst/>
          </a:prstGeom>
          <a:noFill/>
          <a:ln/>
        </p:spPr>
        <p:txBody>
          <a:bodyPr wrap="square" lIns="0" tIns="0" rIns="0" bIns="0" rtlCol="0" anchor="t"/>
          <a:lstStyle/>
          <a:p>
            <a:pPr indent="0" marL="0">
              <a:buNone/>
            </a:pPr>
            <a:r>
              <a:rPr lang="en-US" sz="1200" dirty="0">
                <a:solidFill>
                  <a:srgbClr val="1E2533"/>
                </a:solidFill>
                <a:latin typeface="Calibri" pitchFamily="34" charset="0"/>
                <a:ea typeface="Calibri" pitchFamily="34" charset="-122"/>
                <a:cs typeface="Calibri" pitchFamily="34" charset="-120"/>
              </a:rPr>
              <a:t>Re-check the outbox if “online” never fires; expire relayed messages.</a:t>
            </a:r>
            <a:endParaRPr lang="en-US" sz="1200" dirty="0"/>
          </a:p>
        </p:txBody>
      </p:sp>
      <p:sp>
        <p:nvSpPr>
          <p:cNvPr id="29" name="Text 23"/>
          <p:cNvSpPr txBox="1"/>
          <p:nvPr/>
        </p:nvSpPr>
        <p:spPr>
          <a:xfrm>
            <a:off x="548640" y="5669280"/>
            <a:ext cx="11094415" cy="457200"/>
          </a:xfrm>
          <a:prstGeom prst="rect">
            <a:avLst/>
          </a:prstGeom>
          <a:noFill/>
          <a:ln/>
        </p:spPr>
        <p:txBody>
          <a:bodyPr wrap="square" lIns="0" tIns="0" rIns="0" bIns="0" rtlCol="0" anchor="t"/>
          <a:lstStyle/>
          <a:p>
            <a:pPr indent="0" marL="0">
              <a:buNone/>
            </a:pPr>
            <a:r>
              <a:rPr lang="en-US" sz="1250" i="1" dirty="0">
                <a:solidFill>
                  <a:srgbClr val="1F3A6E"/>
                </a:solidFill>
                <a:latin typeface="Calibri" pitchFamily="34" charset="0"/>
                <a:ea typeface="Calibri" pitchFamily="34" charset="-122"/>
                <a:cs typeface="Calibri" pitchFamily="34" charset="-120"/>
              </a:rPr>
              <a:t>Rule from lib/sync/outbox.ts: a retryable failure stays queued forever — “a referral dropped after N attempts is a patient nobody is expecting.”</a:t>
            </a:r>
            <a:endParaRPr lang="en-US" sz="1250" dirty="0"/>
          </a:p>
        </p:txBody>
      </p:sp>
      <p:sp>
        <p:nvSpPr>
          <p:cNvPr id="30" name="Text 24"/>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NalamMesh · 24CS502 Distributed and Cloud Computing</a:t>
            </a:r>
            <a:endParaRPr lang="en-US" sz="1000" dirty="0"/>
          </a:p>
        </p:txBody>
      </p:sp>
      <p:sp>
        <p:nvSpPr>
          <p:cNvPr id="31" name="Text 2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UNIT 1 · A MODEL OF DISTRIBUTED COMPUTATIONS</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200" b="1" dirty="0">
                <a:solidFill>
                  <a:srgbClr val="1F3A6E"/>
                </a:solidFill>
                <a:latin typeface="Cambria" pitchFamily="34" charset="0"/>
                <a:ea typeface="Cambria" pitchFamily="34" charset="-122"/>
                <a:cs typeface="Cambria" pitchFamily="34" charset="-120"/>
              </a:rPr>
              <a:t>A referral as a space-time diagram</a:t>
            </a:r>
            <a:endParaRPr lang="en-US" sz="3200" dirty="0"/>
          </a:p>
        </p:txBody>
      </p:sp>
      <p:sp>
        <p:nvSpPr>
          <p:cNvPr id="4" name="Text 2"/>
          <p:cNvSpPr txBox="1"/>
          <p:nvPr/>
        </p:nvSpPr>
        <p:spPr>
          <a:xfrm>
            <a:off x="548640" y="2148840"/>
            <a:ext cx="1417320" cy="365760"/>
          </a:xfrm>
          <a:prstGeom prst="rect">
            <a:avLst/>
          </a:prstGeom>
          <a:noFill/>
          <a:ln/>
        </p:spPr>
        <p:txBody>
          <a:bodyPr wrap="square" lIns="0" tIns="0" rIns="0" bIns="0" rtlCol="0" anchor="ctr"/>
          <a:lstStyle/>
          <a:p>
            <a:pPr indent="0" marL="0">
              <a:buNone/>
            </a:pPr>
            <a:r>
              <a:rPr lang="en-US" sz="1300" b="1" dirty="0">
                <a:solidFill>
                  <a:srgbClr val="1F3A6E"/>
                </a:solidFill>
                <a:latin typeface="Calibri" pitchFamily="34" charset="0"/>
                <a:ea typeface="Calibri" pitchFamily="34" charset="-122"/>
                <a:cs typeface="Calibri" pitchFamily="34" charset="-120"/>
              </a:rPr>
              <a:t>P1  PHC (sender)</a:t>
            </a:r>
            <a:endParaRPr lang="en-US" sz="1300" dirty="0"/>
          </a:p>
        </p:txBody>
      </p:sp>
      <p:sp>
        <p:nvSpPr>
          <p:cNvPr id="5" name="Text 3"/>
          <p:cNvSpPr txBox="1"/>
          <p:nvPr/>
        </p:nvSpPr>
        <p:spPr>
          <a:xfrm>
            <a:off x="548640" y="4206240"/>
            <a:ext cx="1417320" cy="457200"/>
          </a:xfrm>
          <a:prstGeom prst="rect">
            <a:avLst/>
          </a:prstGeom>
          <a:noFill/>
          <a:ln/>
        </p:spPr>
        <p:txBody>
          <a:bodyPr wrap="square" lIns="0" tIns="0" rIns="0" bIns="0" rtlCol="0" anchor="ctr"/>
          <a:lstStyle/>
          <a:p>
            <a:pPr indent="0" marL="0">
              <a:buNone/>
            </a:pPr>
            <a:r>
              <a:rPr lang="en-US" sz="1300" b="1" dirty="0">
                <a:solidFill>
                  <a:srgbClr val="B45309"/>
                </a:solidFill>
                <a:latin typeface="Calibri" pitchFamily="34" charset="0"/>
                <a:ea typeface="Calibri" pitchFamily="34" charset="-122"/>
                <a:cs typeface="Calibri" pitchFamily="34" charset="-120"/>
              </a:rPr>
              <a:t>P2  District Hospital</a:t>
            </a:r>
            <a:endParaRPr lang="en-US" sz="1300" dirty="0"/>
          </a:p>
        </p:txBody>
      </p:sp>
      <p:sp>
        <p:nvSpPr>
          <p:cNvPr id="6" name="Shape 4"/>
          <p:cNvSpPr/>
          <p:nvPr/>
        </p:nvSpPr>
        <p:spPr>
          <a:xfrm>
            <a:off x="2011680" y="2331720"/>
            <a:ext cx="9448495" cy="914"/>
          </a:xfrm>
          <a:prstGeom prst="line">
            <a:avLst/>
          </a:prstGeom>
          <a:noFill/>
          <a:ln w="38100">
            <a:solidFill>
              <a:srgbClr val="1F3A6E"/>
            </a:solidFill>
            <a:prstDash val="solid"/>
            <a:tailEnd type="triangle"/>
          </a:ln>
        </p:spPr>
      </p:sp>
      <p:sp>
        <p:nvSpPr>
          <p:cNvPr id="7" name="Shape 5"/>
          <p:cNvSpPr/>
          <p:nvPr/>
        </p:nvSpPr>
        <p:spPr>
          <a:xfrm>
            <a:off x="2011680" y="4434840"/>
            <a:ext cx="9448495" cy="914"/>
          </a:xfrm>
          <a:prstGeom prst="line">
            <a:avLst/>
          </a:prstGeom>
          <a:noFill/>
          <a:ln w="38100">
            <a:solidFill>
              <a:srgbClr val="B45309"/>
            </a:solidFill>
            <a:prstDash val="solid"/>
            <a:tailEnd type="triangle"/>
          </a:ln>
        </p:spPr>
      </p:sp>
      <p:sp>
        <p:nvSpPr>
          <p:cNvPr id="8" name="Shape 6"/>
          <p:cNvSpPr/>
          <p:nvPr/>
        </p:nvSpPr>
        <p:spPr>
          <a:xfrm>
            <a:off x="2368296" y="2231136"/>
            <a:ext cx="201168" cy="201168"/>
          </a:xfrm>
          <a:prstGeom prst="ellipse">
            <a:avLst/>
          </a:prstGeom>
          <a:solidFill>
            <a:srgbClr val="1F3A6E"/>
          </a:solidFill>
          <a:ln w="12700">
            <a:solidFill>
              <a:srgbClr val="FFFFFF"/>
            </a:solidFill>
            <a:prstDash val="solid"/>
          </a:ln>
        </p:spPr>
      </p:sp>
      <p:sp>
        <p:nvSpPr>
          <p:cNvPr id="9" name="Text 7"/>
          <p:cNvSpPr txBox="1"/>
          <p:nvPr/>
        </p:nvSpPr>
        <p:spPr>
          <a:xfrm>
            <a:off x="1645920" y="1764792"/>
            <a:ext cx="1645920" cy="384048"/>
          </a:xfrm>
          <a:prstGeom prst="rect">
            <a:avLst/>
          </a:prstGeom>
          <a:noFill/>
          <a:ln/>
        </p:spPr>
        <p:txBody>
          <a:bodyPr wrap="square" lIns="0" tIns="0" rIns="0" bIns="0" rtlCol="0" anchor="b"/>
          <a:lstStyle/>
          <a:p>
            <a:pPr algn="ctr" indent="0" marL="0">
              <a:buNone/>
            </a:pPr>
            <a:r>
              <a:rPr lang="en-US" sz="1100" b="1" dirty="0">
                <a:solidFill>
                  <a:srgbClr val="1F3A6E"/>
                </a:solidFill>
                <a:latin typeface="Calibri" pitchFamily="34" charset="0"/>
                <a:ea typeface="Calibri" pitchFamily="34" charset="-122"/>
                <a:cs typeface="Calibri" pitchFamily="34" charset="-120"/>
              </a:rPr>
              <a:t>SEND</a:t>
            </a:r>
            <a:endParaRPr lang="en-US" sz="1100" dirty="0"/>
          </a:p>
        </p:txBody>
      </p:sp>
      <p:sp>
        <p:nvSpPr>
          <p:cNvPr id="10" name="Shape 8"/>
          <p:cNvSpPr/>
          <p:nvPr/>
        </p:nvSpPr>
        <p:spPr>
          <a:xfrm>
            <a:off x="2468880" y="2432304"/>
            <a:ext cx="1097280" cy="1901952"/>
          </a:xfrm>
          <a:prstGeom prst="line">
            <a:avLst/>
          </a:prstGeom>
          <a:noFill/>
          <a:ln w="22225">
            <a:solidFill>
              <a:srgbClr val="7A8699"/>
            </a:solidFill>
            <a:prstDash val="solid"/>
            <a:tailEnd type="triangle"/>
          </a:ln>
        </p:spPr>
      </p:sp>
      <p:sp>
        <p:nvSpPr>
          <p:cNvPr id="11" name="Text 9"/>
          <p:cNvSpPr txBox="1"/>
          <p:nvPr/>
        </p:nvSpPr>
        <p:spPr>
          <a:xfrm>
            <a:off x="3154680" y="3200400"/>
            <a:ext cx="1371600" cy="365760"/>
          </a:xfrm>
          <a:prstGeom prst="rect">
            <a:avLst/>
          </a:prstGeom>
          <a:noFill/>
          <a:ln/>
        </p:spPr>
        <p:txBody>
          <a:bodyPr wrap="square" lIns="0" tIns="0" rIns="0" bIns="0" rtlCol="0" anchor="ctr"/>
          <a:lstStyle/>
          <a:p>
            <a:pPr indent="0" marL="0">
              <a:buNone/>
            </a:pPr>
            <a:r>
              <a:rPr lang="en-US" sz="1050" i="1" dirty="0">
                <a:solidFill>
                  <a:srgbClr val="5B6475"/>
                </a:solidFill>
                <a:latin typeface="Calibri" pitchFamily="34" charset="0"/>
                <a:ea typeface="Calibri" pitchFamily="34" charset="-122"/>
                <a:cs typeface="Calibri" pitchFamily="34" charset="-120"/>
              </a:rPr>
              <a:t>referral</a:t>
            </a:r>
            <a:endParaRPr lang="en-US" sz="1050" dirty="0"/>
          </a:p>
        </p:txBody>
      </p:sp>
      <p:sp>
        <p:nvSpPr>
          <p:cNvPr id="12" name="Shape 10"/>
          <p:cNvSpPr/>
          <p:nvPr/>
        </p:nvSpPr>
        <p:spPr>
          <a:xfrm>
            <a:off x="3465576" y="4334256"/>
            <a:ext cx="201168" cy="201168"/>
          </a:xfrm>
          <a:prstGeom prst="ellipse">
            <a:avLst/>
          </a:prstGeom>
          <a:solidFill>
            <a:srgbClr val="B45309"/>
          </a:solidFill>
          <a:ln w="12700">
            <a:solidFill>
              <a:srgbClr val="FFFFFF"/>
            </a:solidFill>
            <a:prstDash val="solid"/>
          </a:ln>
        </p:spPr>
      </p:sp>
      <p:sp>
        <p:nvSpPr>
          <p:cNvPr id="13" name="Text 11"/>
          <p:cNvSpPr txBox="1"/>
          <p:nvPr/>
        </p:nvSpPr>
        <p:spPr>
          <a:xfrm>
            <a:off x="2743200" y="4599432"/>
            <a:ext cx="1645920" cy="384048"/>
          </a:xfrm>
          <a:prstGeom prst="rect">
            <a:avLst/>
          </a:prstGeom>
          <a:noFill/>
          <a:ln/>
        </p:spPr>
        <p:txBody>
          <a:bodyPr wrap="square" lIns="0" tIns="0" rIns="0" bIns="0" rtlCol="0" anchor="t"/>
          <a:lstStyle/>
          <a:p>
            <a:pPr algn="ctr" indent="0" marL="0">
              <a:buNone/>
            </a:pPr>
            <a:r>
              <a:rPr lang="en-US" sz="1100" b="1" dirty="0">
                <a:solidFill>
                  <a:srgbClr val="B45309"/>
                </a:solidFill>
                <a:latin typeface="Calibri" pitchFamily="34" charset="0"/>
                <a:ea typeface="Calibri" pitchFamily="34" charset="-122"/>
                <a:cs typeface="Calibri" pitchFamily="34" charset="-120"/>
              </a:rPr>
              <a:t>DELIVERED</a:t>
            </a:r>
            <a:endParaRPr lang="en-US" sz="1100" dirty="0"/>
          </a:p>
        </p:txBody>
      </p:sp>
      <p:sp>
        <p:nvSpPr>
          <p:cNvPr id="14" name="Shape 12"/>
          <p:cNvSpPr/>
          <p:nvPr/>
        </p:nvSpPr>
        <p:spPr>
          <a:xfrm>
            <a:off x="4654296" y="4334256"/>
            <a:ext cx="201168" cy="201168"/>
          </a:xfrm>
          <a:prstGeom prst="ellipse">
            <a:avLst/>
          </a:prstGeom>
          <a:solidFill>
            <a:srgbClr val="B45309"/>
          </a:solidFill>
          <a:ln w="12700">
            <a:solidFill>
              <a:srgbClr val="FFFFFF"/>
            </a:solidFill>
            <a:prstDash val="solid"/>
          </a:ln>
        </p:spPr>
      </p:sp>
      <p:sp>
        <p:nvSpPr>
          <p:cNvPr id="15" name="Text 13"/>
          <p:cNvSpPr txBox="1"/>
          <p:nvPr/>
        </p:nvSpPr>
        <p:spPr>
          <a:xfrm>
            <a:off x="3931920" y="4599432"/>
            <a:ext cx="1645920" cy="384048"/>
          </a:xfrm>
          <a:prstGeom prst="rect">
            <a:avLst/>
          </a:prstGeom>
          <a:noFill/>
          <a:ln/>
        </p:spPr>
        <p:txBody>
          <a:bodyPr wrap="square" lIns="0" tIns="0" rIns="0" bIns="0" rtlCol="0" anchor="t"/>
          <a:lstStyle/>
          <a:p>
            <a:pPr algn="ctr" indent="0" marL="0">
              <a:buNone/>
            </a:pPr>
            <a:r>
              <a:rPr lang="en-US" sz="1100" b="1" dirty="0">
                <a:solidFill>
                  <a:srgbClr val="B45309"/>
                </a:solidFill>
                <a:latin typeface="Calibri" pitchFamily="34" charset="0"/>
                <a:ea typeface="Calibri" pitchFamily="34" charset="-122"/>
                <a:cs typeface="Calibri" pitchFamily="34" charset="-120"/>
              </a:rPr>
              <a:t>ACKNOWLEDGED</a:t>
            </a:r>
            <a:endParaRPr lang="en-US" sz="1100" dirty="0"/>
          </a:p>
        </p:txBody>
      </p:sp>
      <p:sp>
        <p:nvSpPr>
          <p:cNvPr id="16" name="Shape 14"/>
          <p:cNvSpPr/>
          <p:nvPr/>
        </p:nvSpPr>
        <p:spPr>
          <a:xfrm flipV="1">
            <a:off x="4754880" y="2432304"/>
            <a:ext cx="1097280" cy="1901952"/>
          </a:xfrm>
          <a:prstGeom prst="line">
            <a:avLst/>
          </a:prstGeom>
          <a:noFill/>
          <a:ln w="22225">
            <a:solidFill>
              <a:srgbClr val="7A8699"/>
            </a:solidFill>
            <a:prstDash val="solid"/>
            <a:tailEnd type="triangle"/>
          </a:ln>
        </p:spPr>
      </p:sp>
      <p:sp>
        <p:nvSpPr>
          <p:cNvPr id="17" name="Text 15"/>
          <p:cNvSpPr txBox="1"/>
          <p:nvPr/>
        </p:nvSpPr>
        <p:spPr>
          <a:xfrm>
            <a:off x="5440680" y="3200400"/>
            <a:ext cx="1371600" cy="365760"/>
          </a:xfrm>
          <a:prstGeom prst="rect">
            <a:avLst/>
          </a:prstGeom>
          <a:noFill/>
          <a:ln/>
        </p:spPr>
        <p:txBody>
          <a:bodyPr wrap="square" lIns="0" tIns="0" rIns="0" bIns="0" rtlCol="0" anchor="ctr"/>
          <a:lstStyle/>
          <a:p>
            <a:pPr indent="0" marL="0">
              <a:buNone/>
            </a:pPr>
            <a:r>
              <a:rPr lang="en-US" sz="1050" i="1" dirty="0">
                <a:solidFill>
                  <a:srgbClr val="5B6475"/>
                </a:solidFill>
                <a:latin typeface="Calibri" pitchFamily="34" charset="0"/>
                <a:ea typeface="Calibri" pitchFamily="34" charset="-122"/>
                <a:cs typeface="Calibri" pitchFamily="34" charset="-120"/>
              </a:rPr>
              <a:t>ack</a:t>
            </a:r>
            <a:endParaRPr lang="en-US" sz="1050" dirty="0"/>
          </a:p>
        </p:txBody>
      </p:sp>
      <p:sp>
        <p:nvSpPr>
          <p:cNvPr id="18" name="Shape 16"/>
          <p:cNvSpPr/>
          <p:nvPr/>
        </p:nvSpPr>
        <p:spPr>
          <a:xfrm>
            <a:off x="5751576" y="2231136"/>
            <a:ext cx="201168" cy="201168"/>
          </a:xfrm>
          <a:prstGeom prst="ellipse">
            <a:avLst/>
          </a:prstGeom>
          <a:solidFill>
            <a:srgbClr val="1F3A6E"/>
          </a:solidFill>
          <a:ln w="12700">
            <a:solidFill>
              <a:srgbClr val="FFFFFF"/>
            </a:solidFill>
            <a:prstDash val="solid"/>
          </a:ln>
        </p:spPr>
      </p:sp>
      <p:sp>
        <p:nvSpPr>
          <p:cNvPr id="19" name="Text 17"/>
          <p:cNvSpPr txBox="1"/>
          <p:nvPr/>
        </p:nvSpPr>
        <p:spPr>
          <a:xfrm>
            <a:off x="5029200" y="1764792"/>
            <a:ext cx="1645920" cy="384048"/>
          </a:xfrm>
          <a:prstGeom prst="rect">
            <a:avLst/>
          </a:prstGeom>
          <a:noFill/>
          <a:ln/>
        </p:spPr>
        <p:txBody>
          <a:bodyPr wrap="square" lIns="0" tIns="0" rIns="0" bIns="0" rtlCol="0" anchor="b"/>
          <a:lstStyle/>
          <a:p>
            <a:pPr algn="ctr" indent="0" marL="0">
              <a:buNone/>
            </a:pPr>
            <a:r>
              <a:rPr lang="en-US" sz="1100" b="1" dirty="0">
                <a:solidFill>
                  <a:srgbClr val="1F3A6E"/>
                </a:solidFill>
                <a:latin typeface="Calibri" pitchFamily="34" charset="0"/>
                <a:ea typeface="Calibri" pitchFamily="34" charset="-122"/>
                <a:cs typeface="Calibri" pitchFamily="34" charset="-120"/>
              </a:rPr>
              <a:t>sees ACK</a:t>
            </a:r>
            <a:endParaRPr lang="en-US" sz="1100" dirty="0"/>
          </a:p>
        </p:txBody>
      </p:sp>
      <p:sp>
        <p:nvSpPr>
          <p:cNvPr id="20" name="Shape 18"/>
          <p:cNvSpPr/>
          <p:nvPr/>
        </p:nvSpPr>
        <p:spPr>
          <a:xfrm>
            <a:off x="6665976" y="4334256"/>
            <a:ext cx="201168" cy="201168"/>
          </a:xfrm>
          <a:prstGeom prst="ellipse">
            <a:avLst/>
          </a:prstGeom>
          <a:solidFill>
            <a:srgbClr val="B45309"/>
          </a:solidFill>
          <a:ln w="12700">
            <a:solidFill>
              <a:srgbClr val="FFFFFF"/>
            </a:solidFill>
            <a:prstDash val="solid"/>
          </a:ln>
        </p:spPr>
      </p:sp>
      <p:sp>
        <p:nvSpPr>
          <p:cNvPr id="21" name="Text 19"/>
          <p:cNvSpPr txBox="1"/>
          <p:nvPr/>
        </p:nvSpPr>
        <p:spPr>
          <a:xfrm>
            <a:off x="5943600" y="4599432"/>
            <a:ext cx="1645920" cy="384048"/>
          </a:xfrm>
          <a:prstGeom prst="rect">
            <a:avLst/>
          </a:prstGeom>
          <a:noFill/>
          <a:ln/>
        </p:spPr>
        <p:txBody>
          <a:bodyPr wrap="square" lIns="0" tIns="0" rIns="0" bIns="0" rtlCol="0" anchor="t"/>
          <a:lstStyle/>
          <a:p>
            <a:pPr algn="ctr" indent="0" marL="0">
              <a:buNone/>
            </a:pPr>
            <a:r>
              <a:rPr lang="en-US" sz="1100" b="1" dirty="0">
                <a:solidFill>
                  <a:srgbClr val="B45309"/>
                </a:solidFill>
                <a:latin typeface="Calibri" pitchFamily="34" charset="0"/>
                <a:ea typeface="Calibri" pitchFamily="34" charset="-122"/>
                <a:cs typeface="Calibri" pitchFamily="34" charset="-120"/>
              </a:rPr>
              <a:t>ACCEPT + bed</a:t>
            </a:r>
            <a:endParaRPr lang="en-US" sz="1100" dirty="0"/>
          </a:p>
        </p:txBody>
      </p:sp>
      <p:sp>
        <p:nvSpPr>
          <p:cNvPr id="22" name="Shape 20"/>
          <p:cNvSpPr/>
          <p:nvPr/>
        </p:nvSpPr>
        <p:spPr>
          <a:xfrm flipV="1">
            <a:off x="6766560" y="2432304"/>
            <a:ext cx="1097280" cy="1901952"/>
          </a:xfrm>
          <a:prstGeom prst="line">
            <a:avLst/>
          </a:prstGeom>
          <a:noFill/>
          <a:ln w="22225">
            <a:solidFill>
              <a:srgbClr val="7A8699"/>
            </a:solidFill>
            <a:prstDash val="solid"/>
            <a:tailEnd type="triangle"/>
          </a:ln>
        </p:spPr>
      </p:sp>
      <p:sp>
        <p:nvSpPr>
          <p:cNvPr id="23" name="Text 21"/>
          <p:cNvSpPr txBox="1"/>
          <p:nvPr/>
        </p:nvSpPr>
        <p:spPr>
          <a:xfrm>
            <a:off x="7452360" y="3200400"/>
            <a:ext cx="1371600" cy="365760"/>
          </a:xfrm>
          <a:prstGeom prst="rect">
            <a:avLst/>
          </a:prstGeom>
          <a:noFill/>
          <a:ln/>
        </p:spPr>
        <p:txBody>
          <a:bodyPr wrap="square" lIns="0" tIns="0" rIns="0" bIns="0" rtlCol="0" anchor="ctr"/>
          <a:lstStyle/>
          <a:p>
            <a:pPr indent="0" marL="0">
              <a:buNone/>
            </a:pPr>
            <a:r>
              <a:rPr lang="en-US" sz="1050" i="1" dirty="0">
                <a:solidFill>
                  <a:srgbClr val="5B6475"/>
                </a:solidFill>
                <a:latin typeface="Calibri" pitchFamily="34" charset="0"/>
                <a:ea typeface="Calibri" pitchFamily="34" charset="-122"/>
                <a:cs typeface="Calibri" pitchFamily="34" charset="-120"/>
              </a:rPr>
              <a:t>accepted</a:t>
            </a:r>
            <a:endParaRPr lang="en-US" sz="1050" dirty="0"/>
          </a:p>
        </p:txBody>
      </p:sp>
      <p:sp>
        <p:nvSpPr>
          <p:cNvPr id="24" name="Shape 22"/>
          <p:cNvSpPr/>
          <p:nvPr/>
        </p:nvSpPr>
        <p:spPr>
          <a:xfrm>
            <a:off x="7763256" y="2231136"/>
            <a:ext cx="201168" cy="201168"/>
          </a:xfrm>
          <a:prstGeom prst="ellipse">
            <a:avLst/>
          </a:prstGeom>
          <a:solidFill>
            <a:srgbClr val="1F3A6E"/>
          </a:solidFill>
          <a:ln w="12700">
            <a:solidFill>
              <a:srgbClr val="FFFFFF"/>
            </a:solidFill>
            <a:prstDash val="solid"/>
          </a:ln>
        </p:spPr>
      </p:sp>
      <p:sp>
        <p:nvSpPr>
          <p:cNvPr id="25" name="Text 23"/>
          <p:cNvSpPr txBox="1"/>
          <p:nvPr/>
        </p:nvSpPr>
        <p:spPr>
          <a:xfrm>
            <a:off x="7040880" y="1764792"/>
            <a:ext cx="1645920" cy="384048"/>
          </a:xfrm>
          <a:prstGeom prst="rect">
            <a:avLst/>
          </a:prstGeom>
          <a:noFill/>
          <a:ln/>
        </p:spPr>
        <p:txBody>
          <a:bodyPr wrap="square" lIns="0" tIns="0" rIns="0" bIns="0" rtlCol="0" anchor="b"/>
          <a:lstStyle/>
          <a:p>
            <a:pPr algn="ctr" indent="0" marL="0">
              <a:buNone/>
            </a:pPr>
            <a:r>
              <a:rPr lang="en-US" sz="1100" b="1" dirty="0">
                <a:solidFill>
                  <a:srgbClr val="1F3A6E"/>
                </a:solidFill>
                <a:latin typeface="Calibri" pitchFamily="34" charset="0"/>
                <a:ea typeface="Calibri" pitchFamily="34" charset="-122"/>
                <a:cs typeface="Calibri" pitchFamily="34" charset="-120"/>
              </a:rPr>
              <a:t>sees ACCEPTED</a:t>
            </a:r>
            <a:endParaRPr lang="en-US" sz="1100" dirty="0"/>
          </a:p>
        </p:txBody>
      </p:sp>
      <p:sp>
        <p:nvSpPr>
          <p:cNvPr id="26" name="Shape 24"/>
          <p:cNvSpPr/>
          <p:nvPr/>
        </p:nvSpPr>
        <p:spPr>
          <a:xfrm>
            <a:off x="9226296" y="2231136"/>
            <a:ext cx="201168" cy="201168"/>
          </a:xfrm>
          <a:prstGeom prst="ellipse">
            <a:avLst/>
          </a:prstGeom>
          <a:solidFill>
            <a:srgbClr val="1F3A6E"/>
          </a:solidFill>
          <a:ln w="12700">
            <a:solidFill>
              <a:srgbClr val="FFFFFF"/>
            </a:solidFill>
            <a:prstDash val="solid"/>
          </a:ln>
        </p:spPr>
      </p:sp>
      <p:sp>
        <p:nvSpPr>
          <p:cNvPr id="27" name="Text 25"/>
          <p:cNvSpPr txBox="1"/>
          <p:nvPr/>
        </p:nvSpPr>
        <p:spPr>
          <a:xfrm>
            <a:off x="8503920" y="1764792"/>
            <a:ext cx="1645920" cy="384048"/>
          </a:xfrm>
          <a:prstGeom prst="rect">
            <a:avLst/>
          </a:prstGeom>
          <a:noFill/>
          <a:ln/>
        </p:spPr>
        <p:txBody>
          <a:bodyPr wrap="square" lIns="0" tIns="0" rIns="0" bIns="0" rtlCol="0" anchor="b"/>
          <a:lstStyle/>
          <a:p>
            <a:pPr algn="ctr" indent="0" marL="0">
              <a:buNone/>
            </a:pPr>
            <a:r>
              <a:rPr lang="en-US" sz="1100" b="1" dirty="0">
                <a:solidFill>
                  <a:srgbClr val="1F3A6E"/>
                </a:solidFill>
                <a:latin typeface="Calibri" pitchFamily="34" charset="0"/>
                <a:ea typeface="Calibri" pitchFamily="34" charset="-122"/>
                <a:cs typeface="Calibri" pitchFamily="34" charset="-120"/>
              </a:rPr>
              <a:t>DISPATCH</a:t>
            </a:r>
            <a:endParaRPr lang="en-US" sz="1100" dirty="0"/>
          </a:p>
        </p:txBody>
      </p:sp>
      <p:sp>
        <p:nvSpPr>
          <p:cNvPr id="28" name="Shape 26"/>
          <p:cNvSpPr/>
          <p:nvPr/>
        </p:nvSpPr>
        <p:spPr>
          <a:xfrm>
            <a:off x="9866376" y="4334256"/>
            <a:ext cx="201168" cy="201168"/>
          </a:xfrm>
          <a:prstGeom prst="ellipse">
            <a:avLst/>
          </a:prstGeom>
          <a:solidFill>
            <a:srgbClr val="B45309"/>
          </a:solidFill>
          <a:ln w="12700">
            <a:solidFill>
              <a:srgbClr val="FFFFFF"/>
            </a:solidFill>
            <a:prstDash val="solid"/>
          </a:ln>
        </p:spPr>
      </p:sp>
      <p:sp>
        <p:nvSpPr>
          <p:cNvPr id="29" name="Text 27"/>
          <p:cNvSpPr txBox="1"/>
          <p:nvPr/>
        </p:nvSpPr>
        <p:spPr>
          <a:xfrm>
            <a:off x="9144000" y="4599432"/>
            <a:ext cx="1645920" cy="384048"/>
          </a:xfrm>
          <a:prstGeom prst="rect">
            <a:avLst/>
          </a:prstGeom>
          <a:noFill/>
          <a:ln/>
        </p:spPr>
        <p:txBody>
          <a:bodyPr wrap="square" lIns="0" tIns="0" rIns="0" bIns="0" rtlCol="0" anchor="t"/>
          <a:lstStyle/>
          <a:p>
            <a:pPr algn="ctr" indent="0" marL="0">
              <a:buNone/>
            </a:pPr>
            <a:r>
              <a:rPr lang="en-US" sz="1100" b="1" dirty="0">
                <a:solidFill>
                  <a:srgbClr val="B45309"/>
                </a:solidFill>
                <a:latin typeface="Calibri" pitchFamily="34" charset="0"/>
                <a:ea typeface="Calibri" pitchFamily="34" charset="-122"/>
                <a:cs typeface="Calibri" pitchFamily="34" charset="-120"/>
              </a:rPr>
              <a:t>ARRIVED</a:t>
            </a:r>
            <a:endParaRPr lang="en-US" sz="1100" dirty="0"/>
          </a:p>
        </p:txBody>
      </p:sp>
      <p:sp>
        <p:nvSpPr>
          <p:cNvPr id="30" name="Shape 28"/>
          <p:cNvSpPr/>
          <p:nvPr/>
        </p:nvSpPr>
        <p:spPr>
          <a:xfrm>
            <a:off x="10917936" y="4334256"/>
            <a:ext cx="201168" cy="201168"/>
          </a:xfrm>
          <a:prstGeom prst="ellipse">
            <a:avLst/>
          </a:prstGeom>
          <a:solidFill>
            <a:srgbClr val="B45309"/>
          </a:solidFill>
          <a:ln w="12700">
            <a:solidFill>
              <a:srgbClr val="FFFFFF"/>
            </a:solidFill>
            <a:prstDash val="solid"/>
          </a:ln>
        </p:spPr>
      </p:sp>
      <p:sp>
        <p:nvSpPr>
          <p:cNvPr id="31" name="Text 29"/>
          <p:cNvSpPr txBox="1"/>
          <p:nvPr/>
        </p:nvSpPr>
        <p:spPr>
          <a:xfrm>
            <a:off x="10195560" y="4599432"/>
            <a:ext cx="1645920" cy="384048"/>
          </a:xfrm>
          <a:prstGeom prst="rect">
            <a:avLst/>
          </a:prstGeom>
          <a:noFill/>
          <a:ln/>
        </p:spPr>
        <p:txBody>
          <a:bodyPr wrap="square" lIns="0" tIns="0" rIns="0" bIns="0" rtlCol="0" anchor="t"/>
          <a:lstStyle/>
          <a:p>
            <a:pPr algn="ctr" indent="0" marL="0">
              <a:buNone/>
            </a:pPr>
            <a:r>
              <a:rPr lang="en-US" sz="1100" b="1" dirty="0">
                <a:solidFill>
                  <a:srgbClr val="B45309"/>
                </a:solidFill>
                <a:latin typeface="Calibri" pitchFamily="34" charset="0"/>
                <a:ea typeface="Calibri" pitchFamily="34" charset="-122"/>
                <a:cs typeface="Calibri" pitchFamily="34" charset="-120"/>
              </a:rPr>
              <a:t>ADMITTED</a:t>
            </a:r>
            <a:endParaRPr lang="en-US" sz="1100" dirty="0"/>
          </a:p>
        </p:txBody>
      </p:sp>
      <p:sp>
        <p:nvSpPr>
          <p:cNvPr id="32" name="Shape 30"/>
          <p:cNvSpPr/>
          <p:nvPr/>
        </p:nvSpPr>
        <p:spPr>
          <a:xfrm>
            <a:off x="548640" y="5257800"/>
            <a:ext cx="11094415" cy="914400"/>
          </a:xfrm>
          <a:prstGeom prst="roundRect">
            <a:avLst>
              <a:gd name="adj" fmla="val 8000"/>
            </a:avLst>
          </a:prstGeom>
          <a:solidFill>
            <a:srgbClr val="E8EEF8"/>
          </a:solidFill>
          <a:ln w="12700">
            <a:solidFill>
              <a:srgbClr val="E8EEF8"/>
            </a:solidFill>
            <a:prstDash val="solid"/>
          </a:ln>
        </p:spPr>
      </p:sp>
      <p:sp>
        <p:nvSpPr>
          <p:cNvPr id="33" name="Text 31"/>
          <p:cNvSpPr txBox="1"/>
          <p:nvPr/>
        </p:nvSpPr>
        <p:spPr>
          <a:xfrm>
            <a:off x="822960" y="5367528"/>
            <a:ext cx="10545775" cy="731520"/>
          </a:xfrm>
          <a:prstGeom prst="rect">
            <a:avLst/>
          </a:prstGeom>
          <a:noFill/>
          <a:ln/>
        </p:spPr>
        <p:txBody>
          <a:bodyPr wrap="square" lIns="0" tIns="0" rIns="0" bIns="0" rtlCol="0" anchor="ctr"/>
          <a:lstStyle/>
          <a:p>
            <a:pPr indent="0" marL="0">
              <a:buNone/>
            </a:pPr>
            <a:r>
              <a:rPr lang="en-US" sz="1300" b="1" dirty="0">
                <a:solidFill>
                  <a:srgbClr val="1F3A6E"/>
                </a:solidFill>
                <a:latin typeface="Calibri" pitchFamily="34" charset="0"/>
                <a:ea typeface="Calibri" pitchFamily="34" charset="-122"/>
                <a:cs typeface="Calibri" pitchFamily="34" charset="-120"/>
              </a:rPr>
              <a:t>Happens-before (→): </a:t>
            </a:r>
            <a:pPr indent="0" marL="0">
              <a:buNone/>
            </a:pPr>
            <a:r>
              <a:rPr lang="en-US" sz="1300" dirty="0">
                <a:solidFill>
                  <a:srgbClr val="1E2533"/>
                </a:solidFill>
                <a:latin typeface="Calibri" pitchFamily="34" charset="0"/>
                <a:ea typeface="Calibri" pitchFamily="34" charset="-122"/>
                <a:cs typeface="Calibri" pitchFamily="34" charset="-120"/>
              </a:rPr>
              <a:t>SEND → DELIVERED → ACCEPT → sees ACCEPTED → DISPATCH. The ambulance is only dispatched after the hospital’s accept event is received. Each state in lib/referrals/workflow.ts can only be reached from the states before it.</a:t>
            </a:r>
            <a:endParaRPr lang="en-US" sz="1300" dirty="0"/>
          </a:p>
        </p:txBody>
      </p:sp>
      <p:sp>
        <p:nvSpPr>
          <p:cNvPr id="34" name="Text 32"/>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NalamMesh · 24CS502 Distributed and Cloud Computing</a:t>
            </a:r>
            <a:endParaRPr lang="en-US" sz="1000" dirty="0"/>
          </a:p>
        </p:txBody>
      </p:sp>
      <p:sp>
        <p:nvSpPr>
          <p:cNvPr id="35" name="Text 3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UNIT 1 · CONCURRENT EVENTS</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200" b="1" dirty="0">
                <a:solidFill>
                  <a:srgbClr val="1F3A6E"/>
                </a:solidFill>
                <a:latin typeface="Cambria" pitchFamily="34" charset="0"/>
                <a:ea typeface="Cambria" pitchFamily="34" charset="-122"/>
                <a:cs typeface="Cambria" pitchFamily="34" charset="-120"/>
              </a:rPr>
              <a:t>Merging edits made at the same time</a:t>
            </a:r>
            <a:endParaRPr lang="en-US" sz="3200" dirty="0"/>
          </a:p>
        </p:txBody>
      </p:sp>
      <p:sp>
        <p:nvSpPr>
          <p:cNvPr id="4" name="Text 2"/>
          <p:cNvSpPr txBox="1"/>
          <p:nvPr/>
        </p:nvSpPr>
        <p:spPr>
          <a:xfrm>
            <a:off x="548640" y="1463040"/>
            <a:ext cx="11094415" cy="640080"/>
          </a:xfrm>
          <a:prstGeom prst="rect">
            <a:avLst/>
          </a:prstGeom>
          <a:noFill/>
          <a:ln/>
        </p:spPr>
        <p:txBody>
          <a:bodyPr wrap="square" lIns="0" tIns="0" rIns="0" bIns="0" rtlCol="0" anchor="t"/>
          <a:lstStyle/>
          <a:p>
            <a:pPr indent="0" marL="0">
              <a:buNone/>
            </a:pPr>
            <a:r>
              <a:rPr lang="en-US" sz="1500" dirty="0">
                <a:solidFill>
                  <a:srgbClr val="5B6475"/>
                </a:solidFill>
                <a:latin typeface="Calibri" pitchFamily="34" charset="0"/>
                <a:ea typeface="Calibri" pitchFamily="34" charset="-122"/>
                <a:cs typeface="Calibri" pitchFamily="34" charset="-120"/>
              </a:rPr>
              <a:t>Two facilities edit the same referral while disconnected. Neither edit happened-before the other: they are concurrent (a ∥ b). NalamMesh keeps both.</a:t>
            </a:r>
            <a:endParaRPr lang="en-US" sz="1500" dirty="0"/>
          </a:p>
        </p:txBody>
      </p:sp>
      <p:sp>
        <p:nvSpPr>
          <p:cNvPr id="5" name="Shape 3"/>
          <p:cNvSpPr/>
          <p:nvPr/>
        </p:nvSpPr>
        <p:spPr>
          <a:xfrm>
            <a:off x="548640" y="2286000"/>
            <a:ext cx="3017520" cy="2743200"/>
          </a:xfrm>
          <a:prstGeom prst="roundRect">
            <a:avLst>
              <a:gd name="adj" fmla="val 2667"/>
            </a:avLst>
          </a:prstGeom>
          <a:solidFill>
            <a:srgbClr val="F1F3F7"/>
          </a:solidFill>
          <a:ln w="12700">
            <a:solidFill>
              <a:srgbClr val="F1F3F7"/>
            </a:solidFill>
            <a:prstDash val="solid"/>
          </a:ln>
        </p:spPr>
      </p:sp>
      <p:sp>
        <p:nvSpPr>
          <p:cNvPr id="6" name="Text 4"/>
          <p:cNvSpPr txBox="1"/>
          <p:nvPr/>
        </p:nvSpPr>
        <p:spPr>
          <a:xfrm>
            <a:off x="777240" y="2423160"/>
            <a:ext cx="2560320" cy="365760"/>
          </a:xfrm>
          <a:prstGeom prst="rect">
            <a:avLst/>
          </a:prstGeom>
          <a:noFill/>
          <a:ln/>
        </p:spPr>
        <p:txBody>
          <a:bodyPr wrap="square" lIns="0" tIns="0" rIns="0" bIns="0" rtlCol="0" anchor="t"/>
          <a:lstStyle/>
          <a:p>
            <a:pPr indent="0" marL="0">
              <a:buNone/>
            </a:pPr>
            <a:r>
              <a:rPr lang="en-US" sz="1500" b="1" dirty="0">
                <a:solidFill>
                  <a:srgbClr val="1F3A6E"/>
                </a:solidFill>
                <a:latin typeface="Calibri" pitchFamily="34" charset="0"/>
                <a:ea typeface="Calibri" pitchFamily="34" charset="-122"/>
                <a:cs typeface="Calibri" pitchFamily="34" charset="-120"/>
              </a:rPr>
              <a:t>Copy at PHC</a:t>
            </a:r>
            <a:endParaRPr lang="en-US" sz="1500" dirty="0"/>
          </a:p>
        </p:txBody>
      </p:sp>
      <p:sp>
        <p:nvSpPr>
          <p:cNvPr id="7" name="Shape 5"/>
          <p:cNvSpPr/>
          <p:nvPr/>
        </p:nvSpPr>
        <p:spPr>
          <a:xfrm>
            <a:off x="777240" y="2880360"/>
            <a:ext cx="2560320" cy="411480"/>
          </a:xfrm>
          <a:prstGeom prst="roundRect">
            <a:avLst>
              <a:gd name="adj" fmla="val 11111"/>
            </a:avLst>
          </a:prstGeom>
          <a:solidFill>
            <a:srgbClr val="FFFFFF"/>
          </a:solidFill>
          <a:ln w="9525">
            <a:solidFill>
              <a:srgbClr val="D5DCE8"/>
            </a:solidFill>
            <a:prstDash val="solid"/>
          </a:ln>
        </p:spPr>
      </p:sp>
      <p:sp>
        <p:nvSpPr>
          <p:cNvPr id="8" name="Text 6"/>
          <p:cNvSpPr txBox="1"/>
          <p:nvPr/>
        </p:nvSpPr>
        <p:spPr>
          <a:xfrm>
            <a:off x="914400" y="2880360"/>
            <a:ext cx="2377440" cy="411480"/>
          </a:xfrm>
          <a:prstGeom prst="rect">
            <a:avLst/>
          </a:prstGeom>
          <a:noFill/>
          <a:ln/>
        </p:spPr>
        <p:txBody>
          <a:bodyPr wrap="square" lIns="0" tIns="0" rIns="0" bIns="0" rtlCol="0" anchor="ctr"/>
          <a:lstStyle/>
          <a:p>
            <a:pPr indent="0" marL="0">
              <a:buNone/>
            </a:pPr>
            <a:r>
              <a:rPr lang="en-US" sz="1200" dirty="0">
                <a:solidFill>
                  <a:srgbClr val="1E2533"/>
                </a:solidFill>
                <a:latin typeface="Calibri" pitchFamily="34" charset="0"/>
                <a:ea typeface="Calibri" pitchFamily="34" charset="-122"/>
                <a:cs typeface="Calibri" pitchFamily="34" charset="-120"/>
              </a:rPr>
              <a:t>e1  CREATED</a:t>
            </a:r>
            <a:endParaRPr lang="en-US" sz="1200" dirty="0"/>
          </a:p>
        </p:txBody>
      </p:sp>
      <p:sp>
        <p:nvSpPr>
          <p:cNvPr id="9" name="Shape 7"/>
          <p:cNvSpPr/>
          <p:nvPr/>
        </p:nvSpPr>
        <p:spPr>
          <a:xfrm>
            <a:off x="777240" y="3383280"/>
            <a:ext cx="2560320" cy="411480"/>
          </a:xfrm>
          <a:prstGeom prst="roundRect">
            <a:avLst>
              <a:gd name="adj" fmla="val 11111"/>
            </a:avLst>
          </a:prstGeom>
          <a:solidFill>
            <a:srgbClr val="FFFFFF"/>
          </a:solidFill>
          <a:ln w="9525">
            <a:solidFill>
              <a:srgbClr val="D5DCE8"/>
            </a:solidFill>
            <a:prstDash val="solid"/>
          </a:ln>
        </p:spPr>
      </p:sp>
      <p:sp>
        <p:nvSpPr>
          <p:cNvPr id="10" name="Text 8"/>
          <p:cNvSpPr txBox="1"/>
          <p:nvPr/>
        </p:nvSpPr>
        <p:spPr>
          <a:xfrm>
            <a:off x="914400" y="3383280"/>
            <a:ext cx="2377440" cy="411480"/>
          </a:xfrm>
          <a:prstGeom prst="rect">
            <a:avLst/>
          </a:prstGeom>
          <a:noFill/>
          <a:ln/>
        </p:spPr>
        <p:txBody>
          <a:bodyPr wrap="square" lIns="0" tIns="0" rIns="0" bIns="0" rtlCol="0" anchor="ctr"/>
          <a:lstStyle/>
          <a:p>
            <a:pPr indent="0" marL="0">
              <a:buNone/>
            </a:pPr>
            <a:r>
              <a:rPr lang="en-US" sz="1200" dirty="0">
                <a:solidFill>
                  <a:srgbClr val="1E2533"/>
                </a:solidFill>
                <a:latin typeface="Calibri" pitchFamily="34" charset="0"/>
                <a:ea typeface="Calibri" pitchFamily="34" charset="-122"/>
                <a:cs typeface="Calibri" pitchFamily="34" charset="-120"/>
              </a:rPr>
              <a:t>e2  SENT</a:t>
            </a:r>
            <a:endParaRPr lang="en-US" sz="1200" dirty="0"/>
          </a:p>
        </p:txBody>
      </p:sp>
      <p:sp>
        <p:nvSpPr>
          <p:cNvPr id="11" name="Shape 9"/>
          <p:cNvSpPr/>
          <p:nvPr/>
        </p:nvSpPr>
        <p:spPr>
          <a:xfrm>
            <a:off x="777240" y="3886200"/>
            <a:ext cx="2560320" cy="411480"/>
          </a:xfrm>
          <a:prstGeom prst="roundRect">
            <a:avLst>
              <a:gd name="adj" fmla="val 11111"/>
            </a:avLst>
          </a:prstGeom>
          <a:solidFill>
            <a:srgbClr val="FF9933"/>
          </a:solidFill>
          <a:ln w="9525">
            <a:solidFill>
              <a:srgbClr val="D5DCE8"/>
            </a:solidFill>
            <a:prstDash val="solid"/>
          </a:ln>
        </p:spPr>
      </p:sp>
      <p:sp>
        <p:nvSpPr>
          <p:cNvPr id="12" name="Text 10"/>
          <p:cNvSpPr txBox="1"/>
          <p:nvPr/>
        </p:nvSpPr>
        <p:spPr>
          <a:xfrm>
            <a:off x="914400" y="3886200"/>
            <a:ext cx="237744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   note: BP 160/110</a:t>
            </a:r>
            <a:endParaRPr lang="en-US" sz="1200" dirty="0"/>
          </a:p>
        </p:txBody>
      </p:sp>
      <p:sp>
        <p:nvSpPr>
          <p:cNvPr id="13" name="Shape 11"/>
          <p:cNvSpPr/>
          <p:nvPr/>
        </p:nvSpPr>
        <p:spPr>
          <a:xfrm>
            <a:off x="3977640" y="2286000"/>
            <a:ext cx="3017520" cy="2743200"/>
          </a:xfrm>
          <a:prstGeom prst="roundRect">
            <a:avLst>
              <a:gd name="adj" fmla="val 2667"/>
            </a:avLst>
          </a:prstGeom>
          <a:solidFill>
            <a:srgbClr val="F1F3F7"/>
          </a:solidFill>
          <a:ln w="12700">
            <a:solidFill>
              <a:srgbClr val="F1F3F7"/>
            </a:solidFill>
            <a:prstDash val="solid"/>
          </a:ln>
        </p:spPr>
      </p:sp>
      <p:sp>
        <p:nvSpPr>
          <p:cNvPr id="14" name="Text 12"/>
          <p:cNvSpPr txBox="1"/>
          <p:nvPr/>
        </p:nvSpPr>
        <p:spPr>
          <a:xfrm>
            <a:off x="4206240" y="2423160"/>
            <a:ext cx="2560320" cy="365760"/>
          </a:xfrm>
          <a:prstGeom prst="rect">
            <a:avLst/>
          </a:prstGeom>
          <a:noFill/>
          <a:ln/>
        </p:spPr>
        <p:txBody>
          <a:bodyPr wrap="square" lIns="0" tIns="0" rIns="0" bIns="0" rtlCol="0" anchor="t"/>
          <a:lstStyle/>
          <a:p>
            <a:pPr indent="0" marL="0">
              <a:buNone/>
            </a:pPr>
            <a:r>
              <a:rPr lang="en-US" sz="1500" b="1" dirty="0">
                <a:solidFill>
                  <a:srgbClr val="B45309"/>
                </a:solidFill>
                <a:latin typeface="Calibri" pitchFamily="34" charset="0"/>
                <a:ea typeface="Calibri" pitchFamily="34" charset="-122"/>
                <a:cs typeface="Calibri" pitchFamily="34" charset="-120"/>
              </a:rPr>
              <a:t>Copy at District Hosp.</a:t>
            </a:r>
            <a:endParaRPr lang="en-US" sz="1500" dirty="0"/>
          </a:p>
        </p:txBody>
      </p:sp>
      <p:sp>
        <p:nvSpPr>
          <p:cNvPr id="15" name="Shape 13"/>
          <p:cNvSpPr/>
          <p:nvPr/>
        </p:nvSpPr>
        <p:spPr>
          <a:xfrm>
            <a:off x="4206240" y="2880360"/>
            <a:ext cx="2560320" cy="411480"/>
          </a:xfrm>
          <a:prstGeom prst="roundRect">
            <a:avLst>
              <a:gd name="adj" fmla="val 11111"/>
            </a:avLst>
          </a:prstGeom>
          <a:solidFill>
            <a:srgbClr val="FFFFFF"/>
          </a:solidFill>
          <a:ln w="9525">
            <a:solidFill>
              <a:srgbClr val="D5DCE8"/>
            </a:solidFill>
            <a:prstDash val="solid"/>
          </a:ln>
        </p:spPr>
      </p:sp>
      <p:sp>
        <p:nvSpPr>
          <p:cNvPr id="16" name="Text 14"/>
          <p:cNvSpPr txBox="1"/>
          <p:nvPr/>
        </p:nvSpPr>
        <p:spPr>
          <a:xfrm>
            <a:off x="4343400" y="2880360"/>
            <a:ext cx="2377440" cy="411480"/>
          </a:xfrm>
          <a:prstGeom prst="rect">
            <a:avLst/>
          </a:prstGeom>
          <a:noFill/>
          <a:ln/>
        </p:spPr>
        <p:txBody>
          <a:bodyPr wrap="square" lIns="0" tIns="0" rIns="0" bIns="0" rtlCol="0" anchor="ctr"/>
          <a:lstStyle/>
          <a:p>
            <a:pPr indent="0" marL="0">
              <a:buNone/>
            </a:pPr>
            <a:r>
              <a:rPr lang="en-US" sz="1200" dirty="0">
                <a:solidFill>
                  <a:srgbClr val="1E2533"/>
                </a:solidFill>
                <a:latin typeface="Calibri" pitchFamily="34" charset="0"/>
                <a:ea typeface="Calibri" pitchFamily="34" charset="-122"/>
                <a:cs typeface="Calibri" pitchFamily="34" charset="-120"/>
              </a:rPr>
              <a:t>e1  CREATED</a:t>
            </a:r>
            <a:endParaRPr lang="en-US" sz="1200" dirty="0"/>
          </a:p>
        </p:txBody>
      </p:sp>
      <p:sp>
        <p:nvSpPr>
          <p:cNvPr id="17" name="Shape 15"/>
          <p:cNvSpPr/>
          <p:nvPr/>
        </p:nvSpPr>
        <p:spPr>
          <a:xfrm>
            <a:off x="4206240" y="3383280"/>
            <a:ext cx="2560320" cy="411480"/>
          </a:xfrm>
          <a:prstGeom prst="roundRect">
            <a:avLst>
              <a:gd name="adj" fmla="val 11111"/>
            </a:avLst>
          </a:prstGeom>
          <a:solidFill>
            <a:srgbClr val="FFFFFF"/>
          </a:solidFill>
          <a:ln w="9525">
            <a:solidFill>
              <a:srgbClr val="D5DCE8"/>
            </a:solidFill>
            <a:prstDash val="solid"/>
          </a:ln>
        </p:spPr>
      </p:sp>
      <p:sp>
        <p:nvSpPr>
          <p:cNvPr id="18" name="Text 16"/>
          <p:cNvSpPr txBox="1"/>
          <p:nvPr/>
        </p:nvSpPr>
        <p:spPr>
          <a:xfrm>
            <a:off x="4343400" y="3383280"/>
            <a:ext cx="2377440" cy="411480"/>
          </a:xfrm>
          <a:prstGeom prst="rect">
            <a:avLst/>
          </a:prstGeom>
          <a:noFill/>
          <a:ln/>
        </p:spPr>
        <p:txBody>
          <a:bodyPr wrap="square" lIns="0" tIns="0" rIns="0" bIns="0" rtlCol="0" anchor="ctr"/>
          <a:lstStyle/>
          <a:p>
            <a:pPr indent="0" marL="0">
              <a:buNone/>
            </a:pPr>
            <a:r>
              <a:rPr lang="en-US" sz="1200" dirty="0">
                <a:solidFill>
                  <a:srgbClr val="1E2533"/>
                </a:solidFill>
                <a:latin typeface="Calibri" pitchFamily="34" charset="0"/>
                <a:ea typeface="Calibri" pitchFamily="34" charset="-122"/>
                <a:cs typeface="Calibri" pitchFamily="34" charset="-120"/>
              </a:rPr>
              <a:t>e2  SENT</a:t>
            </a:r>
            <a:endParaRPr lang="en-US" sz="1200" dirty="0"/>
          </a:p>
        </p:txBody>
      </p:sp>
      <p:sp>
        <p:nvSpPr>
          <p:cNvPr id="19" name="Shape 17"/>
          <p:cNvSpPr/>
          <p:nvPr/>
        </p:nvSpPr>
        <p:spPr>
          <a:xfrm>
            <a:off x="4206240" y="3886200"/>
            <a:ext cx="2560320" cy="411480"/>
          </a:xfrm>
          <a:prstGeom prst="roundRect">
            <a:avLst>
              <a:gd name="adj" fmla="val 11111"/>
            </a:avLst>
          </a:prstGeom>
          <a:solidFill>
            <a:srgbClr val="FF9933"/>
          </a:solidFill>
          <a:ln w="9525">
            <a:solidFill>
              <a:srgbClr val="D5DCE8"/>
            </a:solidFill>
            <a:prstDash val="solid"/>
          </a:ln>
        </p:spPr>
      </p:sp>
      <p:sp>
        <p:nvSpPr>
          <p:cNvPr id="20" name="Text 18"/>
          <p:cNvSpPr txBox="1"/>
          <p:nvPr/>
        </p:nvSpPr>
        <p:spPr>
          <a:xfrm>
            <a:off x="4343400" y="3886200"/>
            <a:ext cx="237744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   comment: ICU bed held</a:t>
            </a:r>
            <a:endParaRPr lang="en-US" sz="1200" dirty="0"/>
          </a:p>
        </p:txBody>
      </p:sp>
      <p:sp>
        <p:nvSpPr>
          <p:cNvPr id="21" name="Text 19"/>
          <p:cNvSpPr txBox="1"/>
          <p:nvPr/>
        </p:nvSpPr>
        <p:spPr>
          <a:xfrm>
            <a:off x="3566160" y="3291840"/>
            <a:ext cx="411480" cy="548640"/>
          </a:xfrm>
          <a:prstGeom prst="rect">
            <a:avLst/>
          </a:prstGeom>
          <a:noFill/>
          <a:ln/>
        </p:spPr>
        <p:txBody>
          <a:bodyPr wrap="square" lIns="0" tIns="0" rIns="0" bIns="0" rtlCol="0" anchor="ctr"/>
          <a:lstStyle/>
          <a:p>
            <a:pPr algn="ctr" indent="0" marL="0">
              <a:buNone/>
            </a:pPr>
            <a:r>
              <a:rPr lang="en-US" sz="2800" b="1" dirty="0">
                <a:solidFill>
                  <a:srgbClr val="B45309"/>
                </a:solidFill>
                <a:latin typeface="Calibri" pitchFamily="34" charset="0"/>
                <a:ea typeface="Calibri" pitchFamily="34" charset="-122"/>
                <a:cs typeface="Calibri" pitchFamily="34" charset="-120"/>
              </a:rPr>
              <a:t>∥</a:t>
            </a:r>
            <a:endParaRPr lang="en-US" sz="2800" dirty="0"/>
          </a:p>
        </p:txBody>
      </p:sp>
      <p:sp>
        <p:nvSpPr>
          <p:cNvPr id="22" name="Text 20"/>
          <p:cNvSpPr txBox="1"/>
          <p:nvPr/>
        </p:nvSpPr>
        <p:spPr>
          <a:xfrm>
            <a:off x="7040880" y="3291840"/>
            <a:ext cx="411480" cy="548640"/>
          </a:xfrm>
          <a:prstGeom prst="rect">
            <a:avLst/>
          </a:prstGeom>
          <a:noFill/>
          <a:ln/>
        </p:spPr>
        <p:txBody>
          <a:bodyPr wrap="square" lIns="0" tIns="0" rIns="0" bIns="0" rtlCol="0" anchor="ctr"/>
          <a:lstStyle/>
          <a:p>
            <a:pPr algn="ctr" indent="0" marL="0">
              <a:buNone/>
            </a:pPr>
            <a:r>
              <a:rPr lang="en-US" sz="2800" b="1" dirty="0">
                <a:solidFill>
                  <a:srgbClr val="1F3A6E"/>
                </a:solidFill>
                <a:latin typeface="Calibri" pitchFamily="34" charset="0"/>
                <a:ea typeface="Calibri" pitchFamily="34" charset="-122"/>
                <a:cs typeface="Calibri" pitchFamily="34" charset="-120"/>
              </a:rPr>
              <a:t>=</a:t>
            </a:r>
            <a:endParaRPr lang="en-US" sz="2800" dirty="0"/>
          </a:p>
        </p:txBody>
      </p:sp>
      <p:sp>
        <p:nvSpPr>
          <p:cNvPr id="23" name="Shape 21"/>
          <p:cNvSpPr/>
          <p:nvPr/>
        </p:nvSpPr>
        <p:spPr>
          <a:xfrm>
            <a:off x="7452360" y="2286000"/>
            <a:ext cx="4190695" cy="2743200"/>
          </a:xfrm>
          <a:prstGeom prst="roundRect">
            <a:avLst>
              <a:gd name="adj" fmla="val 2667"/>
            </a:avLst>
          </a:prstGeom>
          <a:solidFill>
            <a:srgbClr val="E8F5E9"/>
          </a:solidFill>
          <a:ln w="12700">
            <a:solidFill>
              <a:srgbClr val="E8F5E9"/>
            </a:solidFill>
            <a:prstDash val="solid"/>
          </a:ln>
        </p:spPr>
      </p:sp>
      <p:sp>
        <p:nvSpPr>
          <p:cNvPr id="24" name="Text 22"/>
          <p:cNvSpPr txBox="1"/>
          <p:nvPr/>
        </p:nvSpPr>
        <p:spPr>
          <a:xfrm>
            <a:off x="7680960" y="2423160"/>
            <a:ext cx="3474720" cy="365760"/>
          </a:xfrm>
          <a:prstGeom prst="rect">
            <a:avLst/>
          </a:prstGeom>
          <a:noFill/>
          <a:ln/>
        </p:spPr>
        <p:txBody>
          <a:bodyPr wrap="square" lIns="0" tIns="0" rIns="0" bIns="0" rtlCol="0" anchor="t"/>
          <a:lstStyle/>
          <a:p>
            <a:pPr indent="0" marL="0">
              <a:buNone/>
            </a:pPr>
            <a:r>
              <a:rPr lang="en-US" sz="1500" b="1" dirty="0">
                <a:solidFill>
                  <a:srgbClr val="0D6E06"/>
                </a:solidFill>
                <a:latin typeface="Calibri" pitchFamily="34" charset="0"/>
                <a:ea typeface="Calibri" pitchFamily="34" charset="-122"/>
                <a:cs typeface="Calibri" pitchFamily="34" charset="-120"/>
              </a:rPr>
              <a:t>Merged on every device</a:t>
            </a:r>
            <a:endParaRPr lang="en-US" sz="1500" dirty="0"/>
          </a:p>
        </p:txBody>
      </p:sp>
      <p:sp>
        <p:nvSpPr>
          <p:cNvPr id="25" name="Shape 23"/>
          <p:cNvSpPr/>
          <p:nvPr/>
        </p:nvSpPr>
        <p:spPr>
          <a:xfrm>
            <a:off x="7680960" y="2880360"/>
            <a:ext cx="3733495" cy="411480"/>
          </a:xfrm>
          <a:prstGeom prst="roundRect">
            <a:avLst>
              <a:gd name="adj" fmla="val 11111"/>
            </a:avLst>
          </a:prstGeom>
          <a:solidFill>
            <a:srgbClr val="FFFFFF"/>
          </a:solidFill>
          <a:ln w="9525">
            <a:solidFill>
              <a:srgbClr val="A5D6A7"/>
            </a:solidFill>
            <a:prstDash val="solid"/>
          </a:ln>
        </p:spPr>
      </p:sp>
      <p:sp>
        <p:nvSpPr>
          <p:cNvPr id="26" name="Text 24"/>
          <p:cNvSpPr txBox="1"/>
          <p:nvPr/>
        </p:nvSpPr>
        <p:spPr>
          <a:xfrm>
            <a:off x="7818120" y="2880360"/>
            <a:ext cx="3504895" cy="411480"/>
          </a:xfrm>
          <a:prstGeom prst="rect">
            <a:avLst/>
          </a:prstGeom>
          <a:noFill/>
          <a:ln/>
        </p:spPr>
        <p:txBody>
          <a:bodyPr wrap="square" lIns="0" tIns="0" rIns="0" bIns="0" rtlCol="0" anchor="ctr"/>
          <a:lstStyle/>
          <a:p>
            <a:pPr indent="0" marL="0">
              <a:buNone/>
            </a:pPr>
            <a:r>
              <a:rPr lang="en-US" sz="1200" dirty="0">
                <a:solidFill>
                  <a:srgbClr val="1E2533"/>
                </a:solidFill>
                <a:latin typeface="Calibri" pitchFamily="34" charset="0"/>
                <a:ea typeface="Calibri" pitchFamily="34" charset="-122"/>
                <a:cs typeface="Calibri" pitchFamily="34" charset="-120"/>
              </a:rPr>
              <a:t>e1  CREATED</a:t>
            </a:r>
            <a:endParaRPr lang="en-US" sz="1200" dirty="0"/>
          </a:p>
        </p:txBody>
      </p:sp>
      <p:sp>
        <p:nvSpPr>
          <p:cNvPr id="27" name="Shape 25"/>
          <p:cNvSpPr/>
          <p:nvPr/>
        </p:nvSpPr>
        <p:spPr>
          <a:xfrm>
            <a:off x="7680960" y="3383280"/>
            <a:ext cx="3733495" cy="411480"/>
          </a:xfrm>
          <a:prstGeom prst="roundRect">
            <a:avLst>
              <a:gd name="adj" fmla="val 11111"/>
            </a:avLst>
          </a:prstGeom>
          <a:solidFill>
            <a:srgbClr val="FFFFFF"/>
          </a:solidFill>
          <a:ln w="9525">
            <a:solidFill>
              <a:srgbClr val="A5D6A7"/>
            </a:solidFill>
            <a:prstDash val="solid"/>
          </a:ln>
        </p:spPr>
      </p:sp>
      <p:sp>
        <p:nvSpPr>
          <p:cNvPr id="28" name="Text 26"/>
          <p:cNvSpPr txBox="1"/>
          <p:nvPr/>
        </p:nvSpPr>
        <p:spPr>
          <a:xfrm>
            <a:off x="7818120" y="3383280"/>
            <a:ext cx="3504895" cy="411480"/>
          </a:xfrm>
          <a:prstGeom prst="rect">
            <a:avLst/>
          </a:prstGeom>
          <a:noFill/>
          <a:ln/>
        </p:spPr>
        <p:txBody>
          <a:bodyPr wrap="square" lIns="0" tIns="0" rIns="0" bIns="0" rtlCol="0" anchor="ctr"/>
          <a:lstStyle/>
          <a:p>
            <a:pPr indent="0" marL="0">
              <a:buNone/>
            </a:pPr>
            <a:r>
              <a:rPr lang="en-US" sz="1200" dirty="0">
                <a:solidFill>
                  <a:srgbClr val="1E2533"/>
                </a:solidFill>
                <a:latin typeface="Calibri" pitchFamily="34" charset="0"/>
                <a:ea typeface="Calibri" pitchFamily="34" charset="-122"/>
                <a:cs typeface="Calibri" pitchFamily="34" charset="-120"/>
              </a:rPr>
              <a:t>e2  SENT</a:t>
            </a:r>
            <a:endParaRPr lang="en-US" sz="1200" dirty="0"/>
          </a:p>
        </p:txBody>
      </p:sp>
      <p:sp>
        <p:nvSpPr>
          <p:cNvPr id="29" name="Shape 27"/>
          <p:cNvSpPr/>
          <p:nvPr/>
        </p:nvSpPr>
        <p:spPr>
          <a:xfrm>
            <a:off x="7680960" y="3886200"/>
            <a:ext cx="3733495" cy="411480"/>
          </a:xfrm>
          <a:prstGeom prst="roundRect">
            <a:avLst>
              <a:gd name="adj" fmla="val 11111"/>
            </a:avLst>
          </a:prstGeom>
          <a:solidFill>
            <a:srgbClr val="FFFFFF"/>
          </a:solidFill>
          <a:ln w="9525">
            <a:solidFill>
              <a:srgbClr val="A5D6A7"/>
            </a:solidFill>
            <a:prstDash val="solid"/>
          </a:ln>
        </p:spPr>
      </p:sp>
      <p:sp>
        <p:nvSpPr>
          <p:cNvPr id="30" name="Text 28"/>
          <p:cNvSpPr txBox="1"/>
          <p:nvPr/>
        </p:nvSpPr>
        <p:spPr>
          <a:xfrm>
            <a:off x="7818120" y="3886200"/>
            <a:ext cx="3504895" cy="411480"/>
          </a:xfrm>
          <a:prstGeom prst="rect">
            <a:avLst/>
          </a:prstGeom>
          <a:noFill/>
          <a:ln/>
        </p:spPr>
        <p:txBody>
          <a:bodyPr wrap="square" lIns="0" tIns="0" rIns="0" bIns="0" rtlCol="0" anchor="ctr"/>
          <a:lstStyle/>
          <a:p>
            <a:pPr indent="0" marL="0">
              <a:buNone/>
            </a:pPr>
            <a:r>
              <a:rPr lang="en-US" sz="1200" dirty="0">
                <a:solidFill>
                  <a:srgbClr val="1E2533"/>
                </a:solidFill>
                <a:latin typeface="Calibri" pitchFamily="34" charset="0"/>
                <a:ea typeface="Calibri" pitchFamily="34" charset="-122"/>
                <a:cs typeface="Calibri" pitchFamily="34" charset="-120"/>
              </a:rPr>
              <a:t>a   note: BP 160/110</a:t>
            </a:r>
            <a:endParaRPr lang="en-US" sz="1200" dirty="0"/>
          </a:p>
        </p:txBody>
      </p:sp>
      <p:sp>
        <p:nvSpPr>
          <p:cNvPr id="31" name="Shape 29"/>
          <p:cNvSpPr/>
          <p:nvPr/>
        </p:nvSpPr>
        <p:spPr>
          <a:xfrm>
            <a:off x="7680960" y="4389120"/>
            <a:ext cx="3733495" cy="411480"/>
          </a:xfrm>
          <a:prstGeom prst="roundRect">
            <a:avLst>
              <a:gd name="adj" fmla="val 11111"/>
            </a:avLst>
          </a:prstGeom>
          <a:solidFill>
            <a:srgbClr val="FFFFFF"/>
          </a:solidFill>
          <a:ln w="9525">
            <a:solidFill>
              <a:srgbClr val="A5D6A7"/>
            </a:solidFill>
            <a:prstDash val="solid"/>
          </a:ln>
        </p:spPr>
      </p:sp>
      <p:sp>
        <p:nvSpPr>
          <p:cNvPr id="32" name="Text 30"/>
          <p:cNvSpPr txBox="1"/>
          <p:nvPr/>
        </p:nvSpPr>
        <p:spPr>
          <a:xfrm>
            <a:off x="7818120" y="4389120"/>
            <a:ext cx="3504895" cy="411480"/>
          </a:xfrm>
          <a:prstGeom prst="rect">
            <a:avLst/>
          </a:prstGeom>
          <a:noFill/>
          <a:ln/>
        </p:spPr>
        <p:txBody>
          <a:bodyPr wrap="square" lIns="0" tIns="0" rIns="0" bIns="0" rtlCol="0" anchor="ctr"/>
          <a:lstStyle/>
          <a:p>
            <a:pPr indent="0" marL="0">
              <a:buNone/>
            </a:pPr>
            <a:r>
              <a:rPr lang="en-US" sz="1200" dirty="0">
                <a:solidFill>
                  <a:srgbClr val="1E2533"/>
                </a:solidFill>
                <a:latin typeface="Calibri" pitchFamily="34" charset="0"/>
                <a:ea typeface="Calibri" pitchFamily="34" charset="-122"/>
                <a:cs typeface="Calibri" pitchFamily="34" charset="-120"/>
              </a:rPr>
              <a:t>b   comment: ICU bed held</a:t>
            </a:r>
            <a:endParaRPr lang="en-US" sz="1200" dirty="0"/>
          </a:p>
        </p:txBody>
      </p:sp>
      <p:sp>
        <p:nvSpPr>
          <p:cNvPr id="33" name="Shape 31"/>
          <p:cNvSpPr/>
          <p:nvPr/>
        </p:nvSpPr>
        <p:spPr>
          <a:xfrm>
            <a:off x="548640" y="5257800"/>
            <a:ext cx="11094415" cy="502920"/>
          </a:xfrm>
          <a:prstGeom prst="roundRect">
            <a:avLst>
              <a:gd name="adj" fmla="val 10909"/>
            </a:avLst>
          </a:prstGeom>
          <a:solidFill>
            <a:srgbClr val="11223F"/>
          </a:solidFill>
          <a:ln w="12700">
            <a:solidFill>
              <a:srgbClr val="11223F"/>
            </a:solidFill>
            <a:prstDash val="solid"/>
          </a:ln>
        </p:spPr>
      </p:sp>
      <p:sp>
        <p:nvSpPr>
          <p:cNvPr id="34" name="Text 32"/>
          <p:cNvSpPr txBox="1"/>
          <p:nvPr/>
        </p:nvSpPr>
        <p:spPr>
          <a:xfrm>
            <a:off x="731520" y="5367528"/>
            <a:ext cx="10728655" cy="283464"/>
          </a:xfrm>
          <a:prstGeom prst="rect">
            <a:avLst/>
          </a:prstGeom>
          <a:noFill/>
          <a:ln/>
        </p:spPr>
        <p:txBody>
          <a:bodyPr wrap="square" lIns="0" tIns="0" rIns="0" bIns="0" rtlCol="0" anchor="ctr"/>
          <a:lstStyle/>
          <a:p>
            <a:pPr indent="0" marL="0">
              <a:buNone/>
            </a:pPr>
            <a:r>
              <a:rPr lang="en-US" sz="1100" dirty="0">
                <a:solidFill>
                  <a:srgbClr val="E6ECF5"/>
                </a:solidFill>
                <a:latin typeface="Courier New" pitchFamily="34" charset="0"/>
                <a:ea typeface="Courier New" pitchFamily="34" charset="-122"/>
                <a:cs typeface="Courier New" pitchFamily="34" charset="-120"/>
              </a:rPr>
              <a:t>timeline: unionById(mine.timeline, theirs.timeline)   // lib/referrals/workflow.ts · mergeReferral()</a:t>
            </a:r>
            <a:endParaRPr lang="en-US" sz="1100" dirty="0"/>
          </a:p>
        </p:txBody>
      </p:sp>
      <p:sp>
        <p:nvSpPr>
          <p:cNvPr id="35" name="Text 33"/>
          <p:cNvSpPr txBox="1"/>
          <p:nvPr/>
        </p:nvSpPr>
        <p:spPr>
          <a:xfrm>
            <a:off x="548640" y="5852160"/>
            <a:ext cx="11094415" cy="365760"/>
          </a:xfrm>
          <a:prstGeom prst="rect">
            <a:avLst/>
          </a:prstGeom>
          <a:noFill/>
          <a:ln/>
        </p:spPr>
        <p:txBody>
          <a:bodyPr wrap="square" lIns="0" tIns="0" rIns="0" bIns="0" rtlCol="0" anchor="t"/>
          <a:lstStyle/>
          <a:p>
            <a:pPr indent="0" marL="0">
              <a:buNone/>
            </a:pPr>
            <a:r>
              <a:rPr lang="en-US" sz="1250" i="1" dirty="0">
                <a:solidFill>
                  <a:srgbClr val="1F3A6E"/>
                </a:solidFill>
                <a:latin typeface="Calibri" pitchFamily="34" charset="0"/>
                <a:ea typeface="Calibri" pitchFamily="34" charset="-122"/>
                <a:cs typeface="Calibri" pitchFamily="34" charset="-120"/>
              </a:rPr>
              <a:t>The union is order-independent and repeat-safe: merging in any order, any number of times, gives the same record.</a:t>
            </a:r>
            <a:endParaRPr lang="en-US" sz="1250" dirty="0"/>
          </a:p>
        </p:txBody>
      </p:sp>
      <p:sp>
        <p:nvSpPr>
          <p:cNvPr id="36" name="Text 34"/>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NalamMesh · 24CS502 Distributed and Cloud Computing</a:t>
            </a:r>
            <a:endParaRPr lang="en-US" sz="1000" dirty="0"/>
          </a:p>
        </p:txBody>
      </p:sp>
      <p:sp>
        <p:nvSpPr>
          <p:cNvPr id="37" name="Text 3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UNIT 2 · LOGICAL TIME</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200" b="1" dirty="0">
                <a:solidFill>
                  <a:srgbClr val="1F3A6E"/>
                </a:solidFill>
                <a:latin typeface="Cambria" pitchFamily="34" charset="0"/>
                <a:ea typeface="Cambria" pitchFamily="34" charset="-122"/>
                <a:cs typeface="Cambria" pitchFamily="34" charset="-120"/>
              </a:rPr>
              <a:t>No global clock: how NalamMesh orders records</a:t>
            </a:r>
            <a:endParaRPr lang="en-US" sz="3200" dirty="0"/>
          </a:p>
        </p:txBody>
      </p:sp>
      <p:sp>
        <p:nvSpPr>
          <p:cNvPr id="4" name="Shape 2"/>
          <p:cNvSpPr/>
          <p:nvPr/>
        </p:nvSpPr>
        <p:spPr>
          <a:xfrm>
            <a:off x="548640" y="1508760"/>
            <a:ext cx="5364328" cy="2971800"/>
          </a:xfrm>
          <a:prstGeom prst="roundRect">
            <a:avLst>
              <a:gd name="adj" fmla="val 2462"/>
            </a:avLst>
          </a:prstGeom>
          <a:solidFill>
            <a:srgbClr val="F1F3F7"/>
          </a:solidFill>
          <a:ln w="12700">
            <a:solidFill>
              <a:srgbClr val="F1F3F7"/>
            </a:solidFill>
            <a:prstDash val="solid"/>
          </a:ln>
        </p:spPr>
      </p:sp>
      <p:sp>
        <p:nvSpPr>
          <p:cNvPr id="5" name="Shape 3"/>
          <p:cNvSpPr/>
          <p:nvPr/>
        </p:nvSpPr>
        <p:spPr>
          <a:xfrm>
            <a:off x="822960" y="1737360"/>
            <a:ext cx="548640" cy="548640"/>
          </a:xfrm>
          <a:prstGeom prst="ellipse">
            <a:avLst/>
          </a:prstGeom>
          <a:solidFill>
            <a:srgbClr val="1F3A6E"/>
          </a:solidFill>
          <a:ln w="12700">
            <a:solidFill>
              <a:srgbClr val="1F3A6E"/>
            </a:solidFill>
            <a:prstDash val="solid"/>
          </a:ln>
        </p:spPr>
      </p:sp>
      <p:pic>
        <p:nvPicPr>
          <p:cNvPr id="6" name="Image 0" descr="preencoded.png">    </p:cNvPr>
          <p:cNvPicPr>
            <a:picLocks noChangeAspect="1"/>
          </p:cNvPicPr>
          <p:nvPr/>
        </p:nvPicPr>
        <p:blipFill>
          <a:blip r:embed="rId1"/>
          <a:stretch>
            <a:fillRect/>
          </a:stretch>
        </p:blipFill>
        <p:spPr>
          <a:xfrm>
            <a:off x="965606" y="1880006"/>
            <a:ext cx="263347" cy="263347"/>
          </a:xfrm>
          <a:prstGeom prst="rect">
            <a:avLst/>
          </a:prstGeom>
        </p:spPr>
      </p:pic>
      <p:sp>
        <p:nvSpPr>
          <p:cNvPr id="7" name="Text 4"/>
          <p:cNvSpPr txBox="1"/>
          <p:nvPr/>
        </p:nvSpPr>
        <p:spPr>
          <a:xfrm>
            <a:off x="1508760" y="1783080"/>
            <a:ext cx="4175608" cy="457200"/>
          </a:xfrm>
          <a:prstGeom prst="rect">
            <a:avLst/>
          </a:prstGeom>
          <a:noFill/>
          <a:ln/>
        </p:spPr>
        <p:txBody>
          <a:bodyPr wrap="square" lIns="0" tIns="0" rIns="0" bIns="0" rtlCol="0" anchor="ctr"/>
          <a:lstStyle/>
          <a:p>
            <a:pPr indent="0" marL="0">
              <a:buNone/>
            </a:pPr>
            <a:r>
              <a:rPr lang="en-US" sz="1700" b="1" dirty="0">
                <a:solidFill>
                  <a:srgbClr val="1F3A6E"/>
                </a:solidFill>
                <a:latin typeface="Calibri" pitchFamily="34" charset="0"/>
                <a:ea typeface="Calibri" pitchFamily="34" charset="-122"/>
                <a:cs typeface="Calibri" pitchFamily="34" charset="-120"/>
              </a:rPr>
              <a:t>What the code does today</a:t>
            </a:r>
            <a:endParaRPr lang="en-US" sz="1700" dirty="0"/>
          </a:p>
        </p:txBody>
      </p:sp>
      <p:sp>
        <p:nvSpPr>
          <p:cNvPr id="8" name="Text 5"/>
          <p:cNvSpPr txBox="1"/>
          <p:nvPr/>
        </p:nvSpPr>
        <p:spPr>
          <a:xfrm>
            <a:off x="822960" y="2423160"/>
            <a:ext cx="4815688" cy="1965960"/>
          </a:xfrm>
          <a:prstGeom prst="rect">
            <a:avLst/>
          </a:prstGeom>
          <a:noFill/>
          <a:ln/>
        </p:spPr>
        <p:txBody>
          <a:bodyPr wrap="square" lIns="0" tIns="0" rIns="0" bIns="0" rtlCol="0" anchor="t"/>
          <a:lstStyle/>
          <a:p>
            <a:pPr indent="0" marL="0">
              <a:buNone/>
            </a:pPr>
            <a:r>
              <a:rPr lang="en-US" sz="1350" b="1" dirty="0">
                <a:solidFill>
                  <a:srgbClr val="1F3A6E"/>
                </a:solidFill>
                <a:latin typeface="Calibri" pitchFamily="34" charset="0"/>
                <a:ea typeface="Calibri" pitchFamily="34" charset="-122"/>
                <a:cs typeface="Calibri" pitchFamily="34" charset="-120"/>
              </a:rPr>
              <a:t>updated_at</a:t>
            </a:r>
            <a:pPr indent="0" marL="0">
              <a:buNone/>
            </a:pPr>
            <a:r>
              <a:rPr lang="en-US" sz="1350" dirty="0">
                <a:solidFill>
                  <a:srgbClr val="1E2533"/>
                </a:solidFill>
                <a:latin typeface="Calibri" pitchFamily="34" charset="0"/>
                <a:ea typeface="Calibri" pitchFamily="34" charset="-122"/>
                <a:cs typeface="Calibri" pitchFamily="34" charset="-120"/>
              </a:rPr>
              <a:t> (device clock): decides only whether a new copy of the same record is newer — last-write-wins.</a:t>
            </a:r>
            <a:endParaRPr lang="en-US" sz="1350" dirty="0"/>
          </a:p>
          <a:p>
            <a:pPr indent="0" marL="0">
              <a:buNone/>
            </a:pPr>
            <a:r>
              <a:rPr lang="en-US" sz="600" dirty="0">
                <a:solidFill>
                  <a:srgbClr val="1E2533"/>
                </a:solidFill>
                <a:latin typeface="Calibri" pitchFamily="34" charset="0"/>
                <a:ea typeface="Calibri" pitchFamily="34" charset="-122"/>
                <a:cs typeface="Calibri" pitchFamily="34" charset="-120"/>
              </a:rPr>
              <a:t> </a:t>
            </a:r>
            <a:endParaRPr lang="en-US" sz="1350" dirty="0"/>
          </a:p>
          <a:p>
            <a:pPr indent="0" marL="0">
              <a:buNone/>
            </a:pPr>
            <a:r>
              <a:rPr lang="en-US" sz="1350" b="1" dirty="0">
                <a:solidFill>
                  <a:srgbClr val="1F3A6E"/>
                </a:solidFill>
                <a:latin typeface="Calibri" pitchFamily="34" charset="0"/>
                <a:ea typeface="Calibri" pitchFamily="34" charset="-122"/>
                <a:cs typeface="Calibri" pitchFamily="34" charset="-120"/>
              </a:rPr>
              <a:t>received_at</a:t>
            </a:r>
            <a:pPr indent="0" marL="0">
              <a:buNone/>
            </a:pPr>
            <a:r>
              <a:rPr lang="en-US" sz="1350" dirty="0">
                <a:solidFill>
                  <a:srgbClr val="1E2533"/>
                </a:solidFill>
                <a:latin typeface="Calibri" pitchFamily="34" charset="0"/>
                <a:ea typeface="Calibri" pitchFamily="34" charset="-122"/>
                <a:cs typeface="Calibri" pitchFamily="34" charset="-120"/>
              </a:rPr>
              <a:t> (cloud clock): orders records from different devices, because field clocks “are not reliably set”.</a:t>
            </a:r>
            <a:endParaRPr lang="en-US" sz="1350" dirty="0"/>
          </a:p>
          <a:p>
            <a:pPr indent="0" marL="0">
              <a:buNone/>
            </a:pPr>
            <a:r>
              <a:rPr lang="en-US" sz="600" dirty="0">
                <a:solidFill>
                  <a:srgbClr val="1E2533"/>
                </a:solidFill>
                <a:latin typeface="Calibri" pitchFamily="34" charset="0"/>
                <a:ea typeface="Calibri" pitchFamily="34" charset="-122"/>
                <a:cs typeface="Calibri" pitchFamily="34" charset="-120"/>
              </a:rPr>
              <a:t> </a:t>
            </a:r>
            <a:endParaRPr lang="en-US" sz="1350" dirty="0"/>
          </a:p>
          <a:p>
            <a:pPr indent="0" marL="0">
              <a:buNone/>
            </a:pPr>
            <a:r>
              <a:rPr lang="en-US" sz="1350" b="1" dirty="0">
                <a:solidFill>
                  <a:srgbClr val="1F3A6E"/>
                </a:solidFill>
                <a:latin typeface="Calibri" pitchFamily="34" charset="0"/>
                <a:ea typeface="Calibri" pitchFamily="34" charset="-122"/>
                <a:cs typeface="Calibri" pitchFamily="34" charset="-120"/>
              </a:rPr>
              <a:t>since t</a:t>
            </a:r>
            <a:pPr indent="0" marL="0">
              <a:buNone/>
            </a:pPr>
            <a:r>
              <a:rPr lang="en-US" sz="1350" dirty="0">
                <a:solidFill>
                  <a:srgbClr val="1E2533"/>
                </a:solidFill>
                <a:latin typeface="Calibri" pitchFamily="34" charset="0"/>
                <a:ea typeface="Calibri" pitchFamily="34" charset="-122"/>
                <a:cs typeface="Calibri" pitchFamily="34" charset="-120"/>
              </a:rPr>
              <a:t> (relay clock): catch-up asks for everything newer than the relay’s last serverTime.</a:t>
            </a:r>
            <a:endParaRPr lang="en-US" sz="1350" dirty="0"/>
          </a:p>
        </p:txBody>
      </p:sp>
      <p:sp>
        <p:nvSpPr>
          <p:cNvPr id="9" name="Shape 6"/>
          <p:cNvSpPr/>
          <p:nvPr/>
        </p:nvSpPr>
        <p:spPr>
          <a:xfrm>
            <a:off x="6278728" y="1508760"/>
            <a:ext cx="5364328" cy="2971800"/>
          </a:xfrm>
          <a:prstGeom prst="roundRect">
            <a:avLst>
              <a:gd name="adj" fmla="val 2462"/>
            </a:avLst>
          </a:prstGeom>
          <a:solidFill>
            <a:srgbClr val="FFFBEB"/>
          </a:solidFill>
          <a:ln w="12700">
            <a:solidFill>
              <a:srgbClr val="FFFBEB"/>
            </a:solidFill>
            <a:prstDash val="solid"/>
          </a:ln>
        </p:spPr>
      </p:sp>
      <p:sp>
        <p:nvSpPr>
          <p:cNvPr id="10" name="Shape 7"/>
          <p:cNvSpPr/>
          <p:nvPr/>
        </p:nvSpPr>
        <p:spPr>
          <a:xfrm>
            <a:off x="6553048" y="1737360"/>
            <a:ext cx="548640" cy="548640"/>
          </a:xfrm>
          <a:prstGeom prst="ellipse">
            <a:avLst/>
          </a:prstGeom>
          <a:solidFill>
            <a:srgbClr val="B45309"/>
          </a:solidFill>
          <a:ln w="12700">
            <a:solidFill>
              <a:srgbClr val="B45309"/>
            </a:solidFill>
            <a:prstDash val="solid"/>
          </a:ln>
        </p:spPr>
      </p:sp>
      <p:pic>
        <p:nvPicPr>
          <p:cNvPr id="11" name="Image 1" descr="preencoded.png">    </p:cNvPr>
          <p:cNvPicPr>
            <a:picLocks noChangeAspect="1"/>
          </p:cNvPicPr>
          <p:nvPr/>
        </p:nvPicPr>
        <p:blipFill>
          <a:blip r:embed="rId2"/>
          <a:stretch>
            <a:fillRect/>
          </a:stretch>
        </p:blipFill>
        <p:spPr>
          <a:xfrm>
            <a:off x="6695694" y="1880006"/>
            <a:ext cx="263347" cy="263347"/>
          </a:xfrm>
          <a:prstGeom prst="rect">
            <a:avLst/>
          </a:prstGeom>
        </p:spPr>
      </p:pic>
      <p:sp>
        <p:nvSpPr>
          <p:cNvPr id="12" name="Text 8"/>
          <p:cNvSpPr txBox="1"/>
          <p:nvPr/>
        </p:nvSpPr>
        <p:spPr>
          <a:xfrm>
            <a:off x="7238848" y="1783080"/>
            <a:ext cx="4175608" cy="457200"/>
          </a:xfrm>
          <a:prstGeom prst="rect">
            <a:avLst/>
          </a:prstGeom>
          <a:noFill/>
          <a:ln/>
        </p:spPr>
        <p:txBody>
          <a:bodyPr wrap="square" lIns="0" tIns="0" rIns="0" bIns="0" rtlCol="0" anchor="ctr"/>
          <a:lstStyle/>
          <a:p>
            <a:pPr indent="0" marL="0">
              <a:buNone/>
            </a:pPr>
            <a:r>
              <a:rPr lang="en-US" sz="1700" b="1" dirty="0">
                <a:solidFill>
                  <a:srgbClr val="B45309"/>
                </a:solidFill>
                <a:latin typeface="Calibri" pitchFamily="34" charset="0"/>
                <a:ea typeface="Calibri" pitchFamily="34" charset="-122"/>
                <a:cs typeface="Calibri" pitchFamily="34" charset="-120"/>
              </a:rPr>
              <a:t>Where physical time breaks</a:t>
            </a:r>
            <a:endParaRPr lang="en-US" sz="1700" dirty="0"/>
          </a:p>
        </p:txBody>
      </p:sp>
      <p:sp>
        <p:nvSpPr>
          <p:cNvPr id="13" name="Text 9"/>
          <p:cNvSpPr txBox="1"/>
          <p:nvPr/>
        </p:nvSpPr>
        <p:spPr>
          <a:xfrm>
            <a:off x="6553048" y="2423160"/>
            <a:ext cx="4815688" cy="914400"/>
          </a:xfrm>
          <a:prstGeom prst="rect">
            <a:avLst/>
          </a:prstGeom>
          <a:noFill/>
          <a:ln/>
        </p:spPr>
        <p:txBody>
          <a:bodyPr wrap="square" lIns="0" tIns="0" rIns="0" bIns="0" rtlCol="0" anchor="t"/>
          <a:lstStyle/>
          <a:p>
            <a:pPr indent="0" marL="0">
              <a:buNone/>
            </a:pPr>
            <a:r>
              <a:rPr lang="en-US" sz="1350" dirty="0">
                <a:solidFill>
                  <a:srgbClr val="1E2533"/>
                </a:solidFill>
                <a:latin typeface="Calibri" pitchFamily="34" charset="0"/>
                <a:ea typeface="Calibri" pitchFamily="34" charset="-122"/>
                <a:cs typeface="Calibri" pitchFamily="34" charset="-120"/>
              </a:rPr>
              <a:t>Device A’s clock runs 5 minutes fast. B edits the same patient after A, but B’s timestamp is smaller. Last-write-wins keeps A’s older edit and silently drops B’s.</a:t>
            </a:r>
            <a:endParaRPr lang="en-US" sz="1350" dirty="0"/>
          </a:p>
        </p:txBody>
      </p:sp>
      <p:sp>
        <p:nvSpPr>
          <p:cNvPr id="14" name="Shape 10"/>
          <p:cNvSpPr/>
          <p:nvPr/>
        </p:nvSpPr>
        <p:spPr>
          <a:xfrm>
            <a:off x="6553048" y="3429000"/>
            <a:ext cx="4815688" cy="365760"/>
          </a:xfrm>
          <a:prstGeom prst="roundRect">
            <a:avLst>
              <a:gd name="adj" fmla="val 12500"/>
            </a:avLst>
          </a:prstGeom>
          <a:solidFill>
            <a:srgbClr val="FFFFFF"/>
          </a:solidFill>
          <a:ln w="9525">
            <a:solidFill>
              <a:srgbClr val="EBD9B0"/>
            </a:solidFill>
            <a:prstDash val="solid"/>
          </a:ln>
        </p:spPr>
      </p:sp>
      <p:sp>
        <p:nvSpPr>
          <p:cNvPr id="15" name="Text 11"/>
          <p:cNvSpPr txBox="1"/>
          <p:nvPr/>
        </p:nvSpPr>
        <p:spPr>
          <a:xfrm>
            <a:off x="6690208" y="3429000"/>
            <a:ext cx="4541368" cy="365760"/>
          </a:xfrm>
          <a:prstGeom prst="rect">
            <a:avLst/>
          </a:prstGeom>
          <a:noFill/>
          <a:ln/>
        </p:spPr>
        <p:txBody>
          <a:bodyPr wrap="square" lIns="0" tIns="0" rIns="0" bIns="0" rtlCol="0" anchor="ctr"/>
          <a:lstStyle/>
          <a:p>
            <a:pPr indent="0" marL="0">
              <a:buNone/>
            </a:pPr>
            <a:r>
              <a:rPr lang="en-US" sz="1250" b="1" dirty="0">
                <a:solidFill>
                  <a:srgbClr val="1F3A6E"/>
                </a:solidFill>
                <a:latin typeface="Calibri" pitchFamily="34" charset="0"/>
                <a:ea typeface="Calibri" pitchFamily="34" charset="-122"/>
                <a:cs typeface="Calibri" pitchFamily="34" charset="-120"/>
              </a:rPr>
              <a:t>Edit A   </a:t>
            </a:r>
            <a:pPr indent="0" marL="0">
              <a:buNone/>
            </a:pPr>
            <a:r>
              <a:rPr lang="en-US" sz="1250" dirty="0">
                <a:solidFill>
                  <a:srgbClr val="1E2533"/>
                </a:solidFill>
                <a:latin typeface="Calibri" pitchFamily="34" charset="0"/>
                <a:ea typeface="Calibri" pitchFamily="34" charset="-122"/>
                <a:cs typeface="Calibri" pitchFamily="34" charset="-120"/>
              </a:rPr>
              <a:t>real 10:00  ·  stamped 10:05   →  </a:t>
            </a:r>
            <a:pPr indent="0" marL="0">
              <a:buNone/>
            </a:pPr>
            <a:r>
              <a:rPr lang="en-US" sz="1250" b="1" dirty="0">
                <a:solidFill>
                  <a:srgbClr val="1F3A6E"/>
                </a:solidFill>
                <a:latin typeface="Calibri" pitchFamily="34" charset="0"/>
                <a:ea typeface="Calibri" pitchFamily="34" charset="-122"/>
                <a:cs typeface="Calibri" pitchFamily="34" charset="-120"/>
              </a:rPr>
              <a:t>kept</a:t>
            </a:r>
            <a:endParaRPr lang="en-US" sz="1250" dirty="0"/>
          </a:p>
        </p:txBody>
      </p:sp>
      <p:sp>
        <p:nvSpPr>
          <p:cNvPr id="16" name="Shape 12"/>
          <p:cNvSpPr/>
          <p:nvPr/>
        </p:nvSpPr>
        <p:spPr>
          <a:xfrm>
            <a:off x="6553048" y="3886200"/>
            <a:ext cx="4815688" cy="365760"/>
          </a:xfrm>
          <a:prstGeom prst="roundRect">
            <a:avLst>
              <a:gd name="adj" fmla="val 12500"/>
            </a:avLst>
          </a:prstGeom>
          <a:solidFill>
            <a:srgbClr val="FFFFFF"/>
          </a:solidFill>
          <a:ln w="9525">
            <a:solidFill>
              <a:srgbClr val="EBD9B0"/>
            </a:solidFill>
            <a:prstDash val="solid"/>
          </a:ln>
        </p:spPr>
      </p:sp>
      <p:sp>
        <p:nvSpPr>
          <p:cNvPr id="17" name="Text 13"/>
          <p:cNvSpPr txBox="1"/>
          <p:nvPr/>
        </p:nvSpPr>
        <p:spPr>
          <a:xfrm>
            <a:off x="6690208" y="3886200"/>
            <a:ext cx="4541368" cy="365760"/>
          </a:xfrm>
          <a:prstGeom prst="rect">
            <a:avLst/>
          </a:prstGeom>
          <a:noFill/>
          <a:ln/>
        </p:spPr>
        <p:txBody>
          <a:bodyPr wrap="square" lIns="0" tIns="0" rIns="0" bIns="0" rtlCol="0" anchor="ctr"/>
          <a:lstStyle/>
          <a:p>
            <a:pPr indent="0" marL="0">
              <a:buNone/>
            </a:pPr>
            <a:r>
              <a:rPr lang="en-US" sz="1250" b="1" dirty="0">
                <a:solidFill>
                  <a:srgbClr val="1F3A6E"/>
                </a:solidFill>
                <a:latin typeface="Calibri" pitchFamily="34" charset="0"/>
                <a:ea typeface="Calibri" pitchFamily="34" charset="-122"/>
                <a:cs typeface="Calibri" pitchFamily="34" charset="-120"/>
              </a:rPr>
              <a:t>Edit B   </a:t>
            </a:r>
            <a:pPr indent="0" marL="0">
              <a:buNone/>
            </a:pPr>
            <a:r>
              <a:rPr lang="en-US" sz="1250" dirty="0">
                <a:solidFill>
                  <a:srgbClr val="1E2533"/>
                </a:solidFill>
                <a:latin typeface="Calibri" pitchFamily="34" charset="0"/>
                <a:ea typeface="Calibri" pitchFamily="34" charset="-122"/>
                <a:cs typeface="Calibri" pitchFamily="34" charset="-120"/>
              </a:rPr>
              <a:t>real 10:03  ·  stamped 10:03   →  </a:t>
            </a:r>
            <a:pPr indent="0" marL="0">
              <a:buNone/>
            </a:pPr>
            <a:r>
              <a:rPr lang="en-US" sz="1250" b="1" dirty="0">
                <a:solidFill>
                  <a:srgbClr val="C53030"/>
                </a:solidFill>
                <a:latin typeface="Calibri" pitchFamily="34" charset="0"/>
                <a:ea typeface="Calibri" pitchFamily="34" charset="-122"/>
                <a:cs typeface="Calibri" pitchFamily="34" charset="-120"/>
              </a:rPr>
              <a:t>dropped</a:t>
            </a:r>
            <a:endParaRPr lang="en-US" sz="1250" dirty="0"/>
          </a:p>
        </p:txBody>
      </p:sp>
      <p:sp>
        <p:nvSpPr>
          <p:cNvPr id="18" name="Shape 14"/>
          <p:cNvSpPr/>
          <p:nvPr/>
        </p:nvSpPr>
        <p:spPr>
          <a:xfrm>
            <a:off x="548640" y="4709160"/>
            <a:ext cx="11094415" cy="1371600"/>
          </a:xfrm>
          <a:prstGeom prst="roundRect">
            <a:avLst>
              <a:gd name="adj" fmla="val 5333"/>
            </a:avLst>
          </a:prstGeom>
          <a:solidFill>
            <a:srgbClr val="1F3A6E"/>
          </a:solidFill>
          <a:ln w="12700">
            <a:solidFill>
              <a:srgbClr val="1F3A6E"/>
            </a:solidFill>
            <a:prstDash val="solid"/>
          </a:ln>
        </p:spPr>
      </p:sp>
      <p:sp>
        <p:nvSpPr>
          <p:cNvPr id="19" name="Text 15"/>
          <p:cNvSpPr txBox="1"/>
          <p:nvPr/>
        </p:nvSpPr>
        <p:spPr>
          <a:xfrm>
            <a:off x="868680" y="4846320"/>
            <a:ext cx="3657600" cy="365760"/>
          </a:xfrm>
          <a:prstGeom prst="rect">
            <a:avLst/>
          </a:prstGeom>
          <a:noFill/>
          <a:ln/>
        </p:spPr>
        <p:txBody>
          <a:bodyPr wrap="square" lIns="0" tIns="0" rIns="0" bIns="0" rtlCol="0" anchor="t"/>
          <a:lstStyle/>
          <a:p>
            <a:pPr indent="0" marL="0">
              <a:buNone/>
            </a:pPr>
            <a:r>
              <a:rPr lang="en-US" sz="1500" b="1" dirty="0">
                <a:solidFill>
                  <a:srgbClr val="FF9933"/>
                </a:solidFill>
                <a:latin typeface="Calibri" pitchFamily="34" charset="0"/>
                <a:ea typeface="Calibri" pitchFamily="34" charset="-122"/>
                <a:cs typeface="Calibri" pitchFamily="34" charset="-120"/>
              </a:rPr>
              <a:t>The Unit 2 answer</a:t>
            </a:r>
            <a:endParaRPr lang="en-US" sz="1500" dirty="0"/>
          </a:p>
        </p:txBody>
      </p:sp>
      <p:sp>
        <p:nvSpPr>
          <p:cNvPr id="20" name="Text 16"/>
          <p:cNvSpPr txBox="1"/>
          <p:nvPr/>
        </p:nvSpPr>
        <p:spPr>
          <a:xfrm>
            <a:off x="868680" y="5212080"/>
            <a:ext cx="10454335" cy="7772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Scalar (Lamport) clocks give a consistent order without trusting any wall clock. Vector clocks go further: if neither vector is smaller, the edits are concurrent, so the system can merge them or ask a person instead of overwriting.</a:t>
            </a:r>
            <a:endParaRPr lang="en-US" sz="1350" dirty="0"/>
          </a:p>
        </p:txBody>
      </p:sp>
      <p:sp>
        <p:nvSpPr>
          <p:cNvPr id="21" name="Text 17"/>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NalamMesh · 24CS502 Distributed and Cloud Computing</a:t>
            </a:r>
            <a:endParaRPr lang="en-US" sz="1000" dirty="0"/>
          </a:p>
        </p:txBody>
      </p:sp>
      <p:sp>
        <p:nvSpPr>
          <p:cNvPr id="22" name="Text 1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UNIT 2 · CHANNELS, MESSAGES AND RECOVERY</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200" b="1" dirty="0">
                <a:solidFill>
                  <a:srgbClr val="1F3A6E"/>
                </a:solidFill>
                <a:latin typeface="Cambria" pitchFamily="34" charset="0"/>
                <a:ea typeface="Cambria" pitchFamily="34" charset="-122"/>
                <a:cs typeface="Cambria" pitchFamily="34" charset="-120"/>
              </a:rPr>
              <a:t>FIFO delivery, catch-up and duplicate handling</a:t>
            </a:r>
            <a:endParaRPr lang="en-US" sz="3200" dirty="0"/>
          </a:p>
        </p:txBody>
      </p:sp>
      <p:sp>
        <p:nvSpPr>
          <p:cNvPr id="4" name="Shape 2"/>
          <p:cNvSpPr/>
          <p:nvPr/>
        </p:nvSpPr>
        <p:spPr>
          <a:xfrm>
            <a:off x="548640" y="1508760"/>
            <a:ext cx="3515258" cy="4526280"/>
          </a:xfrm>
          <a:prstGeom prst="roundRect">
            <a:avLst>
              <a:gd name="adj" fmla="val 2081"/>
            </a:avLst>
          </a:prstGeom>
          <a:solidFill>
            <a:srgbClr val="F1F3F7"/>
          </a:solidFill>
          <a:ln w="12700">
            <a:solidFill>
              <a:srgbClr val="F1F3F7"/>
            </a:solidFill>
            <a:prstDash val="solid"/>
          </a:ln>
        </p:spPr>
      </p:sp>
      <p:sp>
        <p:nvSpPr>
          <p:cNvPr id="5" name="Shape 3"/>
          <p:cNvSpPr/>
          <p:nvPr/>
        </p:nvSpPr>
        <p:spPr>
          <a:xfrm>
            <a:off x="822960" y="1737360"/>
            <a:ext cx="566928" cy="566928"/>
          </a:xfrm>
          <a:prstGeom prst="ellipse">
            <a:avLst/>
          </a:prstGeom>
          <a:solidFill>
            <a:srgbClr val="1F3A6E"/>
          </a:solidFill>
          <a:ln w="12700">
            <a:solidFill>
              <a:srgbClr val="1F3A6E"/>
            </a:solidFill>
            <a:prstDash val="solid"/>
          </a:ln>
        </p:spPr>
      </p:sp>
      <p:pic>
        <p:nvPicPr>
          <p:cNvPr id="6" name="Image 0" descr="preencoded.png">    </p:cNvPr>
          <p:cNvPicPr>
            <a:picLocks noChangeAspect="1"/>
          </p:cNvPicPr>
          <p:nvPr/>
        </p:nvPicPr>
        <p:blipFill>
          <a:blip r:embed="rId1"/>
          <a:stretch>
            <a:fillRect/>
          </a:stretch>
        </p:blipFill>
        <p:spPr>
          <a:xfrm>
            <a:off x="970361" y="1884761"/>
            <a:ext cx="272125" cy="272125"/>
          </a:xfrm>
          <a:prstGeom prst="rect">
            <a:avLst/>
          </a:prstGeom>
        </p:spPr>
      </p:pic>
      <p:sp>
        <p:nvSpPr>
          <p:cNvPr id="7" name="Text 4"/>
          <p:cNvSpPr txBox="1"/>
          <p:nvPr/>
        </p:nvSpPr>
        <p:spPr>
          <a:xfrm>
            <a:off x="822960" y="2468880"/>
            <a:ext cx="2966618" cy="411480"/>
          </a:xfrm>
          <a:prstGeom prst="rect">
            <a:avLst/>
          </a:prstGeom>
          <a:noFill/>
          <a:ln/>
        </p:spPr>
        <p:txBody>
          <a:bodyPr wrap="square" lIns="0" tIns="0" rIns="0" bIns="0" rtlCol="0" anchor="t"/>
          <a:lstStyle/>
          <a:p>
            <a:pPr indent="0" marL="0">
              <a:buNone/>
            </a:pPr>
            <a:r>
              <a:rPr lang="en-US" sz="1600" b="1" dirty="0">
                <a:solidFill>
                  <a:srgbClr val="1F3A6E"/>
                </a:solidFill>
                <a:latin typeface="Calibri" pitchFamily="34" charset="0"/>
                <a:ea typeface="Calibri" pitchFamily="34" charset="-122"/>
                <a:cs typeface="Calibri" pitchFamily="34" charset="-120"/>
              </a:rPr>
              <a:t>FIFO to the cloud</a:t>
            </a:r>
            <a:endParaRPr lang="en-US" sz="1600" dirty="0"/>
          </a:p>
        </p:txBody>
      </p:sp>
      <p:sp>
        <p:nvSpPr>
          <p:cNvPr id="8" name="Text 5"/>
          <p:cNvSpPr txBox="1"/>
          <p:nvPr/>
        </p:nvSpPr>
        <p:spPr>
          <a:xfrm>
            <a:off x="822960" y="2971800"/>
            <a:ext cx="2966618"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Outbox uploads oldest change first, one at a time.</a:t>
            </a:r>
            <a:endParaRPr lang="en-US" sz="1300" dirty="0"/>
          </a:p>
          <a:p>
            <a:pPr marL="342900" indent="-3429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Reason: the server applies last-write-wins, so out-of-order delivery could land an older edit on a newer one.</a:t>
            </a:r>
            <a:endParaRPr lang="en-US" sz="1300" dirty="0"/>
          </a:p>
          <a:p>
            <a:pPr marL="342900" indent="-3429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Same assumption as Chandy–Lamport: FIFO channels.</a:t>
            </a:r>
            <a:endParaRPr lang="en-US" sz="1300" dirty="0"/>
          </a:p>
        </p:txBody>
      </p:sp>
      <p:sp>
        <p:nvSpPr>
          <p:cNvPr id="9" name="Text 6"/>
          <p:cNvSpPr txBox="1"/>
          <p:nvPr/>
        </p:nvSpPr>
        <p:spPr>
          <a:xfrm>
            <a:off x="822960" y="5577840"/>
            <a:ext cx="2966618" cy="274320"/>
          </a:xfrm>
          <a:prstGeom prst="rect">
            <a:avLst/>
          </a:prstGeom>
          <a:noFill/>
          <a:ln/>
        </p:spPr>
        <p:txBody>
          <a:bodyPr wrap="square" lIns="0" tIns="0" rIns="0" bIns="0" rtlCol="0" anchor="t"/>
          <a:lstStyle/>
          <a:p>
            <a:pPr indent="0" marL="0">
              <a:buNone/>
            </a:pPr>
            <a:r>
              <a:rPr lang="en-US" sz="1000" dirty="0">
                <a:solidFill>
                  <a:srgbClr val="5B6475"/>
                </a:solidFill>
                <a:latin typeface="Courier New" pitchFamily="34" charset="0"/>
                <a:ea typeface="Courier New" pitchFamily="34" charset="-122"/>
                <a:cs typeface="Courier New" pitchFamily="34" charset="-120"/>
              </a:rPr>
              <a:t>lib/db.ts · getSyncQueue()</a:t>
            </a:r>
            <a:endParaRPr lang="en-US" sz="1000" dirty="0"/>
          </a:p>
        </p:txBody>
      </p:sp>
      <p:sp>
        <p:nvSpPr>
          <p:cNvPr id="10" name="Shape 7"/>
          <p:cNvSpPr/>
          <p:nvPr/>
        </p:nvSpPr>
        <p:spPr>
          <a:xfrm>
            <a:off x="4338218" y="1508760"/>
            <a:ext cx="3515258" cy="4526280"/>
          </a:xfrm>
          <a:prstGeom prst="roundRect">
            <a:avLst>
              <a:gd name="adj" fmla="val 2081"/>
            </a:avLst>
          </a:prstGeom>
          <a:solidFill>
            <a:srgbClr val="F1F3F7"/>
          </a:solidFill>
          <a:ln w="12700">
            <a:solidFill>
              <a:srgbClr val="F1F3F7"/>
            </a:solidFill>
            <a:prstDash val="solid"/>
          </a:ln>
        </p:spPr>
      </p:sp>
      <p:sp>
        <p:nvSpPr>
          <p:cNvPr id="11" name="Shape 8"/>
          <p:cNvSpPr/>
          <p:nvPr/>
        </p:nvSpPr>
        <p:spPr>
          <a:xfrm>
            <a:off x="4612538" y="1737360"/>
            <a:ext cx="566928" cy="566928"/>
          </a:xfrm>
          <a:prstGeom prst="ellipse">
            <a:avLst/>
          </a:prstGeom>
          <a:solidFill>
            <a:srgbClr val="138808"/>
          </a:solidFill>
          <a:ln w="12700">
            <a:solidFill>
              <a:srgbClr val="138808"/>
            </a:solidFill>
            <a:prstDash val="solid"/>
          </a:ln>
        </p:spPr>
      </p:sp>
      <p:pic>
        <p:nvPicPr>
          <p:cNvPr id="12" name="Image 1" descr="preencoded.png">    </p:cNvPr>
          <p:cNvPicPr>
            <a:picLocks noChangeAspect="1"/>
          </p:cNvPicPr>
          <p:nvPr/>
        </p:nvPicPr>
        <p:blipFill>
          <a:blip r:embed="rId2"/>
          <a:stretch>
            <a:fillRect/>
          </a:stretch>
        </p:blipFill>
        <p:spPr>
          <a:xfrm>
            <a:off x="4759940" y="1884761"/>
            <a:ext cx="272125" cy="272125"/>
          </a:xfrm>
          <a:prstGeom prst="rect">
            <a:avLst/>
          </a:prstGeom>
        </p:spPr>
      </p:pic>
      <p:sp>
        <p:nvSpPr>
          <p:cNvPr id="13" name="Text 9"/>
          <p:cNvSpPr txBox="1"/>
          <p:nvPr/>
        </p:nvSpPr>
        <p:spPr>
          <a:xfrm>
            <a:off x="4612538" y="2468880"/>
            <a:ext cx="2966618" cy="411480"/>
          </a:xfrm>
          <a:prstGeom prst="rect">
            <a:avLst/>
          </a:prstGeom>
          <a:noFill/>
          <a:ln/>
        </p:spPr>
        <p:txBody>
          <a:bodyPr wrap="square" lIns="0" tIns="0" rIns="0" bIns="0" rtlCol="0" anchor="t"/>
          <a:lstStyle/>
          <a:p>
            <a:pPr indent="0" marL="0">
              <a:buNone/>
            </a:pPr>
            <a:r>
              <a:rPr lang="en-US" sz="1600" b="1" dirty="0">
                <a:solidFill>
                  <a:srgbClr val="138808"/>
                </a:solidFill>
                <a:latin typeface="Calibri" pitchFamily="34" charset="0"/>
                <a:ea typeface="Calibri" pitchFamily="34" charset="-122"/>
                <a:cs typeface="Calibri" pitchFamily="34" charset="-120"/>
              </a:rPr>
              <a:t>Catch-up on reconnect</a:t>
            </a:r>
            <a:endParaRPr lang="en-US" sz="1600" dirty="0"/>
          </a:p>
        </p:txBody>
      </p:sp>
      <p:sp>
        <p:nvSpPr>
          <p:cNvPr id="14" name="Text 10"/>
          <p:cNvSpPr txBox="1"/>
          <p:nvPr/>
        </p:nvSpPr>
        <p:spPr>
          <a:xfrm>
            <a:off x="4612538" y="2971800"/>
            <a:ext cx="2966618"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A node that was offline sends sync:request { since }.</a:t>
            </a:r>
            <a:endParaRPr lang="en-US" sz="1300" dirty="0"/>
          </a:p>
          <a:p>
            <a:pPr marL="342900" indent="-3429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The relay replays every cached record newer than since, in timestamp order.</a:t>
            </a:r>
            <a:endParaRPr lang="en-US" sz="1300" dirty="0"/>
          </a:p>
          <a:p>
            <a:pPr marL="342900" indent="-3429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Referral changes do the same via referral:catchup.</a:t>
            </a:r>
            <a:endParaRPr lang="en-US" sz="1300" dirty="0"/>
          </a:p>
        </p:txBody>
      </p:sp>
      <p:sp>
        <p:nvSpPr>
          <p:cNvPr id="15" name="Text 11"/>
          <p:cNvSpPr txBox="1"/>
          <p:nvPr/>
        </p:nvSpPr>
        <p:spPr>
          <a:xfrm>
            <a:off x="4612538" y="5577840"/>
            <a:ext cx="2966618" cy="274320"/>
          </a:xfrm>
          <a:prstGeom prst="rect">
            <a:avLst/>
          </a:prstGeom>
          <a:noFill/>
          <a:ln/>
        </p:spPr>
        <p:txBody>
          <a:bodyPr wrap="square" lIns="0" tIns="0" rIns="0" bIns="0" rtlCol="0" anchor="t"/>
          <a:lstStyle/>
          <a:p>
            <a:pPr indent="0" marL="0">
              <a:buNone/>
            </a:pPr>
            <a:r>
              <a:rPr lang="en-US" sz="1000" dirty="0">
                <a:solidFill>
                  <a:srgbClr val="5B6475"/>
                </a:solidFill>
                <a:latin typeface="Courier New" pitchFamily="34" charset="0"/>
                <a:ea typeface="Courier New" pitchFamily="34" charset="-122"/>
                <a:cs typeface="Courier New" pitchFamily="34" charset="-120"/>
              </a:rPr>
              <a:t>server/mesh-server.ts:348</a:t>
            </a:r>
            <a:endParaRPr lang="en-US" sz="1000" dirty="0"/>
          </a:p>
        </p:txBody>
      </p:sp>
      <p:sp>
        <p:nvSpPr>
          <p:cNvPr id="16" name="Shape 12"/>
          <p:cNvSpPr/>
          <p:nvPr/>
        </p:nvSpPr>
        <p:spPr>
          <a:xfrm>
            <a:off x="8127797" y="1508760"/>
            <a:ext cx="3515258" cy="4526280"/>
          </a:xfrm>
          <a:prstGeom prst="roundRect">
            <a:avLst>
              <a:gd name="adj" fmla="val 2081"/>
            </a:avLst>
          </a:prstGeom>
          <a:solidFill>
            <a:srgbClr val="F1F3F7"/>
          </a:solidFill>
          <a:ln w="12700">
            <a:solidFill>
              <a:srgbClr val="F1F3F7"/>
            </a:solidFill>
            <a:prstDash val="solid"/>
          </a:ln>
        </p:spPr>
      </p:sp>
      <p:sp>
        <p:nvSpPr>
          <p:cNvPr id="17" name="Shape 13"/>
          <p:cNvSpPr/>
          <p:nvPr/>
        </p:nvSpPr>
        <p:spPr>
          <a:xfrm>
            <a:off x="8402117" y="1737360"/>
            <a:ext cx="566928" cy="566928"/>
          </a:xfrm>
          <a:prstGeom prst="ellipse">
            <a:avLst/>
          </a:prstGeom>
          <a:solidFill>
            <a:srgbClr val="B45309"/>
          </a:solidFill>
          <a:ln w="12700">
            <a:solidFill>
              <a:srgbClr val="B45309"/>
            </a:solidFill>
            <a:prstDash val="solid"/>
          </a:ln>
        </p:spPr>
      </p:sp>
      <p:pic>
        <p:nvPicPr>
          <p:cNvPr id="18" name="Image 2" descr="preencoded.png">    </p:cNvPr>
          <p:cNvPicPr>
            <a:picLocks noChangeAspect="1"/>
          </p:cNvPicPr>
          <p:nvPr/>
        </p:nvPicPr>
        <p:blipFill>
          <a:blip r:embed="rId3"/>
          <a:stretch>
            <a:fillRect/>
          </a:stretch>
        </p:blipFill>
        <p:spPr>
          <a:xfrm>
            <a:off x="8549518" y="1884761"/>
            <a:ext cx="272125" cy="272125"/>
          </a:xfrm>
          <a:prstGeom prst="rect">
            <a:avLst/>
          </a:prstGeom>
        </p:spPr>
      </p:pic>
      <p:sp>
        <p:nvSpPr>
          <p:cNvPr id="19" name="Text 14"/>
          <p:cNvSpPr txBox="1"/>
          <p:nvPr/>
        </p:nvSpPr>
        <p:spPr>
          <a:xfrm>
            <a:off x="8402117" y="2468880"/>
            <a:ext cx="2966618" cy="411480"/>
          </a:xfrm>
          <a:prstGeom prst="rect">
            <a:avLst/>
          </a:prstGeom>
          <a:noFill/>
          <a:ln/>
        </p:spPr>
        <p:txBody>
          <a:bodyPr wrap="square" lIns="0" tIns="0" rIns="0" bIns="0" rtlCol="0" anchor="t"/>
          <a:lstStyle/>
          <a:p>
            <a:pPr indent="0" marL="0">
              <a:buNone/>
            </a:pPr>
            <a:r>
              <a:rPr lang="en-US" sz="1600" b="1" dirty="0">
                <a:solidFill>
                  <a:srgbClr val="B45309"/>
                </a:solidFill>
                <a:latin typeface="Calibri" pitchFamily="34" charset="0"/>
                <a:ea typeface="Calibri" pitchFamily="34" charset="-122"/>
                <a:cs typeface="Calibri" pitchFamily="34" charset="-120"/>
              </a:rPr>
              <a:t>Exactly-once effect</a:t>
            </a:r>
            <a:endParaRPr lang="en-US" sz="1600" dirty="0"/>
          </a:p>
        </p:txBody>
      </p:sp>
      <p:sp>
        <p:nvSpPr>
          <p:cNvPr id="20" name="Text 15"/>
          <p:cNvSpPr txBox="1"/>
          <p:nvPr/>
        </p:nvSpPr>
        <p:spPr>
          <a:xfrm>
            <a:off x="8402117" y="2971800"/>
            <a:ext cx="2966618"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The relay drops a message id it has already seen.</a:t>
            </a:r>
            <a:endParaRPr lang="en-US" sz="1300" dirty="0"/>
          </a:p>
          <a:p>
            <a:pPr marL="342900" indent="-3429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Messages stop after 5 hops and expire after 60 s, so broadcasts cannot loop.</a:t>
            </a:r>
            <a:endParaRPr lang="en-US" sz="1300" dirty="0"/>
          </a:p>
          <a:p>
            <a:pPr marL="342900" indent="-3429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The cloud ingest is idempotent: a replayed upload returns duplicate = true.</a:t>
            </a:r>
            <a:endParaRPr lang="en-US" sz="1300" dirty="0"/>
          </a:p>
        </p:txBody>
      </p:sp>
      <p:sp>
        <p:nvSpPr>
          <p:cNvPr id="21" name="Text 16"/>
          <p:cNvSpPr txBox="1"/>
          <p:nvPr/>
        </p:nvSpPr>
        <p:spPr>
          <a:xfrm>
            <a:off x="8402117" y="5577840"/>
            <a:ext cx="2966618" cy="274320"/>
          </a:xfrm>
          <a:prstGeom prst="rect">
            <a:avLst/>
          </a:prstGeom>
          <a:noFill/>
          <a:ln/>
        </p:spPr>
        <p:txBody>
          <a:bodyPr wrap="square" lIns="0" tIns="0" rIns="0" bIns="0" rtlCol="0" anchor="t"/>
          <a:lstStyle/>
          <a:p>
            <a:pPr indent="0" marL="0">
              <a:buNone/>
            </a:pPr>
            <a:r>
              <a:rPr lang="en-US" sz="1000" dirty="0">
                <a:solidFill>
                  <a:srgbClr val="5B6475"/>
                </a:solidFill>
                <a:latin typeface="Courier New" pitchFamily="34" charset="0"/>
                <a:ea typeface="Courier New" pitchFamily="34" charset="-122"/>
                <a:cs typeface="Courier New" pitchFamily="34" charset="-120"/>
              </a:rPr>
              <a:t>backend/app/main.py:224</a:t>
            </a:r>
            <a:endParaRPr lang="en-US" sz="1000" dirty="0"/>
          </a:p>
        </p:txBody>
      </p:sp>
      <p:sp>
        <p:nvSpPr>
          <p:cNvPr id="22" name="Text 17"/>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NalamMesh · 24CS502 Distributed and Cloud Computing</a:t>
            </a:r>
            <a:endParaRPr lang="en-US" sz="1000" dirty="0"/>
          </a:p>
        </p:txBody>
      </p:sp>
      <p:sp>
        <p:nvSpPr>
          <p:cNvPr id="23" name="Text 1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UNIT 4 · CLOUD INFRASTRUCTURE</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200" b="1" dirty="0">
                <a:solidFill>
                  <a:srgbClr val="1F3A6E"/>
                </a:solidFill>
                <a:latin typeface="Cambria" pitchFamily="34" charset="0"/>
                <a:ea typeface="Cambria" pitchFamily="34" charset="-122"/>
                <a:cs typeface="Cambria" pitchFamily="34" charset="-120"/>
              </a:rPr>
              <a:t>Storage, overlay network and deployment</a:t>
            </a:r>
            <a:endParaRPr lang="en-US" sz="3200" dirty="0"/>
          </a:p>
        </p:txBody>
      </p:sp>
      <p:sp>
        <p:nvSpPr>
          <p:cNvPr id="4" name="Shape 2"/>
          <p:cNvSpPr/>
          <p:nvPr/>
        </p:nvSpPr>
        <p:spPr>
          <a:xfrm>
            <a:off x="548640" y="1508760"/>
            <a:ext cx="3515258" cy="4526280"/>
          </a:xfrm>
          <a:prstGeom prst="roundRect">
            <a:avLst>
              <a:gd name="adj" fmla="val 2081"/>
            </a:avLst>
          </a:prstGeom>
          <a:solidFill>
            <a:srgbClr val="F1F3F7"/>
          </a:solidFill>
          <a:ln w="12700">
            <a:solidFill>
              <a:srgbClr val="F1F3F7"/>
            </a:solidFill>
            <a:prstDash val="solid"/>
          </a:ln>
        </p:spPr>
      </p:sp>
      <p:sp>
        <p:nvSpPr>
          <p:cNvPr id="5" name="Shape 3"/>
          <p:cNvSpPr/>
          <p:nvPr/>
        </p:nvSpPr>
        <p:spPr>
          <a:xfrm>
            <a:off x="822960" y="1737360"/>
            <a:ext cx="566928" cy="566928"/>
          </a:xfrm>
          <a:prstGeom prst="ellipse">
            <a:avLst/>
          </a:prstGeom>
          <a:solidFill>
            <a:srgbClr val="1F3A6E"/>
          </a:solidFill>
          <a:ln w="12700">
            <a:solidFill>
              <a:srgbClr val="1F3A6E"/>
            </a:solidFill>
            <a:prstDash val="solid"/>
          </a:ln>
        </p:spPr>
      </p:sp>
      <p:pic>
        <p:nvPicPr>
          <p:cNvPr id="6" name="Image 0" descr="preencoded.png">    </p:cNvPr>
          <p:cNvPicPr>
            <a:picLocks noChangeAspect="1"/>
          </p:cNvPicPr>
          <p:nvPr/>
        </p:nvPicPr>
        <p:blipFill>
          <a:blip r:embed="rId1"/>
          <a:stretch>
            <a:fillRect/>
          </a:stretch>
        </p:blipFill>
        <p:spPr>
          <a:xfrm>
            <a:off x="970361" y="1884761"/>
            <a:ext cx="272125" cy="272125"/>
          </a:xfrm>
          <a:prstGeom prst="rect">
            <a:avLst/>
          </a:prstGeom>
        </p:spPr>
      </p:pic>
      <p:sp>
        <p:nvSpPr>
          <p:cNvPr id="7" name="Text 4"/>
          <p:cNvSpPr txBox="1"/>
          <p:nvPr/>
        </p:nvSpPr>
        <p:spPr>
          <a:xfrm>
            <a:off x="1554480" y="1783080"/>
            <a:ext cx="2326538" cy="457200"/>
          </a:xfrm>
          <a:prstGeom prst="rect">
            <a:avLst/>
          </a:prstGeom>
          <a:noFill/>
          <a:ln/>
        </p:spPr>
        <p:txBody>
          <a:bodyPr wrap="square" lIns="0" tIns="0" rIns="0" bIns="0" rtlCol="0" anchor="ctr"/>
          <a:lstStyle/>
          <a:p>
            <a:pPr indent="0" marL="0">
              <a:buNone/>
            </a:pPr>
            <a:r>
              <a:rPr lang="en-US" sz="1800" b="1" dirty="0">
                <a:solidFill>
                  <a:srgbClr val="1F3A6E"/>
                </a:solidFill>
                <a:latin typeface="Calibri" pitchFamily="34" charset="0"/>
                <a:ea typeface="Calibri" pitchFamily="34" charset="-122"/>
                <a:cs typeface="Calibri" pitchFamily="34" charset="-120"/>
              </a:rPr>
              <a:t>Storage</a:t>
            </a:r>
            <a:endParaRPr lang="en-US" sz="1800" dirty="0"/>
          </a:p>
        </p:txBody>
      </p:sp>
      <p:sp>
        <p:nvSpPr>
          <p:cNvPr id="8" name="Text 5"/>
          <p:cNvSpPr txBox="1"/>
          <p:nvPr/>
        </p:nvSpPr>
        <p:spPr>
          <a:xfrm>
            <a:off x="822960" y="2560320"/>
            <a:ext cx="2966618" cy="32004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Local, persistent</a:t>
            </a:r>
            <a:endParaRPr lang="en-US" sz="1400" dirty="0"/>
          </a:p>
        </p:txBody>
      </p:sp>
      <p:sp>
        <p:nvSpPr>
          <p:cNvPr id="9" name="Text 6"/>
          <p:cNvSpPr txBox="1"/>
          <p:nvPr/>
        </p:nvSpPr>
        <p:spPr>
          <a:xfrm>
            <a:off x="822960" y="2907792"/>
            <a:ext cx="2966618" cy="731520"/>
          </a:xfrm>
          <a:prstGeom prst="rect">
            <a:avLst/>
          </a:prstGeom>
          <a:noFill/>
          <a:ln/>
        </p:spPr>
        <p:txBody>
          <a:bodyPr wrap="square" lIns="0" tIns="0" rIns="0" bIns="0" rtlCol="0" anchor="t"/>
          <a:lstStyle/>
          <a:p>
            <a:pPr indent="0" marL="0">
              <a:buNone/>
            </a:pPr>
            <a:r>
              <a:rPr lang="en-US" sz="1250" dirty="0">
                <a:solidFill>
                  <a:srgbClr val="1E2533"/>
                </a:solidFill>
                <a:latin typeface="Calibri" pitchFamily="34" charset="0"/>
                <a:ea typeface="Calibri" pitchFamily="34" charset="-122"/>
                <a:cs typeface="Calibri" pitchFamily="34" charset="-120"/>
              </a:rPr>
              <a:t>IndexedDB on each device: survives reloads and reboots.</a:t>
            </a:r>
            <a:endParaRPr lang="en-US" sz="1250" dirty="0"/>
          </a:p>
        </p:txBody>
      </p:sp>
      <p:sp>
        <p:nvSpPr>
          <p:cNvPr id="10" name="Text 7"/>
          <p:cNvSpPr txBox="1"/>
          <p:nvPr/>
        </p:nvSpPr>
        <p:spPr>
          <a:xfrm>
            <a:off x="822960" y="3703320"/>
            <a:ext cx="2966618" cy="32004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Remote, persistent</a:t>
            </a:r>
            <a:endParaRPr lang="en-US" sz="1400" dirty="0"/>
          </a:p>
        </p:txBody>
      </p:sp>
      <p:sp>
        <p:nvSpPr>
          <p:cNvPr id="11" name="Text 8"/>
          <p:cNvSpPr txBox="1"/>
          <p:nvPr/>
        </p:nvSpPr>
        <p:spPr>
          <a:xfrm>
            <a:off x="822960" y="4050792"/>
            <a:ext cx="2966618" cy="731520"/>
          </a:xfrm>
          <a:prstGeom prst="rect">
            <a:avLst/>
          </a:prstGeom>
          <a:noFill/>
          <a:ln/>
        </p:spPr>
        <p:txBody>
          <a:bodyPr wrap="square" lIns="0" tIns="0" rIns="0" bIns="0" rtlCol="0" anchor="t"/>
          <a:lstStyle/>
          <a:p>
            <a:pPr indent="0" marL="0">
              <a:buNone/>
            </a:pPr>
            <a:r>
              <a:rPr lang="en-US" sz="1250" dirty="0">
                <a:solidFill>
                  <a:srgbClr val="1E2533"/>
                </a:solidFill>
                <a:latin typeface="Calibri" pitchFamily="34" charset="0"/>
                <a:ea typeface="Calibri" pitchFamily="34" charset="-122"/>
                <a:cs typeface="Calibri" pitchFamily="34" charset="-120"/>
              </a:rPr>
              <a:t>SQL database behind the district FastAPI service.</a:t>
            </a:r>
            <a:endParaRPr lang="en-US" sz="1250" dirty="0"/>
          </a:p>
        </p:txBody>
      </p:sp>
      <p:sp>
        <p:nvSpPr>
          <p:cNvPr id="12" name="Text 9"/>
          <p:cNvSpPr txBox="1"/>
          <p:nvPr/>
        </p:nvSpPr>
        <p:spPr>
          <a:xfrm>
            <a:off x="822960" y="4846320"/>
            <a:ext cx="2966618" cy="32004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Temporary</a:t>
            </a:r>
            <a:endParaRPr lang="en-US" sz="1400" dirty="0"/>
          </a:p>
        </p:txBody>
      </p:sp>
      <p:sp>
        <p:nvSpPr>
          <p:cNvPr id="13" name="Text 10"/>
          <p:cNvSpPr txBox="1"/>
          <p:nvPr/>
        </p:nvSpPr>
        <p:spPr>
          <a:xfrm>
            <a:off x="822960" y="5193792"/>
            <a:ext cx="2966618" cy="731520"/>
          </a:xfrm>
          <a:prstGeom prst="rect">
            <a:avLst/>
          </a:prstGeom>
          <a:noFill/>
          <a:ln/>
        </p:spPr>
        <p:txBody>
          <a:bodyPr wrap="square" lIns="0" tIns="0" rIns="0" bIns="0" rtlCol="0" anchor="t"/>
          <a:lstStyle/>
          <a:p>
            <a:pPr indent="0" marL="0">
              <a:buNone/>
            </a:pPr>
            <a:r>
              <a:rPr lang="en-US" sz="1250" dirty="0">
                <a:solidFill>
                  <a:srgbClr val="1E2533"/>
                </a:solidFill>
                <a:latin typeface="Calibri" pitchFamily="34" charset="0"/>
                <a:ea typeface="Calibri" pitchFamily="34" charset="-122"/>
                <a:cs typeface="Calibri" pitchFamily="34" charset="-120"/>
              </a:rPr>
              <a:t>Relay caches (500 patients, 500 referrals) live in memory only.</a:t>
            </a:r>
            <a:endParaRPr lang="en-US" sz="1250" dirty="0"/>
          </a:p>
        </p:txBody>
      </p:sp>
      <p:sp>
        <p:nvSpPr>
          <p:cNvPr id="14" name="Shape 11"/>
          <p:cNvSpPr/>
          <p:nvPr/>
        </p:nvSpPr>
        <p:spPr>
          <a:xfrm>
            <a:off x="4338218" y="1508760"/>
            <a:ext cx="3515258" cy="4526280"/>
          </a:xfrm>
          <a:prstGeom prst="roundRect">
            <a:avLst>
              <a:gd name="adj" fmla="val 2081"/>
            </a:avLst>
          </a:prstGeom>
          <a:solidFill>
            <a:srgbClr val="E8EEF8"/>
          </a:solidFill>
          <a:ln w="12700">
            <a:solidFill>
              <a:srgbClr val="E8EEF8"/>
            </a:solidFill>
            <a:prstDash val="solid"/>
          </a:ln>
        </p:spPr>
      </p:sp>
      <p:sp>
        <p:nvSpPr>
          <p:cNvPr id="15" name="Shape 12"/>
          <p:cNvSpPr/>
          <p:nvPr/>
        </p:nvSpPr>
        <p:spPr>
          <a:xfrm>
            <a:off x="4612538" y="1737360"/>
            <a:ext cx="566928" cy="566928"/>
          </a:xfrm>
          <a:prstGeom prst="ellipse">
            <a:avLst/>
          </a:prstGeom>
          <a:solidFill>
            <a:srgbClr val="1F3A6E"/>
          </a:solidFill>
          <a:ln w="12700">
            <a:solidFill>
              <a:srgbClr val="1F3A6E"/>
            </a:solidFill>
            <a:prstDash val="solid"/>
          </a:ln>
        </p:spPr>
      </p:sp>
      <p:pic>
        <p:nvPicPr>
          <p:cNvPr id="16" name="Image 1" descr="preencoded.png">    </p:cNvPr>
          <p:cNvPicPr>
            <a:picLocks noChangeAspect="1"/>
          </p:cNvPicPr>
          <p:nvPr/>
        </p:nvPicPr>
        <p:blipFill>
          <a:blip r:embed="rId2"/>
          <a:stretch>
            <a:fillRect/>
          </a:stretch>
        </p:blipFill>
        <p:spPr>
          <a:xfrm>
            <a:off x="4759940" y="1884761"/>
            <a:ext cx="272125" cy="272125"/>
          </a:xfrm>
          <a:prstGeom prst="rect">
            <a:avLst/>
          </a:prstGeom>
        </p:spPr>
      </p:pic>
      <p:sp>
        <p:nvSpPr>
          <p:cNvPr id="17" name="Text 13"/>
          <p:cNvSpPr txBox="1"/>
          <p:nvPr/>
        </p:nvSpPr>
        <p:spPr>
          <a:xfrm>
            <a:off x="5344058" y="1783080"/>
            <a:ext cx="2326538" cy="457200"/>
          </a:xfrm>
          <a:prstGeom prst="rect">
            <a:avLst/>
          </a:prstGeom>
          <a:noFill/>
          <a:ln/>
        </p:spPr>
        <p:txBody>
          <a:bodyPr wrap="square" lIns="0" tIns="0" rIns="0" bIns="0" rtlCol="0" anchor="ctr"/>
          <a:lstStyle/>
          <a:p>
            <a:pPr indent="0" marL="0">
              <a:buNone/>
            </a:pPr>
            <a:r>
              <a:rPr lang="en-US" sz="1800" b="1" dirty="0">
                <a:solidFill>
                  <a:srgbClr val="1F3A6E"/>
                </a:solidFill>
                <a:latin typeface="Calibri" pitchFamily="34" charset="0"/>
                <a:ea typeface="Calibri" pitchFamily="34" charset="-122"/>
                <a:cs typeface="Calibri" pitchFamily="34" charset="-120"/>
              </a:rPr>
              <a:t>Overlay network</a:t>
            </a:r>
            <a:endParaRPr lang="en-US" sz="1800" dirty="0"/>
          </a:p>
        </p:txBody>
      </p:sp>
      <p:sp>
        <p:nvSpPr>
          <p:cNvPr id="18" name="Text 14"/>
          <p:cNvSpPr txBox="1"/>
          <p:nvPr/>
        </p:nvSpPr>
        <p:spPr>
          <a:xfrm>
            <a:off x="4612538" y="2560320"/>
            <a:ext cx="2966618" cy="32004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Underlay</a:t>
            </a:r>
            <a:endParaRPr lang="en-US" sz="1400" dirty="0"/>
          </a:p>
        </p:txBody>
      </p:sp>
      <p:sp>
        <p:nvSpPr>
          <p:cNvPr id="19" name="Text 15"/>
          <p:cNvSpPr txBox="1"/>
          <p:nvPr/>
        </p:nvSpPr>
        <p:spPr>
          <a:xfrm>
            <a:off x="4612538" y="2907792"/>
            <a:ext cx="2966618" cy="731520"/>
          </a:xfrm>
          <a:prstGeom prst="rect">
            <a:avLst/>
          </a:prstGeom>
          <a:noFill/>
          <a:ln/>
        </p:spPr>
        <p:txBody>
          <a:bodyPr wrap="square" lIns="0" tIns="0" rIns="0" bIns="0" rtlCol="0" anchor="t"/>
          <a:lstStyle/>
          <a:p>
            <a:pPr indent="0" marL="0">
              <a:buNone/>
            </a:pPr>
            <a:r>
              <a:rPr lang="en-US" sz="1250" dirty="0">
                <a:solidFill>
                  <a:srgbClr val="1E2533"/>
                </a:solidFill>
                <a:latin typeface="Calibri" pitchFamily="34" charset="0"/>
                <a:ea typeface="Calibri" pitchFamily="34" charset="-122"/>
                <a:cs typeface="Calibri" pitchFamily="34" charset="-120"/>
              </a:rPr>
              <a:t>Ordinary internet, 2G, or a facility LAN.</a:t>
            </a:r>
            <a:endParaRPr lang="en-US" sz="1250" dirty="0"/>
          </a:p>
        </p:txBody>
      </p:sp>
      <p:sp>
        <p:nvSpPr>
          <p:cNvPr id="20" name="Text 16"/>
          <p:cNvSpPr txBox="1"/>
          <p:nvPr/>
        </p:nvSpPr>
        <p:spPr>
          <a:xfrm>
            <a:off x="4612538" y="3703320"/>
            <a:ext cx="2966618" cy="32004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Overlay</a:t>
            </a:r>
            <a:endParaRPr lang="en-US" sz="1400" dirty="0"/>
          </a:p>
        </p:txBody>
      </p:sp>
      <p:sp>
        <p:nvSpPr>
          <p:cNvPr id="21" name="Text 17"/>
          <p:cNvSpPr txBox="1"/>
          <p:nvPr/>
        </p:nvSpPr>
        <p:spPr>
          <a:xfrm>
            <a:off x="4612538" y="4050792"/>
            <a:ext cx="2966618" cy="731520"/>
          </a:xfrm>
          <a:prstGeom prst="rect">
            <a:avLst/>
          </a:prstGeom>
          <a:noFill/>
          <a:ln/>
        </p:spPr>
        <p:txBody>
          <a:bodyPr wrap="square" lIns="0" tIns="0" rIns="0" bIns="0" rtlCol="0" anchor="t"/>
          <a:lstStyle/>
          <a:p>
            <a:pPr indent="0" marL="0">
              <a:buNone/>
            </a:pPr>
            <a:r>
              <a:rPr lang="en-US" sz="1250" dirty="0">
                <a:solidFill>
                  <a:srgbClr val="1E2533"/>
                </a:solidFill>
                <a:latin typeface="Calibri" pitchFamily="34" charset="0"/>
                <a:ea typeface="Calibri" pitchFamily="34" charset="-122"/>
                <a:cs typeface="Calibri" pitchFamily="34" charset="-120"/>
              </a:rPr>
              <a:t>The mesh: nodes address each other by nodeId, not IP.</a:t>
            </a:r>
            <a:endParaRPr lang="en-US" sz="1250" dirty="0"/>
          </a:p>
        </p:txBody>
      </p:sp>
      <p:sp>
        <p:nvSpPr>
          <p:cNvPr id="22" name="Text 18"/>
          <p:cNvSpPr txBox="1"/>
          <p:nvPr/>
        </p:nvSpPr>
        <p:spPr>
          <a:xfrm>
            <a:off x="4612538" y="4846320"/>
            <a:ext cx="2966618" cy="32004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Routing</a:t>
            </a:r>
            <a:endParaRPr lang="en-US" sz="1400" dirty="0"/>
          </a:p>
        </p:txBody>
      </p:sp>
      <p:sp>
        <p:nvSpPr>
          <p:cNvPr id="23" name="Text 19"/>
          <p:cNvSpPr txBox="1"/>
          <p:nvPr/>
        </p:nvSpPr>
        <p:spPr>
          <a:xfrm>
            <a:off x="4612538" y="5193792"/>
            <a:ext cx="2966618" cy="731520"/>
          </a:xfrm>
          <a:prstGeom prst="rect">
            <a:avLst/>
          </a:prstGeom>
          <a:noFill/>
          <a:ln/>
        </p:spPr>
        <p:txBody>
          <a:bodyPr wrap="square" lIns="0" tIns="0" rIns="0" bIns="0" rtlCol="0" anchor="t"/>
          <a:lstStyle/>
          <a:p>
            <a:pPr indent="0" marL="0">
              <a:buNone/>
            </a:pPr>
            <a:r>
              <a:rPr lang="en-US" sz="1250" dirty="0">
                <a:solidFill>
                  <a:srgbClr val="1E2533"/>
                </a:solidFill>
                <a:latin typeface="Calibri" pitchFamily="34" charset="0"/>
                <a:ea typeface="Calibri" pitchFamily="34" charset="-122"/>
                <a:cs typeface="Calibri" pitchFamily="34" charset="-120"/>
              </a:rPr>
              <a:t>Relay does targeted delivery or broadcast, capped at 5 hops.</a:t>
            </a:r>
            <a:endParaRPr lang="en-US" sz="1250" dirty="0"/>
          </a:p>
        </p:txBody>
      </p:sp>
      <p:sp>
        <p:nvSpPr>
          <p:cNvPr id="24" name="Shape 20"/>
          <p:cNvSpPr/>
          <p:nvPr/>
        </p:nvSpPr>
        <p:spPr>
          <a:xfrm>
            <a:off x="8127797" y="1508760"/>
            <a:ext cx="3515258" cy="4526280"/>
          </a:xfrm>
          <a:prstGeom prst="roundRect">
            <a:avLst>
              <a:gd name="adj" fmla="val 2081"/>
            </a:avLst>
          </a:prstGeom>
          <a:solidFill>
            <a:srgbClr val="F1F3F7"/>
          </a:solidFill>
          <a:ln w="12700">
            <a:solidFill>
              <a:srgbClr val="F1F3F7"/>
            </a:solidFill>
            <a:prstDash val="solid"/>
          </a:ln>
        </p:spPr>
      </p:sp>
      <p:sp>
        <p:nvSpPr>
          <p:cNvPr id="25" name="Shape 21"/>
          <p:cNvSpPr/>
          <p:nvPr/>
        </p:nvSpPr>
        <p:spPr>
          <a:xfrm>
            <a:off x="8402117" y="1737360"/>
            <a:ext cx="566928" cy="566928"/>
          </a:xfrm>
          <a:prstGeom prst="ellipse">
            <a:avLst/>
          </a:prstGeom>
          <a:solidFill>
            <a:srgbClr val="1F3A6E"/>
          </a:solidFill>
          <a:ln w="12700">
            <a:solidFill>
              <a:srgbClr val="1F3A6E"/>
            </a:solidFill>
            <a:prstDash val="solid"/>
          </a:ln>
        </p:spPr>
      </p:sp>
      <p:pic>
        <p:nvPicPr>
          <p:cNvPr id="26" name="Image 2" descr="preencoded.png">    </p:cNvPr>
          <p:cNvPicPr>
            <a:picLocks noChangeAspect="1"/>
          </p:cNvPicPr>
          <p:nvPr/>
        </p:nvPicPr>
        <p:blipFill>
          <a:blip r:embed="rId3"/>
          <a:stretch>
            <a:fillRect/>
          </a:stretch>
        </p:blipFill>
        <p:spPr>
          <a:xfrm>
            <a:off x="8549518" y="1884761"/>
            <a:ext cx="272125" cy="272125"/>
          </a:xfrm>
          <a:prstGeom prst="rect">
            <a:avLst/>
          </a:prstGeom>
        </p:spPr>
      </p:pic>
      <p:sp>
        <p:nvSpPr>
          <p:cNvPr id="27" name="Text 22"/>
          <p:cNvSpPr txBox="1"/>
          <p:nvPr/>
        </p:nvSpPr>
        <p:spPr>
          <a:xfrm>
            <a:off x="9133637" y="1783080"/>
            <a:ext cx="2326538" cy="457200"/>
          </a:xfrm>
          <a:prstGeom prst="rect">
            <a:avLst/>
          </a:prstGeom>
          <a:noFill/>
          <a:ln/>
        </p:spPr>
        <p:txBody>
          <a:bodyPr wrap="square" lIns="0" tIns="0" rIns="0" bIns="0" rtlCol="0" anchor="ctr"/>
          <a:lstStyle/>
          <a:p>
            <a:pPr indent="0" marL="0">
              <a:buNone/>
            </a:pPr>
            <a:r>
              <a:rPr lang="en-US" sz="1800" b="1" dirty="0">
                <a:solidFill>
                  <a:srgbClr val="1F3A6E"/>
                </a:solidFill>
                <a:latin typeface="Calibri" pitchFamily="34" charset="0"/>
                <a:ea typeface="Calibri" pitchFamily="34" charset="-122"/>
                <a:cs typeface="Calibri" pitchFamily="34" charset="-120"/>
              </a:rPr>
              <a:t>Deployment</a:t>
            </a:r>
            <a:endParaRPr lang="en-US" sz="1800" dirty="0"/>
          </a:p>
        </p:txBody>
      </p:sp>
      <p:sp>
        <p:nvSpPr>
          <p:cNvPr id="28" name="Text 23"/>
          <p:cNvSpPr txBox="1"/>
          <p:nvPr/>
        </p:nvSpPr>
        <p:spPr>
          <a:xfrm>
            <a:off x="8402117" y="2560320"/>
            <a:ext cx="2966618" cy="32004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Static hosting</a:t>
            </a:r>
            <a:endParaRPr lang="en-US" sz="1400" dirty="0"/>
          </a:p>
        </p:txBody>
      </p:sp>
      <p:sp>
        <p:nvSpPr>
          <p:cNvPr id="29" name="Text 24"/>
          <p:cNvSpPr txBox="1"/>
          <p:nvPr/>
        </p:nvSpPr>
        <p:spPr>
          <a:xfrm>
            <a:off x="8402117" y="2907792"/>
            <a:ext cx="2966618" cy="731520"/>
          </a:xfrm>
          <a:prstGeom prst="rect">
            <a:avLst/>
          </a:prstGeom>
          <a:noFill/>
          <a:ln/>
        </p:spPr>
        <p:txBody>
          <a:bodyPr wrap="square" lIns="0" tIns="0" rIns="0" bIns="0" rtlCol="0" anchor="t"/>
          <a:lstStyle/>
          <a:p>
            <a:pPr indent="0" marL="0">
              <a:buNone/>
            </a:pPr>
            <a:r>
              <a:rPr lang="en-US" sz="1250" dirty="0">
                <a:solidFill>
                  <a:srgbClr val="1E2533"/>
                </a:solidFill>
                <a:latin typeface="Calibri" pitchFamily="34" charset="0"/>
                <a:ea typeface="Calibri" pitchFamily="34" charset="-122"/>
                <a:cs typeface="Calibri" pitchFamily="34" charset="-120"/>
              </a:rPr>
              <a:t>Next.js static export of the frontend on Vercel.</a:t>
            </a:r>
            <a:endParaRPr lang="en-US" sz="1250" dirty="0"/>
          </a:p>
        </p:txBody>
      </p:sp>
      <p:sp>
        <p:nvSpPr>
          <p:cNvPr id="30" name="Text 25"/>
          <p:cNvSpPr txBox="1"/>
          <p:nvPr/>
        </p:nvSpPr>
        <p:spPr>
          <a:xfrm>
            <a:off x="8402117" y="3703320"/>
            <a:ext cx="2966618" cy="32004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Serverless</a:t>
            </a:r>
            <a:endParaRPr lang="en-US" sz="1400" dirty="0"/>
          </a:p>
        </p:txBody>
      </p:sp>
      <p:sp>
        <p:nvSpPr>
          <p:cNvPr id="31" name="Text 26"/>
          <p:cNvSpPr txBox="1"/>
          <p:nvPr/>
        </p:nvSpPr>
        <p:spPr>
          <a:xfrm>
            <a:off x="8402117" y="4050792"/>
            <a:ext cx="2966618" cy="731520"/>
          </a:xfrm>
          <a:prstGeom prst="rect">
            <a:avLst/>
          </a:prstGeom>
          <a:noFill/>
          <a:ln/>
        </p:spPr>
        <p:txBody>
          <a:bodyPr wrap="square" lIns="0" tIns="0" rIns="0" bIns="0" rtlCol="0" anchor="t"/>
          <a:lstStyle/>
          <a:p>
            <a:pPr indent="0" marL="0">
              <a:buNone/>
            </a:pPr>
            <a:r>
              <a:rPr lang="en-US" sz="1250" dirty="0">
                <a:solidFill>
                  <a:srgbClr val="1E2533"/>
                </a:solidFill>
                <a:latin typeface="Calibri" pitchFamily="34" charset="0"/>
                <a:ea typeface="Calibri" pitchFamily="34" charset="-122"/>
                <a:cs typeface="Calibri" pitchFamily="34" charset="-120"/>
              </a:rPr>
              <a:t>Chat assistant as its own HTTPS Python function.</a:t>
            </a:r>
            <a:endParaRPr lang="en-US" sz="1250" dirty="0"/>
          </a:p>
        </p:txBody>
      </p:sp>
      <p:sp>
        <p:nvSpPr>
          <p:cNvPr id="32" name="Text 27"/>
          <p:cNvSpPr txBox="1"/>
          <p:nvPr/>
        </p:nvSpPr>
        <p:spPr>
          <a:xfrm>
            <a:off x="8402117" y="4846320"/>
            <a:ext cx="2966618" cy="32004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PaaS</a:t>
            </a:r>
            <a:endParaRPr lang="en-US" sz="1400" dirty="0"/>
          </a:p>
        </p:txBody>
      </p:sp>
      <p:sp>
        <p:nvSpPr>
          <p:cNvPr id="33" name="Text 28"/>
          <p:cNvSpPr txBox="1"/>
          <p:nvPr/>
        </p:nvSpPr>
        <p:spPr>
          <a:xfrm>
            <a:off x="8402117" y="5193792"/>
            <a:ext cx="2966618" cy="731520"/>
          </a:xfrm>
          <a:prstGeom prst="rect">
            <a:avLst/>
          </a:prstGeom>
          <a:noFill/>
          <a:ln/>
        </p:spPr>
        <p:txBody>
          <a:bodyPr wrap="square" lIns="0" tIns="0" rIns="0" bIns="0" rtlCol="0" anchor="t"/>
          <a:lstStyle/>
          <a:p>
            <a:pPr indent="0" marL="0">
              <a:buNone/>
            </a:pPr>
            <a:r>
              <a:rPr lang="en-US" sz="1250" dirty="0">
                <a:solidFill>
                  <a:srgbClr val="1E2533"/>
                </a:solidFill>
                <a:latin typeface="Calibri" pitchFamily="34" charset="0"/>
                <a:ea typeface="Calibri" pitchFamily="34" charset="-122"/>
                <a:cs typeface="Calibri" pitchFamily="34" charset="-120"/>
              </a:rPr>
              <a:t>District API via Procfile (uvicorn), run by the platform in containers.</a:t>
            </a:r>
            <a:endParaRPr lang="en-US" sz="1250" dirty="0"/>
          </a:p>
        </p:txBody>
      </p:sp>
      <p:sp>
        <p:nvSpPr>
          <p:cNvPr id="34" name="Text 29"/>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NalamMesh · 24CS502 Distributed and Cloud Computing</a:t>
            </a:r>
            <a:endParaRPr lang="en-US" sz="1000" dirty="0"/>
          </a:p>
        </p:txBody>
      </p:sp>
      <p:sp>
        <p:nvSpPr>
          <p:cNvPr id="35" name="Text 3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HONEST GAPS</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200" b="1" dirty="0">
                <a:solidFill>
                  <a:srgbClr val="1F3A6E"/>
                </a:solidFill>
                <a:latin typeface="Cambria" pitchFamily="34" charset="0"/>
                <a:ea typeface="Cambria" pitchFamily="34" charset="-122"/>
                <a:cs typeface="Cambria" pitchFamily="34" charset="-120"/>
              </a:rPr>
              <a:t>Where course algorithms would help next</a:t>
            </a:r>
            <a:endParaRPr lang="en-US" sz="3200" dirty="0"/>
          </a:p>
        </p:txBody>
      </p:sp>
      <p:sp>
        <p:nvSpPr>
          <p:cNvPr id="4" name="Shape 2"/>
          <p:cNvSpPr/>
          <p:nvPr/>
        </p:nvSpPr>
        <p:spPr>
          <a:xfrm>
            <a:off x="548640" y="1508760"/>
            <a:ext cx="11094415" cy="987552"/>
          </a:xfrm>
          <a:prstGeom prst="roundRect">
            <a:avLst>
              <a:gd name="adj" fmla="val 7407"/>
            </a:avLst>
          </a:prstGeom>
          <a:solidFill>
            <a:srgbClr val="F1F3F7"/>
          </a:solidFill>
          <a:ln w="12700">
            <a:solidFill>
              <a:srgbClr val="F1F3F7"/>
            </a:solidFill>
            <a:prstDash val="solid"/>
          </a:ln>
        </p:spPr>
      </p:sp>
      <p:sp>
        <p:nvSpPr>
          <p:cNvPr id="5" name="Shape 3"/>
          <p:cNvSpPr/>
          <p:nvPr/>
        </p:nvSpPr>
        <p:spPr>
          <a:xfrm>
            <a:off x="777240" y="1709928"/>
            <a:ext cx="585216" cy="585216"/>
          </a:xfrm>
          <a:prstGeom prst="ellipse">
            <a:avLst/>
          </a:prstGeom>
          <a:solidFill>
            <a:srgbClr val="1F3A6E"/>
          </a:solidFill>
          <a:ln w="12700">
            <a:solidFill>
              <a:srgbClr val="1F3A6E"/>
            </a:solidFill>
            <a:prstDash val="solid"/>
          </a:ln>
        </p:spPr>
      </p:sp>
      <p:pic>
        <p:nvPicPr>
          <p:cNvPr id="6" name="Image 0" descr="preencoded.png">    </p:cNvPr>
          <p:cNvPicPr>
            <a:picLocks noChangeAspect="1"/>
          </p:cNvPicPr>
          <p:nvPr/>
        </p:nvPicPr>
        <p:blipFill>
          <a:blip r:embed="rId1"/>
          <a:stretch>
            <a:fillRect/>
          </a:stretch>
        </p:blipFill>
        <p:spPr>
          <a:xfrm>
            <a:off x="929396" y="1862084"/>
            <a:ext cx="280904" cy="280904"/>
          </a:xfrm>
          <a:prstGeom prst="rect">
            <a:avLst/>
          </a:prstGeom>
        </p:spPr>
      </p:pic>
      <p:sp>
        <p:nvSpPr>
          <p:cNvPr id="7" name="Text 4"/>
          <p:cNvSpPr txBox="1"/>
          <p:nvPr/>
        </p:nvSpPr>
        <p:spPr>
          <a:xfrm>
            <a:off x="1554480" y="1691640"/>
            <a:ext cx="822960" cy="274320"/>
          </a:xfrm>
          <a:prstGeom prst="rect">
            <a:avLst/>
          </a:prstGeom>
          <a:noFill/>
          <a:ln/>
        </p:spPr>
        <p:txBody>
          <a:bodyPr wrap="square" lIns="0" tIns="0" rIns="0" bIns="0" rtlCol="0" anchor="t"/>
          <a:lstStyle/>
          <a:p>
            <a:pPr indent="0" marL="0">
              <a:buNone/>
            </a:pPr>
            <a:r>
              <a:rPr lang="en-US" sz="1200" b="1" dirty="0">
                <a:solidFill>
                  <a:srgbClr val="B45309"/>
                </a:solidFill>
                <a:latin typeface="Calibri" pitchFamily="34" charset="0"/>
                <a:ea typeface="Calibri" pitchFamily="34" charset="-122"/>
                <a:cs typeface="Calibri" pitchFamily="34" charset="-120"/>
              </a:rPr>
              <a:t>Unit 2</a:t>
            </a:r>
            <a:endParaRPr lang="en-US" sz="1200" dirty="0"/>
          </a:p>
        </p:txBody>
      </p:sp>
      <p:sp>
        <p:nvSpPr>
          <p:cNvPr id="8" name="Text 5"/>
          <p:cNvSpPr txBox="1"/>
          <p:nvPr/>
        </p:nvSpPr>
        <p:spPr>
          <a:xfrm>
            <a:off x="1554480" y="1947672"/>
            <a:ext cx="3017520" cy="411480"/>
          </a:xfrm>
          <a:prstGeom prst="rect">
            <a:avLst/>
          </a:prstGeom>
          <a:noFill/>
          <a:ln/>
        </p:spPr>
        <p:txBody>
          <a:bodyPr wrap="square" lIns="0" tIns="0" rIns="0" bIns="0" rtlCol="0" anchor="t"/>
          <a:lstStyle/>
          <a:p>
            <a:pPr indent="0" marL="0">
              <a:buNone/>
            </a:pPr>
            <a:r>
              <a:rPr lang="en-US" sz="1600" b="1" dirty="0">
                <a:solidFill>
                  <a:srgbClr val="1F3A6E"/>
                </a:solidFill>
                <a:latin typeface="Calibri" pitchFamily="34" charset="0"/>
                <a:ea typeface="Calibri" pitchFamily="34" charset="-122"/>
                <a:cs typeface="Calibri" pitchFamily="34" charset="-120"/>
              </a:rPr>
              <a:t>Vector clocks</a:t>
            </a:r>
            <a:endParaRPr lang="en-US" sz="1600" dirty="0"/>
          </a:p>
        </p:txBody>
      </p:sp>
      <p:sp>
        <p:nvSpPr>
          <p:cNvPr id="9" name="Text 6"/>
          <p:cNvSpPr txBox="1"/>
          <p:nvPr/>
        </p:nvSpPr>
        <p:spPr>
          <a:xfrm>
            <a:off x="4754880" y="1618488"/>
            <a:ext cx="6705295" cy="768096"/>
          </a:xfrm>
          <a:prstGeom prst="rect">
            <a:avLst/>
          </a:prstGeom>
          <a:noFill/>
          <a:ln/>
        </p:spPr>
        <p:txBody>
          <a:bodyPr wrap="square" lIns="0" tIns="0" rIns="0" bIns="0" rtlCol="0" anchor="ctr"/>
          <a:lstStyle/>
          <a:p>
            <a:pPr indent="0" marL="0">
              <a:buNone/>
            </a:pPr>
            <a:r>
              <a:rPr lang="en-US" sz="1350" dirty="0">
                <a:solidFill>
                  <a:srgbClr val="1E2533"/>
                </a:solidFill>
                <a:latin typeface="Calibri" pitchFamily="34" charset="0"/>
                <a:ea typeface="Calibri" pitchFamily="34" charset="-122"/>
                <a:cs typeface="Calibri" pitchFamily="34" charset="-120"/>
              </a:rPr>
              <a:t>Replace last-write-wins on patient records, so concurrent edits are detected and merged instead of one being dropped.</a:t>
            </a:r>
            <a:endParaRPr lang="en-US" sz="1350" dirty="0"/>
          </a:p>
        </p:txBody>
      </p:sp>
      <p:sp>
        <p:nvSpPr>
          <p:cNvPr id="10" name="Shape 7"/>
          <p:cNvSpPr/>
          <p:nvPr/>
        </p:nvSpPr>
        <p:spPr>
          <a:xfrm>
            <a:off x="548640" y="2633472"/>
            <a:ext cx="11094415" cy="987552"/>
          </a:xfrm>
          <a:prstGeom prst="roundRect">
            <a:avLst>
              <a:gd name="adj" fmla="val 7407"/>
            </a:avLst>
          </a:prstGeom>
          <a:solidFill>
            <a:srgbClr val="FFFFFF"/>
          </a:solidFill>
          <a:ln w="12700">
            <a:solidFill>
              <a:srgbClr val="FFFFFF"/>
            </a:solidFill>
            <a:prstDash val="solid"/>
          </a:ln>
        </p:spPr>
      </p:sp>
      <p:sp>
        <p:nvSpPr>
          <p:cNvPr id="11" name="Shape 8"/>
          <p:cNvSpPr/>
          <p:nvPr/>
        </p:nvSpPr>
        <p:spPr>
          <a:xfrm>
            <a:off x="777240" y="2834640"/>
            <a:ext cx="585216" cy="585216"/>
          </a:xfrm>
          <a:prstGeom prst="ellipse">
            <a:avLst/>
          </a:prstGeom>
          <a:solidFill>
            <a:srgbClr val="1F3A6E"/>
          </a:solidFill>
          <a:ln w="12700">
            <a:solidFill>
              <a:srgbClr val="1F3A6E"/>
            </a:solidFill>
            <a:prstDash val="solid"/>
          </a:ln>
        </p:spPr>
      </p:sp>
      <p:pic>
        <p:nvPicPr>
          <p:cNvPr id="12" name="Image 1" descr="preencoded.png">    </p:cNvPr>
          <p:cNvPicPr>
            <a:picLocks noChangeAspect="1"/>
          </p:cNvPicPr>
          <p:nvPr/>
        </p:nvPicPr>
        <p:blipFill>
          <a:blip r:embed="rId2"/>
          <a:stretch>
            <a:fillRect/>
          </a:stretch>
        </p:blipFill>
        <p:spPr>
          <a:xfrm>
            <a:off x="929396" y="2986796"/>
            <a:ext cx="280904" cy="280904"/>
          </a:xfrm>
          <a:prstGeom prst="rect">
            <a:avLst/>
          </a:prstGeom>
        </p:spPr>
      </p:pic>
      <p:sp>
        <p:nvSpPr>
          <p:cNvPr id="13" name="Text 9"/>
          <p:cNvSpPr txBox="1"/>
          <p:nvPr/>
        </p:nvSpPr>
        <p:spPr>
          <a:xfrm>
            <a:off x="1554480" y="2816352"/>
            <a:ext cx="822960" cy="274320"/>
          </a:xfrm>
          <a:prstGeom prst="rect">
            <a:avLst/>
          </a:prstGeom>
          <a:noFill/>
          <a:ln/>
        </p:spPr>
        <p:txBody>
          <a:bodyPr wrap="square" lIns="0" tIns="0" rIns="0" bIns="0" rtlCol="0" anchor="t"/>
          <a:lstStyle/>
          <a:p>
            <a:pPr indent="0" marL="0">
              <a:buNone/>
            </a:pPr>
            <a:r>
              <a:rPr lang="en-US" sz="1200" b="1" dirty="0">
                <a:solidFill>
                  <a:srgbClr val="B45309"/>
                </a:solidFill>
                <a:latin typeface="Calibri" pitchFamily="34" charset="0"/>
                <a:ea typeface="Calibri" pitchFamily="34" charset="-122"/>
                <a:cs typeface="Calibri" pitchFamily="34" charset="-120"/>
              </a:rPr>
              <a:t>Unit 2</a:t>
            </a:r>
            <a:endParaRPr lang="en-US" sz="1200" dirty="0"/>
          </a:p>
        </p:txBody>
      </p:sp>
      <p:sp>
        <p:nvSpPr>
          <p:cNvPr id="14" name="Text 10"/>
          <p:cNvSpPr txBox="1"/>
          <p:nvPr/>
        </p:nvSpPr>
        <p:spPr>
          <a:xfrm>
            <a:off x="1554480" y="3072384"/>
            <a:ext cx="3017520" cy="411480"/>
          </a:xfrm>
          <a:prstGeom prst="rect">
            <a:avLst/>
          </a:prstGeom>
          <a:noFill/>
          <a:ln/>
        </p:spPr>
        <p:txBody>
          <a:bodyPr wrap="square" lIns="0" tIns="0" rIns="0" bIns="0" rtlCol="0" anchor="t"/>
          <a:lstStyle/>
          <a:p>
            <a:pPr indent="0" marL="0">
              <a:buNone/>
            </a:pPr>
            <a:r>
              <a:rPr lang="en-US" sz="1600" b="1" dirty="0">
                <a:solidFill>
                  <a:srgbClr val="1F3A6E"/>
                </a:solidFill>
                <a:latin typeface="Calibri" pitchFamily="34" charset="0"/>
                <a:ea typeface="Calibri" pitchFamily="34" charset="-122"/>
                <a:cs typeface="Calibri" pitchFamily="34" charset="-120"/>
              </a:rPr>
              <a:t>Chandy–Lamport snapshot</a:t>
            </a:r>
            <a:endParaRPr lang="en-US" sz="1600" dirty="0"/>
          </a:p>
        </p:txBody>
      </p:sp>
      <p:sp>
        <p:nvSpPr>
          <p:cNvPr id="15" name="Text 11"/>
          <p:cNvSpPr txBox="1"/>
          <p:nvPr/>
        </p:nvSpPr>
        <p:spPr>
          <a:xfrm>
            <a:off x="4754880" y="2743200"/>
            <a:ext cx="6705295" cy="768096"/>
          </a:xfrm>
          <a:prstGeom prst="rect">
            <a:avLst/>
          </a:prstGeom>
          <a:noFill/>
          <a:ln/>
        </p:spPr>
        <p:txBody>
          <a:bodyPr wrap="square" lIns="0" tIns="0" rIns="0" bIns="0" rtlCol="0" anchor="ctr"/>
          <a:lstStyle/>
          <a:p>
            <a:pPr indent="0" marL="0">
              <a:buNone/>
            </a:pPr>
            <a:r>
              <a:rPr lang="en-US" sz="1350" dirty="0">
                <a:solidFill>
                  <a:srgbClr val="1E2533"/>
                </a:solidFill>
                <a:latin typeface="Calibri" pitchFamily="34" charset="0"/>
                <a:ea typeface="Calibri" pitchFamily="34" charset="-122"/>
                <a:cs typeface="Calibri" pitchFamily="34" charset="-120"/>
              </a:rPr>
              <a:t>Take a consistent district-wide bed census across all facilities, with no referral counted twice or missed in transit.</a:t>
            </a:r>
            <a:endParaRPr lang="en-US" sz="1350" dirty="0"/>
          </a:p>
        </p:txBody>
      </p:sp>
      <p:sp>
        <p:nvSpPr>
          <p:cNvPr id="16" name="Shape 12"/>
          <p:cNvSpPr/>
          <p:nvPr/>
        </p:nvSpPr>
        <p:spPr>
          <a:xfrm>
            <a:off x="548640" y="3758184"/>
            <a:ext cx="11094415" cy="987552"/>
          </a:xfrm>
          <a:prstGeom prst="roundRect">
            <a:avLst>
              <a:gd name="adj" fmla="val 7407"/>
            </a:avLst>
          </a:prstGeom>
          <a:solidFill>
            <a:srgbClr val="F1F3F7"/>
          </a:solidFill>
          <a:ln w="12700">
            <a:solidFill>
              <a:srgbClr val="F1F3F7"/>
            </a:solidFill>
            <a:prstDash val="solid"/>
          </a:ln>
        </p:spPr>
      </p:sp>
      <p:sp>
        <p:nvSpPr>
          <p:cNvPr id="17" name="Shape 13"/>
          <p:cNvSpPr/>
          <p:nvPr/>
        </p:nvSpPr>
        <p:spPr>
          <a:xfrm>
            <a:off x="777240" y="3959352"/>
            <a:ext cx="585216" cy="585216"/>
          </a:xfrm>
          <a:prstGeom prst="ellipse">
            <a:avLst/>
          </a:prstGeom>
          <a:solidFill>
            <a:srgbClr val="B45309"/>
          </a:solidFill>
          <a:ln w="12700">
            <a:solidFill>
              <a:srgbClr val="B45309"/>
            </a:solidFill>
            <a:prstDash val="solid"/>
          </a:ln>
        </p:spPr>
      </p:sp>
      <p:pic>
        <p:nvPicPr>
          <p:cNvPr id="18" name="Image 2" descr="preencoded.png">    </p:cNvPr>
          <p:cNvPicPr>
            <a:picLocks noChangeAspect="1"/>
          </p:cNvPicPr>
          <p:nvPr/>
        </p:nvPicPr>
        <p:blipFill>
          <a:blip r:embed="rId3"/>
          <a:stretch>
            <a:fillRect/>
          </a:stretch>
        </p:blipFill>
        <p:spPr>
          <a:xfrm>
            <a:off x="929396" y="4111508"/>
            <a:ext cx="280904" cy="280904"/>
          </a:xfrm>
          <a:prstGeom prst="rect">
            <a:avLst/>
          </a:prstGeom>
        </p:spPr>
      </p:pic>
      <p:sp>
        <p:nvSpPr>
          <p:cNvPr id="19" name="Text 14"/>
          <p:cNvSpPr txBox="1"/>
          <p:nvPr/>
        </p:nvSpPr>
        <p:spPr>
          <a:xfrm>
            <a:off x="1554480" y="3941064"/>
            <a:ext cx="822960" cy="274320"/>
          </a:xfrm>
          <a:prstGeom prst="rect">
            <a:avLst/>
          </a:prstGeom>
          <a:noFill/>
          <a:ln/>
        </p:spPr>
        <p:txBody>
          <a:bodyPr wrap="square" lIns="0" tIns="0" rIns="0" bIns="0" rtlCol="0" anchor="t"/>
          <a:lstStyle/>
          <a:p>
            <a:pPr indent="0" marL="0">
              <a:buNone/>
            </a:pPr>
            <a:r>
              <a:rPr lang="en-US" sz="1200" b="1" dirty="0">
                <a:solidFill>
                  <a:srgbClr val="B45309"/>
                </a:solidFill>
                <a:latin typeface="Calibri" pitchFamily="34" charset="0"/>
                <a:ea typeface="Calibri" pitchFamily="34" charset="-122"/>
                <a:cs typeface="Calibri" pitchFamily="34" charset="-120"/>
              </a:rPr>
              <a:t>Unit 3</a:t>
            </a:r>
            <a:endParaRPr lang="en-US" sz="1200" dirty="0"/>
          </a:p>
        </p:txBody>
      </p:sp>
      <p:sp>
        <p:nvSpPr>
          <p:cNvPr id="20" name="Text 15"/>
          <p:cNvSpPr txBox="1"/>
          <p:nvPr/>
        </p:nvSpPr>
        <p:spPr>
          <a:xfrm>
            <a:off x="1554480" y="4197096"/>
            <a:ext cx="3017520" cy="411480"/>
          </a:xfrm>
          <a:prstGeom prst="rect">
            <a:avLst/>
          </a:prstGeom>
          <a:noFill/>
          <a:ln/>
        </p:spPr>
        <p:txBody>
          <a:bodyPr wrap="square" lIns="0" tIns="0" rIns="0" bIns="0" rtlCol="0" anchor="t"/>
          <a:lstStyle/>
          <a:p>
            <a:pPr indent="0" marL="0">
              <a:buNone/>
            </a:pPr>
            <a:r>
              <a:rPr lang="en-US" sz="1600" b="1" dirty="0">
                <a:solidFill>
                  <a:srgbClr val="1F3A6E"/>
                </a:solidFill>
                <a:latin typeface="Calibri" pitchFamily="34" charset="0"/>
                <a:ea typeface="Calibri" pitchFamily="34" charset="-122"/>
                <a:cs typeface="Calibri" pitchFamily="34" charset="-120"/>
              </a:rPr>
              <a:t>Ricart–Agrawala or Suzuki–Kasami</a:t>
            </a:r>
            <a:endParaRPr lang="en-US" sz="1600" dirty="0"/>
          </a:p>
        </p:txBody>
      </p:sp>
      <p:sp>
        <p:nvSpPr>
          <p:cNvPr id="21" name="Text 16"/>
          <p:cNvSpPr txBox="1"/>
          <p:nvPr/>
        </p:nvSpPr>
        <p:spPr>
          <a:xfrm>
            <a:off x="4754880" y="3867912"/>
            <a:ext cx="6705295" cy="768096"/>
          </a:xfrm>
          <a:prstGeom prst="rect">
            <a:avLst/>
          </a:prstGeom>
          <a:noFill/>
          <a:ln/>
        </p:spPr>
        <p:txBody>
          <a:bodyPr wrap="square" lIns="0" tIns="0" rIns="0" bIns="0" rtlCol="0" anchor="ctr"/>
          <a:lstStyle/>
          <a:p>
            <a:pPr indent="0" marL="0">
              <a:buNone/>
            </a:pPr>
            <a:r>
              <a:rPr lang="en-US" sz="1350" dirty="0">
                <a:solidFill>
                  <a:srgbClr val="1E2533"/>
                </a:solidFill>
                <a:latin typeface="Calibri" pitchFamily="34" charset="0"/>
                <a:ea typeface="Calibri" pitchFamily="34" charset="-122"/>
                <a:cs typeface="Calibri" pitchFamily="34" charset="-120"/>
              </a:rPr>
              <a:t>Guarantee that the last free bed cannot be reserved from two devices at once. Today each device checks capacity only against its own copy.</a:t>
            </a:r>
            <a:endParaRPr lang="en-US" sz="1350" dirty="0"/>
          </a:p>
        </p:txBody>
      </p:sp>
      <p:sp>
        <p:nvSpPr>
          <p:cNvPr id="22" name="Shape 17"/>
          <p:cNvSpPr/>
          <p:nvPr/>
        </p:nvSpPr>
        <p:spPr>
          <a:xfrm>
            <a:off x="548640" y="4882896"/>
            <a:ext cx="11094415" cy="987552"/>
          </a:xfrm>
          <a:prstGeom prst="roundRect">
            <a:avLst>
              <a:gd name="adj" fmla="val 7407"/>
            </a:avLst>
          </a:prstGeom>
          <a:solidFill>
            <a:srgbClr val="FFFFFF"/>
          </a:solidFill>
          <a:ln w="12700">
            <a:solidFill>
              <a:srgbClr val="FFFFFF"/>
            </a:solidFill>
            <a:prstDash val="solid"/>
          </a:ln>
        </p:spPr>
      </p:sp>
      <p:sp>
        <p:nvSpPr>
          <p:cNvPr id="23" name="Shape 18"/>
          <p:cNvSpPr/>
          <p:nvPr/>
        </p:nvSpPr>
        <p:spPr>
          <a:xfrm>
            <a:off x="777240" y="5084064"/>
            <a:ext cx="585216" cy="585216"/>
          </a:xfrm>
          <a:prstGeom prst="ellipse">
            <a:avLst/>
          </a:prstGeom>
          <a:solidFill>
            <a:srgbClr val="1F3A6E"/>
          </a:solidFill>
          <a:ln w="12700">
            <a:solidFill>
              <a:srgbClr val="1F3A6E"/>
            </a:solidFill>
            <a:prstDash val="solid"/>
          </a:ln>
        </p:spPr>
      </p:sp>
      <p:pic>
        <p:nvPicPr>
          <p:cNvPr id="24" name="Image 3" descr="preencoded.png">    </p:cNvPr>
          <p:cNvPicPr>
            <a:picLocks noChangeAspect="1"/>
          </p:cNvPicPr>
          <p:nvPr/>
        </p:nvPicPr>
        <p:blipFill>
          <a:blip r:embed="rId4"/>
          <a:stretch>
            <a:fillRect/>
          </a:stretch>
        </p:blipFill>
        <p:spPr>
          <a:xfrm>
            <a:off x="929396" y="5236220"/>
            <a:ext cx="280904" cy="280904"/>
          </a:xfrm>
          <a:prstGeom prst="rect">
            <a:avLst/>
          </a:prstGeom>
        </p:spPr>
      </p:pic>
      <p:sp>
        <p:nvSpPr>
          <p:cNvPr id="25" name="Text 19"/>
          <p:cNvSpPr txBox="1"/>
          <p:nvPr/>
        </p:nvSpPr>
        <p:spPr>
          <a:xfrm>
            <a:off x="1554480" y="5065776"/>
            <a:ext cx="822960" cy="274320"/>
          </a:xfrm>
          <a:prstGeom prst="rect">
            <a:avLst/>
          </a:prstGeom>
          <a:noFill/>
          <a:ln/>
        </p:spPr>
        <p:txBody>
          <a:bodyPr wrap="square" lIns="0" tIns="0" rIns="0" bIns="0" rtlCol="0" anchor="t"/>
          <a:lstStyle/>
          <a:p>
            <a:pPr indent="0" marL="0">
              <a:buNone/>
            </a:pPr>
            <a:r>
              <a:rPr lang="en-US" sz="1200" b="1" dirty="0">
                <a:solidFill>
                  <a:srgbClr val="B45309"/>
                </a:solidFill>
                <a:latin typeface="Calibri" pitchFamily="34" charset="0"/>
                <a:ea typeface="Calibri" pitchFamily="34" charset="-122"/>
                <a:cs typeface="Calibri" pitchFamily="34" charset="-120"/>
              </a:rPr>
              <a:t>Unit 4</a:t>
            </a:r>
            <a:endParaRPr lang="en-US" sz="1200" dirty="0"/>
          </a:p>
        </p:txBody>
      </p:sp>
      <p:sp>
        <p:nvSpPr>
          <p:cNvPr id="26" name="Text 20"/>
          <p:cNvSpPr txBox="1"/>
          <p:nvPr/>
        </p:nvSpPr>
        <p:spPr>
          <a:xfrm>
            <a:off x="1554480" y="5321808"/>
            <a:ext cx="3017520" cy="411480"/>
          </a:xfrm>
          <a:prstGeom prst="rect">
            <a:avLst/>
          </a:prstGeom>
          <a:noFill/>
          <a:ln/>
        </p:spPr>
        <p:txBody>
          <a:bodyPr wrap="square" lIns="0" tIns="0" rIns="0" bIns="0" rtlCol="0" anchor="t"/>
          <a:lstStyle/>
          <a:p>
            <a:pPr indent="0" marL="0">
              <a:buNone/>
            </a:pPr>
            <a:r>
              <a:rPr lang="en-US" sz="1600" b="1" dirty="0">
                <a:solidFill>
                  <a:srgbClr val="1F3A6E"/>
                </a:solidFill>
                <a:latin typeface="Calibri" pitchFamily="34" charset="0"/>
                <a:ea typeface="Calibri" pitchFamily="34" charset="-122"/>
                <a:cs typeface="Calibri" pitchFamily="34" charset="-120"/>
              </a:rPr>
              <a:t>Docker containers and VMs</a:t>
            </a:r>
            <a:endParaRPr lang="en-US" sz="1600" dirty="0"/>
          </a:p>
        </p:txBody>
      </p:sp>
      <p:sp>
        <p:nvSpPr>
          <p:cNvPr id="27" name="Text 21"/>
          <p:cNvSpPr txBox="1"/>
          <p:nvPr/>
        </p:nvSpPr>
        <p:spPr>
          <a:xfrm>
            <a:off x="4754880" y="4992624"/>
            <a:ext cx="6705295" cy="768096"/>
          </a:xfrm>
          <a:prstGeom prst="rect">
            <a:avLst/>
          </a:prstGeom>
          <a:noFill/>
          <a:ln/>
        </p:spPr>
        <p:txBody>
          <a:bodyPr wrap="square" lIns="0" tIns="0" rIns="0" bIns="0" rtlCol="0" anchor="ctr"/>
          <a:lstStyle/>
          <a:p>
            <a:pPr indent="0" marL="0">
              <a:buNone/>
            </a:pPr>
            <a:r>
              <a:rPr lang="en-US" sz="1350" dirty="0">
                <a:solidFill>
                  <a:srgbClr val="1E2533"/>
                </a:solidFill>
                <a:latin typeface="Calibri" pitchFamily="34" charset="0"/>
                <a:ea typeface="Calibri" pitchFamily="34" charset="-122"/>
                <a:cs typeface="Calibri" pitchFamily="34" charset="-120"/>
              </a:rPr>
              <a:t>Package the relay and district API as containers, so a district can run them on its own servers or data centre.</a:t>
            </a:r>
            <a:endParaRPr lang="en-US" sz="1350" dirty="0"/>
          </a:p>
        </p:txBody>
      </p:sp>
      <p:sp>
        <p:nvSpPr>
          <p:cNvPr id="28" name="Text 22"/>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NalamMesh · 24CS502 Distributed and Cloud Computing</a:t>
            </a:r>
            <a:endParaRPr lang="en-US" sz="1000" dirty="0"/>
          </a:p>
        </p:txBody>
      </p:sp>
      <p:sp>
        <p:nvSpPr>
          <p:cNvPr id="29" name="Text 2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223F"/>
        </a:solidFill>
      </p:bgPr>
    </p:bg>
    <p:spTree>
      <p:nvGrpSpPr>
        <p:cNvPr id="1" name=""/>
        <p:cNvGrpSpPr/>
        <p:nvPr/>
      </p:nvGrpSpPr>
      <p:grpSpPr>
        <a:xfrm>
          <a:off x="0" y="0"/>
          <a:ext cx="0" cy="0"/>
          <a:chOff x="0" y="0"/>
          <a:chExt cx="0" cy="0"/>
        </a:xfrm>
      </p:grpSpPr>
      <p:sp>
        <p:nvSpPr>
          <p:cNvPr id="2" name="Text 0"/>
          <p:cNvSpPr txBox="1"/>
          <p:nvPr/>
        </p:nvSpPr>
        <p:spPr>
          <a:xfrm>
            <a:off x="548640" y="822960"/>
            <a:ext cx="5486400" cy="365760"/>
          </a:xfrm>
          <a:prstGeom prst="rect">
            <a:avLst/>
          </a:prstGeom>
          <a:noFill/>
          <a:ln/>
        </p:spPr>
        <p:txBody>
          <a:bodyPr wrap="square" lIns="0" tIns="0" rIns="0" bIns="0" rtlCol="0" anchor="ctr"/>
          <a:lstStyle/>
          <a:p>
            <a:pPr indent="0" marL="0">
              <a:buNone/>
            </a:pPr>
            <a:r>
              <a:rPr lang="en-US" sz="1400" b="1" spc="300" kern="0" dirty="0">
                <a:solidFill>
                  <a:srgbClr val="FF9933"/>
                </a:solidFill>
                <a:latin typeface="Calibri" pitchFamily="34" charset="0"/>
                <a:ea typeface="Calibri" pitchFamily="34" charset="-122"/>
                <a:cs typeface="Calibri" pitchFamily="34" charset="-120"/>
              </a:rPr>
              <a:t>SUMMARY</a:t>
            </a:r>
            <a:endParaRPr lang="en-US" sz="1400" dirty="0"/>
          </a:p>
        </p:txBody>
      </p:sp>
      <p:sp>
        <p:nvSpPr>
          <p:cNvPr id="3" name="Text 1"/>
          <p:cNvSpPr txBox="1"/>
          <p:nvPr/>
        </p:nvSpPr>
        <p:spPr>
          <a:xfrm>
            <a:off x="548640" y="1234440"/>
            <a:ext cx="10515600" cy="11887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 working distributed system, built for places where the network fails</a:t>
            </a:r>
            <a:endParaRPr lang="en-US" sz="3400" dirty="0"/>
          </a:p>
        </p:txBody>
      </p:sp>
      <p:sp>
        <p:nvSpPr>
          <p:cNvPr id="4" name="Shape 2"/>
          <p:cNvSpPr/>
          <p:nvPr/>
        </p:nvSpPr>
        <p:spPr>
          <a:xfrm>
            <a:off x="548640" y="2743200"/>
            <a:ext cx="1097280" cy="502920"/>
          </a:xfrm>
          <a:prstGeom prst="roundRect">
            <a:avLst>
              <a:gd name="adj" fmla="val 14545"/>
            </a:avLst>
          </a:prstGeom>
          <a:solidFill>
            <a:srgbClr val="284B8C"/>
          </a:solidFill>
          <a:ln w="12700">
            <a:solidFill>
              <a:srgbClr val="284B8C"/>
            </a:solidFill>
            <a:prstDash val="solid"/>
          </a:ln>
        </p:spPr>
      </p:sp>
      <p:sp>
        <p:nvSpPr>
          <p:cNvPr id="5" name="Text 3"/>
          <p:cNvSpPr txBox="1"/>
          <p:nvPr/>
        </p:nvSpPr>
        <p:spPr>
          <a:xfrm>
            <a:off x="548640" y="2743200"/>
            <a:ext cx="10972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Unit 1</a:t>
            </a:r>
            <a:endParaRPr lang="en-US" sz="1400" dirty="0"/>
          </a:p>
        </p:txBody>
      </p:sp>
      <p:sp>
        <p:nvSpPr>
          <p:cNvPr id="6" name="Text 4"/>
          <p:cNvSpPr txBox="1"/>
          <p:nvPr/>
        </p:nvSpPr>
        <p:spPr>
          <a:xfrm>
            <a:off x="1874520" y="2697480"/>
            <a:ext cx="9601200" cy="594360"/>
          </a:xfrm>
          <a:prstGeom prst="rect">
            <a:avLst/>
          </a:prstGeom>
          <a:noFill/>
          <a:ln/>
        </p:spPr>
        <p:txBody>
          <a:bodyPr wrap="square" lIns="0" tIns="0" rIns="0" bIns="0" rtlCol="0" anchor="ctr"/>
          <a:lstStyle/>
          <a:p>
            <a:pPr indent="0" marL="0">
              <a:buNone/>
            </a:pPr>
            <a:r>
              <a:rPr lang="en-US" sz="1500" dirty="0">
                <a:solidFill>
                  <a:srgbClr val="DCE4F2"/>
                </a:solidFill>
                <a:latin typeface="Calibri" pitchFamily="34" charset="0"/>
                <a:ea typeface="Calibri" pitchFamily="34" charset="-122"/>
                <a:cs typeface="Calibri" pitchFamily="34" charset="-120"/>
              </a:rPr>
              <a:t>Autonomous nodes, message passing, blocking and non-blocking primitives, asynchronous execution, causal and concurrent events.</a:t>
            </a:r>
            <a:endParaRPr lang="en-US" sz="1500" dirty="0"/>
          </a:p>
        </p:txBody>
      </p:sp>
      <p:sp>
        <p:nvSpPr>
          <p:cNvPr id="7" name="Shape 5"/>
          <p:cNvSpPr/>
          <p:nvPr/>
        </p:nvSpPr>
        <p:spPr>
          <a:xfrm>
            <a:off x="548640" y="3474720"/>
            <a:ext cx="1097280" cy="502920"/>
          </a:xfrm>
          <a:prstGeom prst="roundRect">
            <a:avLst>
              <a:gd name="adj" fmla="val 14545"/>
            </a:avLst>
          </a:prstGeom>
          <a:solidFill>
            <a:srgbClr val="284B8C"/>
          </a:solidFill>
          <a:ln w="12700">
            <a:solidFill>
              <a:srgbClr val="284B8C"/>
            </a:solidFill>
            <a:prstDash val="solid"/>
          </a:ln>
        </p:spPr>
      </p:sp>
      <p:sp>
        <p:nvSpPr>
          <p:cNvPr id="8" name="Text 6"/>
          <p:cNvSpPr txBox="1"/>
          <p:nvPr/>
        </p:nvSpPr>
        <p:spPr>
          <a:xfrm>
            <a:off x="548640" y="3474720"/>
            <a:ext cx="10972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Unit 2</a:t>
            </a:r>
            <a:endParaRPr lang="en-US" sz="1400" dirty="0"/>
          </a:p>
        </p:txBody>
      </p:sp>
      <p:sp>
        <p:nvSpPr>
          <p:cNvPr id="9" name="Text 7"/>
          <p:cNvSpPr txBox="1"/>
          <p:nvPr/>
        </p:nvSpPr>
        <p:spPr>
          <a:xfrm>
            <a:off x="1874520" y="3429000"/>
            <a:ext cx="9601200" cy="594360"/>
          </a:xfrm>
          <a:prstGeom prst="rect">
            <a:avLst/>
          </a:prstGeom>
          <a:noFill/>
          <a:ln/>
        </p:spPr>
        <p:txBody>
          <a:bodyPr wrap="square" lIns="0" tIns="0" rIns="0" bIns="0" rtlCol="0" anchor="ctr"/>
          <a:lstStyle/>
          <a:p>
            <a:pPr indent="0" marL="0">
              <a:buNone/>
            </a:pPr>
            <a:r>
              <a:rPr lang="en-US" sz="1500" dirty="0">
                <a:solidFill>
                  <a:srgbClr val="DCE4F2"/>
                </a:solidFill>
                <a:latin typeface="Calibri" pitchFamily="34" charset="0"/>
                <a:ea typeface="Calibri" pitchFamily="34" charset="-122"/>
                <a:cs typeface="Calibri" pitchFamily="34" charset="-120"/>
              </a:rPr>
              <a:t>The no-global-clock problem, FIFO channels, catch-up after partitions. Next step: vector clocks and snapshots.</a:t>
            </a:r>
            <a:endParaRPr lang="en-US" sz="1500" dirty="0"/>
          </a:p>
        </p:txBody>
      </p:sp>
      <p:sp>
        <p:nvSpPr>
          <p:cNvPr id="10" name="Shape 8"/>
          <p:cNvSpPr/>
          <p:nvPr/>
        </p:nvSpPr>
        <p:spPr>
          <a:xfrm>
            <a:off x="548640" y="4206240"/>
            <a:ext cx="1097280" cy="502920"/>
          </a:xfrm>
          <a:prstGeom prst="roundRect">
            <a:avLst>
              <a:gd name="adj" fmla="val 14545"/>
            </a:avLst>
          </a:prstGeom>
          <a:solidFill>
            <a:srgbClr val="FF9933"/>
          </a:solidFill>
          <a:ln w="12700">
            <a:solidFill>
              <a:srgbClr val="FF9933"/>
            </a:solidFill>
            <a:prstDash val="solid"/>
          </a:ln>
        </p:spPr>
      </p:sp>
      <p:sp>
        <p:nvSpPr>
          <p:cNvPr id="11" name="Text 9"/>
          <p:cNvSpPr txBox="1"/>
          <p:nvPr/>
        </p:nvSpPr>
        <p:spPr>
          <a:xfrm>
            <a:off x="548640" y="4206240"/>
            <a:ext cx="10972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Unit 3</a:t>
            </a:r>
            <a:endParaRPr lang="en-US" sz="1400" dirty="0"/>
          </a:p>
        </p:txBody>
      </p:sp>
      <p:sp>
        <p:nvSpPr>
          <p:cNvPr id="12" name="Text 10"/>
          <p:cNvSpPr txBox="1"/>
          <p:nvPr/>
        </p:nvSpPr>
        <p:spPr>
          <a:xfrm>
            <a:off x="1874520" y="4160520"/>
            <a:ext cx="9601200" cy="594360"/>
          </a:xfrm>
          <a:prstGeom prst="rect">
            <a:avLst/>
          </a:prstGeom>
          <a:noFill/>
          <a:ln/>
        </p:spPr>
        <p:txBody>
          <a:bodyPr wrap="square" lIns="0" tIns="0" rIns="0" bIns="0" rtlCol="0" anchor="ctr"/>
          <a:lstStyle/>
          <a:p>
            <a:pPr indent="0" marL="0">
              <a:buNone/>
            </a:pPr>
            <a:r>
              <a:rPr lang="en-US" sz="1500" dirty="0">
                <a:solidFill>
                  <a:srgbClr val="DCE4F2"/>
                </a:solidFill>
                <a:latin typeface="Calibri" pitchFamily="34" charset="0"/>
                <a:ea typeface="Calibri" pitchFamily="34" charset="-122"/>
                <a:cs typeface="Calibri" pitchFamily="34" charset="-120"/>
              </a:rPr>
              <a:t>Bed reservation is a real critical section, and the natural place for distributed mutual exclusion.</a:t>
            </a:r>
            <a:endParaRPr lang="en-US" sz="1500" dirty="0"/>
          </a:p>
        </p:txBody>
      </p:sp>
      <p:sp>
        <p:nvSpPr>
          <p:cNvPr id="13" name="Shape 11"/>
          <p:cNvSpPr/>
          <p:nvPr/>
        </p:nvSpPr>
        <p:spPr>
          <a:xfrm>
            <a:off x="548640" y="4937760"/>
            <a:ext cx="1097280" cy="502920"/>
          </a:xfrm>
          <a:prstGeom prst="roundRect">
            <a:avLst>
              <a:gd name="adj" fmla="val 14545"/>
            </a:avLst>
          </a:prstGeom>
          <a:solidFill>
            <a:srgbClr val="284B8C"/>
          </a:solidFill>
          <a:ln w="12700">
            <a:solidFill>
              <a:srgbClr val="284B8C"/>
            </a:solidFill>
            <a:prstDash val="solid"/>
          </a:ln>
        </p:spPr>
      </p:sp>
      <p:sp>
        <p:nvSpPr>
          <p:cNvPr id="14" name="Text 12"/>
          <p:cNvSpPr txBox="1"/>
          <p:nvPr/>
        </p:nvSpPr>
        <p:spPr>
          <a:xfrm>
            <a:off x="548640" y="4937760"/>
            <a:ext cx="10972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Unit 4</a:t>
            </a:r>
            <a:endParaRPr lang="en-US" sz="1400" dirty="0"/>
          </a:p>
        </p:txBody>
      </p:sp>
      <p:sp>
        <p:nvSpPr>
          <p:cNvPr id="15" name="Text 13"/>
          <p:cNvSpPr txBox="1"/>
          <p:nvPr/>
        </p:nvSpPr>
        <p:spPr>
          <a:xfrm>
            <a:off x="1874520" y="4892040"/>
            <a:ext cx="9601200" cy="594360"/>
          </a:xfrm>
          <a:prstGeom prst="rect">
            <a:avLst/>
          </a:prstGeom>
          <a:noFill/>
          <a:ln/>
        </p:spPr>
        <p:txBody>
          <a:bodyPr wrap="square" lIns="0" tIns="0" rIns="0" bIns="0" rtlCol="0" anchor="ctr"/>
          <a:lstStyle/>
          <a:p>
            <a:pPr indent="0" marL="0">
              <a:buNone/>
            </a:pPr>
            <a:r>
              <a:rPr lang="en-US" sz="1500" dirty="0">
                <a:solidFill>
                  <a:srgbClr val="DCE4F2"/>
                </a:solidFill>
                <a:latin typeface="Calibri" pitchFamily="34" charset="0"/>
                <a:ea typeface="Calibri" pitchFamily="34" charset="-122"/>
                <a:cs typeface="Calibri" pitchFamily="34" charset="-120"/>
              </a:rPr>
              <a:t>Local and remote persistent storage, an overlay mesh network, and cloud hosting.</a:t>
            </a:r>
            <a:endParaRPr lang="en-US" sz="1500" dirty="0"/>
          </a:p>
        </p:txBody>
      </p:sp>
      <p:sp>
        <p:nvSpPr>
          <p:cNvPr id="16" name="Text 14"/>
          <p:cNvSpPr txBox="1"/>
          <p:nvPr/>
        </p:nvSpPr>
        <p:spPr>
          <a:xfrm>
            <a:off x="548640" y="5852160"/>
            <a:ext cx="7315200" cy="457200"/>
          </a:xfrm>
          <a:prstGeom prst="rect">
            <a:avLst/>
          </a:prstGeom>
          <a:noFill/>
          <a:ln/>
        </p:spPr>
        <p:txBody>
          <a:bodyPr wrap="square" lIns="0" tIns="0" rIns="0" bIns="0" rtlCol="0" anchor="ctr"/>
          <a:lstStyle/>
          <a:p>
            <a:pPr indent="0" marL="0">
              <a:buNone/>
            </a:pPr>
            <a:r>
              <a:rPr lang="en-US" sz="2200" i="1" dirty="0">
                <a:solidFill>
                  <a:srgbClr val="FF9933"/>
                </a:solidFill>
                <a:latin typeface="Cambria" pitchFamily="34" charset="0"/>
                <a:ea typeface="Cambria" pitchFamily="34" charset="-122"/>
                <a:cs typeface="Cambria" pitchFamily="34" charset="-120"/>
              </a:rPr>
              <a:t>Thank you · Questions?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NalamMesh — Distributed &amp; Cloud Computing Concepts</dc:title>
  <dc:subject>PptxGenJS Presentation</dc:subject>
  <dc:creator>PptxGenJS</dc:creator>
  <cp:lastModifiedBy>PptxGenJS</cp:lastModifiedBy>
  <cp:revision>1</cp:revision>
  <dcterms:created xsi:type="dcterms:W3CDTF">2026-09-24T16:25:53Z</dcterms:created>
  <dcterms:modified xsi:type="dcterms:W3CDTF">2026-09-24T16:25:53Z</dcterms:modified>
</cp:coreProperties>
</file>