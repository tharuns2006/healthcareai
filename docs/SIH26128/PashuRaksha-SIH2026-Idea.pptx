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Solution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PashuRaksha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SIH26128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Efficient systems for early detection, prevention, and management of livestock diseases and animal health issues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MedTech / BioTech / HealthTech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178601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TechDevs_6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31286" y="5943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1">
                <a:solidFill>
                  <a:srgbClr val="2F5597"/>
                </a:solidFill>
                <a:latin typeface="Arial"/>
              </a:rPr>
              <a:t>From the first sick animal to a coordinated response, measured in hours.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46720" cy="914400"/>
          </a:xfrm>
        </p:spPr>
        <p:txBody>
          <a:bodyPr anchor="ctr"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Why Livestock Disease Is Found Late and Handled Slowly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0040" y="1188720"/>
            <a:ext cx="22219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Oval 15362"/>
          <p:cNvSpPr/>
          <p:nvPr/>
        </p:nvSpPr>
        <p:spPr>
          <a:xfrm>
            <a:off x="393192" y="1261872"/>
            <a:ext cx="310896" cy="31089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749808" y="1243584"/>
            <a:ext cx="176479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Late reporting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93192" y="1664208"/>
            <a:ext cx="2075688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Farmers try home remedies first or hide cases for fear of movement restrictions. Nobody tells them what happens next.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656332" y="1188720"/>
            <a:ext cx="22219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Oval 15366"/>
          <p:cNvSpPr/>
          <p:nvPr/>
        </p:nvSpPr>
        <p:spPr>
          <a:xfrm>
            <a:off x="2729484" y="1261872"/>
            <a:ext cx="310896" cy="31089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086100" y="1243584"/>
            <a:ext cx="176479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Distant diagnosis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729484" y="1664208"/>
            <a:ext cx="2075688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Samples are not taken, spoil on the way, or the result never returns to the person who sent it.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992624" y="1188720"/>
            <a:ext cx="22219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Oval 15370"/>
          <p:cNvSpPr/>
          <p:nvPr/>
        </p:nvSpPr>
        <p:spPr>
          <a:xfrm>
            <a:off x="5065776" y="1261872"/>
            <a:ext cx="310896" cy="31089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5422392" y="1243584"/>
            <a:ext cx="176479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Incomplete histories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065776" y="1664208"/>
            <a:ext cx="2075688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Ear-tag, vaccination and treatment records sit in paper registers, so nobody can say who is overdue.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7328916" y="1188720"/>
            <a:ext cx="22219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Oval 15374"/>
          <p:cNvSpPr/>
          <p:nvPr/>
        </p:nvSpPr>
        <p:spPr>
          <a:xfrm>
            <a:off x="7402068" y="1261872"/>
            <a:ext cx="310896" cy="31089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758684" y="1243584"/>
            <a:ext cx="176479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Fragmented data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7402068" y="1664208"/>
            <a:ext cx="2075688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Dispensary, lab, drives and surveillance keep separate records; the block officer sees totals, not village patterns.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9665208" y="1188720"/>
            <a:ext cx="22219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Oval 15378"/>
          <p:cNvSpPr/>
          <p:nvPr/>
        </p:nvSpPr>
        <p:spPr>
          <a:xfrm>
            <a:off x="9738360" y="1261872"/>
            <a:ext cx="310896" cy="31089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10094976" y="1243584"/>
            <a:ext cx="176479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No signal, late zoonotic alert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9738360" y="1664208"/>
            <a:ext cx="2075688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Online-only tools fail where outbreaks start. Human health hears of anthrax or rabies exposure late.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320040" y="3200400"/>
            <a:ext cx="1097280" cy="777240"/>
          </a:xfrm>
          <a:prstGeom prst="roundRect">
            <a:avLst>
              <a:gd name="adj" fmla="val 10000"/>
            </a:avLst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1554480" y="32004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Sick animal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691890" y="32004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Home remedy first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3337560" y="3589020"/>
            <a:ext cx="35433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ounded Rectangle 15385"/>
          <p:cNvSpPr/>
          <p:nvPr/>
        </p:nvSpPr>
        <p:spPr>
          <a:xfrm>
            <a:off x="5829300" y="32004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Late report</a:t>
            </a:r>
          </a:p>
        </p:txBody>
      </p:sp>
      <p:cxnSp>
        <p:nvCxnSpPr>
          <p:cNvPr id="15387" name="Connector 15386"/>
          <p:cNvCxnSpPr/>
          <p:nvPr/>
        </p:nvCxnSpPr>
        <p:spPr>
          <a:xfrm>
            <a:off x="5474970" y="3589020"/>
            <a:ext cx="35433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8" name="Rounded Rectangle 15387"/>
          <p:cNvSpPr/>
          <p:nvPr/>
        </p:nvSpPr>
        <p:spPr>
          <a:xfrm>
            <a:off x="7966710" y="32004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Manual relay,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no feedback</a:t>
            </a:r>
          </a:p>
        </p:txBody>
      </p:sp>
      <p:cxnSp>
        <p:nvCxnSpPr>
          <p:cNvPr id="15389" name="Connector 15388"/>
          <p:cNvCxnSpPr/>
          <p:nvPr/>
        </p:nvCxnSpPr>
        <p:spPr>
          <a:xfrm>
            <a:off x="7612379" y="3589020"/>
            <a:ext cx="35433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Rounded Rectangle 15389"/>
          <p:cNvSpPr/>
          <p:nvPr/>
        </p:nvSpPr>
        <p:spPr>
          <a:xfrm>
            <a:off x="10104120" y="32004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Slow response</a:t>
            </a:r>
          </a:p>
        </p:txBody>
      </p:sp>
      <p:cxnSp>
        <p:nvCxnSpPr>
          <p:cNvPr id="15391" name="Connector 15390"/>
          <p:cNvCxnSpPr/>
          <p:nvPr/>
        </p:nvCxnSpPr>
        <p:spPr>
          <a:xfrm>
            <a:off x="9749790" y="3589020"/>
            <a:ext cx="35433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2" name="Rounded Rectangle 15391"/>
          <p:cNvSpPr/>
          <p:nvPr/>
        </p:nvSpPr>
        <p:spPr>
          <a:xfrm>
            <a:off x="320040" y="4114800"/>
            <a:ext cx="1097280" cy="777240"/>
          </a:xfrm>
          <a:prstGeom prst="roundRect">
            <a:avLst>
              <a:gd name="adj" fmla="val 10000"/>
            </a:avLst>
          </a:prstGeom>
          <a:solidFill>
            <a:srgbClr val="549E3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PASHU
RAKSHA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1554480" y="41148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Sick animal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3691890" y="41148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4-tap or missed-call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report</a:t>
            </a:r>
          </a:p>
        </p:txBody>
      </p:sp>
      <p:cxnSp>
        <p:nvCxnSpPr>
          <p:cNvPr id="15395" name="Connector 15394"/>
          <p:cNvCxnSpPr/>
          <p:nvPr/>
        </p:nvCxnSpPr>
        <p:spPr>
          <a:xfrm>
            <a:off x="3337560" y="4503420"/>
            <a:ext cx="35433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6" name="Rounded Rectangle 15395"/>
          <p:cNvSpPr/>
          <p:nvPr/>
        </p:nvSpPr>
        <p:spPr>
          <a:xfrm>
            <a:off x="5829300" y="41148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Triage + cluster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check</a:t>
            </a:r>
          </a:p>
        </p:txBody>
      </p:sp>
      <p:cxnSp>
        <p:nvCxnSpPr>
          <p:cNvPr id="15397" name="Connector 15396"/>
          <p:cNvCxnSpPr/>
          <p:nvPr/>
        </p:nvCxnSpPr>
        <p:spPr>
          <a:xfrm>
            <a:off x="5474970" y="4503420"/>
            <a:ext cx="35433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8" name="Rounded Rectangle 15397"/>
          <p:cNvSpPr/>
          <p:nvPr/>
        </p:nvSpPr>
        <p:spPr>
          <a:xfrm>
            <a:off x="7966710" y="41148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Escalation timer,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reporter feedback</a:t>
            </a:r>
          </a:p>
        </p:txBody>
      </p:sp>
      <p:cxnSp>
        <p:nvCxnSpPr>
          <p:cNvPr id="15399" name="Connector 15398"/>
          <p:cNvCxnSpPr/>
          <p:nvPr/>
        </p:nvCxnSpPr>
        <p:spPr>
          <a:xfrm>
            <a:off x="7612379" y="4503420"/>
            <a:ext cx="35433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0" name="Rounded Rectangle 15399"/>
          <p:cNvSpPr/>
          <p:nvPr/>
        </p:nvSpPr>
        <p:spPr>
          <a:xfrm>
            <a:off x="10104120" y="4114800"/>
            <a:ext cx="1783080" cy="77724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Sample, lab,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response</a:t>
            </a:r>
          </a:p>
        </p:txBody>
      </p:sp>
      <p:cxnSp>
        <p:nvCxnSpPr>
          <p:cNvPr id="15401" name="Connector 15400"/>
          <p:cNvCxnSpPr/>
          <p:nvPr/>
        </p:nvCxnSpPr>
        <p:spPr>
          <a:xfrm>
            <a:off x="9749790" y="4503420"/>
            <a:ext cx="35433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2" name="Rounded Rectangle 15401"/>
          <p:cNvSpPr/>
          <p:nvPr/>
        </p:nvSpPr>
        <p:spPr>
          <a:xfrm>
            <a:off x="320040" y="5074920"/>
            <a:ext cx="11567160" cy="566928"/>
          </a:xfrm>
          <a:prstGeom prst="roundRect">
            <a:avLst>
              <a:gd name="adj" fmla="val 12000"/>
            </a:avLst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The outbreak clock: hours from first report to action, recorded for every case and shown for every block.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320040" y="5715000"/>
            <a:ext cx="11567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The three jobs in the problem statement: </a:t>
            </a:r>
            <a:r>
              <a:rPr sz="1100" b="0">
                <a:solidFill>
                  <a:srgbClr val="262626"/>
                </a:solidFill>
                <a:latin typeface="Arial"/>
              </a:rPr>
              <a:t>Detect (notice the pattern early), Prevent (vaccinate and advise), Manage (sample, refer, contain, close). Most reporting apps stop at the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46720" cy="914400"/>
          </a:xfrm>
        </p:spPr>
        <p:txBody>
          <a:bodyPr anchor="ctr"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PashuRaksha: Detect, Prevent, Manage in One Workflow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3749039" cy="365760"/>
          </a:xfrm>
          <a:prstGeom prst="roundRect">
            <a:avLst>
              <a:gd name="adj" fmla="val 15000"/>
            </a:avLst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DETECT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627632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93192" y="1655064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Late reporting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93192" y="1901952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Para-vet app: 4 taps, offline. Farmer: missed call, IVR in Marathi / Hindi. Assisted or anonymous reports.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0040" y="2578608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93192" y="2606040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Unclear severity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93192" y="2852928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Syndrome rules per species give: routine advice, vet visit, or suspected notifiable disease.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0040" y="3529584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93192" y="3557016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Invisible patterns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93192" y="3803904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Cluster thresholds across villages and weeks; baseline learned as data grows.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229099" y="1188720"/>
            <a:ext cx="3749039" cy="365760"/>
          </a:xfrm>
          <a:prstGeom prst="roundRect">
            <a:avLst>
              <a:gd name="adj" fmla="val 15000"/>
            </a:avLst>
          </a:prstGeom>
          <a:solidFill>
            <a:srgbClr val="549E3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PREVENT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29099" y="1627632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302251" y="1655064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549E39"/>
                </a:solidFill>
                <a:latin typeface="Arial"/>
              </a:rPr>
              <a:t>Incomplete histories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02251" y="1901952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Herd record first, animal level where an ear tag exists.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29099" y="2578608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4302251" y="2606040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549E39"/>
                </a:solidFill>
                <a:latin typeface="Arial"/>
              </a:rPr>
              <a:t>Missed vaccinations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302251" y="2852928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Due-lists: who in this village is overdue, with reminders.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229099" y="3529584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4302251" y="3557016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549E39"/>
                </a:solidFill>
                <a:latin typeface="Arial"/>
              </a:rPr>
              <a:t>Unseen risk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302251" y="3803904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Weather and past-outbreak layer gives block-level risk guidance. Multilingual advisories.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138159" y="1188720"/>
            <a:ext cx="3749039" cy="36576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MANAGE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138159" y="1627632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211311" y="1655064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C55A11"/>
                </a:solidFill>
                <a:latin typeface="Arial"/>
              </a:rPr>
              <a:t>Distant diagnosis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211311" y="1901952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Sample checklist, nearest lab suggested, status tracked, result returned to the reporter.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138159" y="2578608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211311" y="2606040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C55A11"/>
                </a:solidFill>
                <a:latin typeface="Arial"/>
              </a:rPr>
              <a:t>Delayed escalation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211311" y="2852928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Unanswered suspect cases move up to the next officer on a timer.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138159" y="3529584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8211311" y="3557016"/>
            <a:ext cx="3602735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C55A11"/>
                </a:solidFill>
                <a:latin typeface="Arial"/>
              </a:rPr>
              <a:t>Zoonotic blind spot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211311" y="3803904"/>
            <a:ext cx="3602735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Zoonotic flag alerts human health. Officer dashboard shows open cases and lab turnaround.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20040" y="4507992"/>
            <a:ext cx="109728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One case, timestamped end to end (the outbreak clock)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20040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First symptom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785692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Reported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1627631" y="4983480"/>
            <a:ext cx="15806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3251345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Triaged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3093284" y="4983480"/>
            <a:ext cx="15806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4716997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Sample sent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4558937" y="4983480"/>
            <a:ext cx="15806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6182650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Lab result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6024589" y="4983480"/>
            <a:ext cx="15806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7648302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Officer response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7490242" y="4983480"/>
            <a:ext cx="15806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9113955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Contained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8955894" y="4983480"/>
            <a:ext cx="15806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10579608" y="4754880"/>
            <a:ext cx="1307592" cy="4572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Closed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10421547" y="4983480"/>
            <a:ext cx="15806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320040" y="5321808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393192" y="5349240"/>
            <a:ext cx="360273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Rules decide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393192" y="5623560"/>
            <a:ext cx="3602735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Safety-critical steps: syndromes, thresholds, escalation, missing data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4229099" y="5321808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4302251" y="5349240"/>
            <a:ext cx="360273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ML assists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302251" y="5623560"/>
            <a:ext cx="3602735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Anomaly and risk ranking where history exists; labelled as assistive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8138159" y="5321808"/>
            <a:ext cx="374903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211311" y="5349240"/>
            <a:ext cx="360273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2F5597"/>
                </a:solidFill>
                <a:latin typeface="Arial"/>
              </a:rPr>
              <a:t>Veterinarian decides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8211311" y="5623560"/>
            <a:ext cx="3602735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Diagnosis, treatment and containment. The system never prescribes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46720" cy="914400"/>
          </a:xfrm>
        </p:spPr>
        <p:txBody>
          <a:bodyPr anchor="ctr"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Architecture and How We Will Prove It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640080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243584"/>
            <a:ext cx="6217920" cy="292608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r>
              <a:rPr sz="1400" b="1" u="sng">
                <a:solidFill>
                  <a:srgbClr val="2F5597"/>
                </a:solidFill>
                <a:latin typeface="Arial"/>
              </a:rPr>
              <a:t>Architecture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645920"/>
            <a:ext cx="1920240" cy="5943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Para-vet / vet app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(offline)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468880" y="1645920"/>
            <a:ext cx="1920240" cy="5943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Farmer IVR / SMS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480560" y="1645920"/>
            <a:ext cx="1920240" cy="5943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Lab and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vaccination-drive data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520440" y="2240280"/>
            <a:ext cx="0" cy="155448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57200" y="2395728"/>
            <a:ext cx="6126480" cy="50292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Case intake  ·  sync outbox  ·  identity: village code, herd / ear tag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520440" y="2898648"/>
            <a:ext cx="0" cy="155448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457200" y="3054096"/>
            <a:ext cx="1920240" cy="64008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Syndrome rules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(per species)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468880" y="3054096"/>
            <a:ext cx="1920240" cy="64008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Cluster rules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+ learned baseline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480560" y="3054096"/>
            <a:ext cx="1920240" cy="64008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Risk layer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(weather, history)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520440" y="3694176"/>
            <a:ext cx="0" cy="155448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457200" y="3849624"/>
            <a:ext cx="1463040" cy="64008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Escalation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timer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993391" y="3849624"/>
            <a:ext cx="1463040" cy="64008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Lab referral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tracker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529584" y="3849624"/>
            <a:ext cx="1463040" cy="64008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Vaccination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due-lists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65776" y="3849624"/>
            <a:ext cx="1463040" cy="64008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One Health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alert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3520440" y="4489704"/>
            <a:ext cx="0" cy="155448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457200" y="4645152"/>
            <a:ext cx="3017520" cy="5943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Multilingual alerts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SMS / IVR / app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566160" y="4645152"/>
            <a:ext cx="3017520" cy="5943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Officer dashboard: outbreak clock,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village map, coverage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7200" y="5349240"/>
            <a:ext cx="6217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Proposed stack: </a:t>
            </a:r>
            <a:r>
              <a:rPr sz="1000" b="0">
                <a:solidFill>
                  <a:srgbClr val="262626"/>
                </a:solidFill>
                <a:latin typeface="Arial"/>
              </a:rPr>
              <a:t>Next.js PWA + Capacitor Android (offline, IndexedDB), FastAPI / Node relay, PostgreSQL + PostGIS, an IVR provider, Bhashini for language, MapLibre for the map. Nothing here has been built or benchmarked yet.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903720" y="1188720"/>
            <a:ext cx="498348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995160" y="1243584"/>
            <a:ext cx="4754880" cy="292608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r>
              <a:rPr sz="1400" b="1" u="sng">
                <a:solidFill>
                  <a:srgbClr val="2F5597"/>
                </a:solidFill>
                <a:latin typeface="Arial"/>
              </a:rPr>
              <a:t>How We Will Validate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040880" y="1627632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7114032" y="1856232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543800" y="1664208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F5597"/>
                </a:solidFill>
                <a:latin typeface="Arial"/>
              </a:rPr>
              <a:t>Historical replay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543800" y="1920240"/>
            <a:ext cx="41605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Run past outbreak reports through the rules and see whether, and when, an alert would have fired.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040880" y="2523744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Oval 17436"/>
          <p:cNvSpPr/>
          <p:nvPr/>
        </p:nvSpPr>
        <p:spPr>
          <a:xfrm>
            <a:off x="7114032" y="2752344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543800" y="2560320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F5597"/>
                </a:solidFill>
                <a:latin typeface="Arial"/>
              </a:rPr>
              <a:t>Expert review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543800" y="2816351"/>
            <a:ext cx="41605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Veterinarians check that syndrome rules and thresholds match field practice.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040880" y="3419856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Oval 17440"/>
          <p:cNvSpPr/>
          <p:nvPr/>
        </p:nvSpPr>
        <p:spPr>
          <a:xfrm>
            <a:off x="7114032" y="3648456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543800" y="3456432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F5597"/>
                </a:solidFill>
                <a:latin typeface="Arial"/>
              </a:rPr>
              <a:t>Pilot in one block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543800" y="3712463"/>
            <a:ext cx="41605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Measure the outbreak clock and the other process measures with real users.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7040880" y="4315968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Oval 17444"/>
          <p:cNvSpPr/>
          <p:nvPr/>
        </p:nvSpPr>
        <p:spPr>
          <a:xfrm>
            <a:off x="7114032" y="4544568"/>
            <a:ext cx="347472" cy="34747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543800" y="4352544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F5597"/>
                </a:solidFill>
                <a:latin typeface="Arial"/>
              </a:rPr>
              <a:t>Holdout checks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543800" y="4608576"/>
            <a:ext cx="416052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Test on unseen blocks and periods once enough data exists.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040880" y="5212080"/>
            <a:ext cx="4663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F5597"/>
                </a:solidFill>
                <a:latin typeface="Arial"/>
              </a:rPr>
              <a:t>Proposed measures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7040880" y="5468112"/>
            <a:ext cx="2286000" cy="310896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Arial"/>
              </a:rPr>
              <a:t>Report-to-response time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9418320" y="5468112"/>
            <a:ext cx="2286000" cy="310896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Arial"/>
              </a:rPr>
              <a:t>Suspects with sample sent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040880" y="5833872"/>
            <a:ext cx="2286000" cy="310896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Arial"/>
              </a:rPr>
              <a:t>Due-list coverage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9418320" y="5833872"/>
            <a:ext cx="2286000" cy="310896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Arial"/>
              </a:rPr>
              <a:t>False-alarm rate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8046720" cy="914400"/>
          </a:xfrm>
        </p:spPr>
        <p:txBody>
          <a:bodyPr anchor="ctr"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From One-Block Pilot to State-Level Surveillance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70432"/>
            <a:ext cx="3749039" cy="68580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PILOT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1 block, a few villages, local dispensary and lab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29099" y="1170432"/>
            <a:ext cx="3749039" cy="6858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DISTRICT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Multiple blocks, district officer view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069079" y="1513332"/>
            <a:ext cx="16002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8138159" y="1170432"/>
            <a:ext cx="3749039" cy="68580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STATE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Shared rules, local thresholds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7978139" y="1513332"/>
            <a:ext cx="16002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320040" y="192024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Field loop</a:t>
            </a:r>
            <a:r>
              <a:rPr sz="1050" b="0">
                <a:solidFill>
                  <a:srgbClr val="2F5597"/>
                </a:solidFill>
                <a:latin typeface="Arial"/>
              </a:rPr>
              <a:t>  (conceptual workflow)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0040" y="2176272"/>
            <a:ext cx="2103120" cy="56692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Report offline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686050" y="2176272"/>
            <a:ext cx="2103120" cy="56692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Triage + cluster check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2423160" y="2459736"/>
            <a:ext cx="26289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5052059" y="2176272"/>
            <a:ext cx="2103120" cy="56692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Sync, alert, escalate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4789169" y="2459736"/>
            <a:ext cx="26289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7418069" y="2176272"/>
            <a:ext cx="2103120" cy="56692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Response and sample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7155179" y="2459736"/>
            <a:ext cx="26289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9784080" y="2176272"/>
            <a:ext cx="2103120" cy="566928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Feedback to reporter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9521190" y="2459736"/>
            <a:ext cx="26289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320040" y="2880360"/>
            <a:ext cx="22219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374904" y="2907792"/>
            <a:ext cx="21122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FARMER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74904" y="3200400"/>
            <a:ext cx="2112264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gets advice and a next step after reporting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656332" y="2880360"/>
            <a:ext cx="22219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2711196" y="2907792"/>
            <a:ext cx="21122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PARA-VET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711196" y="3200400"/>
            <a:ext cx="2112264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one entry point, works without signal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992624" y="2880360"/>
            <a:ext cx="22219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5047488" y="2907792"/>
            <a:ext cx="21122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VETERINARY OFFICER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047488" y="3200400"/>
            <a:ext cx="2112264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sees suspect clusters and overdue vaccinations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328916" y="2880360"/>
            <a:ext cx="22219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383780" y="2907792"/>
            <a:ext cx="21122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DISTRICT / STATE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383780" y="3200400"/>
            <a:ext cx="2112264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evidence for planning and response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665208" y="2880360"/>
            <a:ext cx="22219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9720072" y="2907792"/>
            <a:ext cx="21122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F5597"/>
                </a:solidFill>
                <a:latin typeface="Arial"/>
              </a:rPr>
              <a:t>HUMAN HEALTH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9720072" y="3200400"/>
            <a:ext cx="2112264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early notice of zoonotic risk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20040" y="3858768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F5597"/>
                </a:solidFill>
                <a:latin typeface="Arial"/>
              </a:rPr>
              <a:t>What we will measure in the pilot (proposed)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20040" y="4114800"/>
            <a:ext cx="2221992" cy="3657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Report-to-response time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656332" y="4114800"/>
            <a:ext cx="2221992" cy="3657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Suspects with sample sent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992624" y="4114800"/>
            <a:ext cx="2221992" cy="3657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Escalation acknowledgement time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7328916" y="4114800"/>
            <a:ext cx="2221992" cy="3657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Due-list coverage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665208" y="4114800"/>
            <a:ext cx="2221992" cy="36576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False-alarm rate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320040" y="4572000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F5597"/>
                </a:solidFill>
                <a:latin typeface="Arial"/>
              </a:rPr>
              <a:t>Main risks and how they are handled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20040" y="4828032"/>
            <a:ext cx="2221992" cy="1389888"/>
          </a:xfrm>
          <a:prstGeom prst="roundRect">
            <a:avLst>
              <a:gd name="adj" fmla="val 6000"/>
            </a:avLst>
          </a:prstGeom>
          <a:solidFill>
            <a:srgbClr val="F8D7D7"/>
          </a:solidFill>
          <a:ln w="12700">
            <a:solidFill>
              <a:srgbClr val="A6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374904" y="4855464"/>
            <a:ext cx="2112264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A61C1C"/>
                </a:solidFill>
                <a:latin typeface="Arial"/>
              </a:rPr>
              <a:t>Under-reporting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74904" y="5212080"/>
            <a:ext cx="2112264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assisted and anonymous reports; feedback to reporter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2656332" y="4828032"/>
            <a:ext cx="2221992" cy="1389888"/>
          </a:xfrm>
          <a:prstGeom prst="roundRect">
            <a:avLst>
              <a:gd name="adj" fmla="val 6000"/>
            </a:avLst>
          </a:prstGeom>
          <a:solidFill>
            <a:srgbClr val="F8D7D7"/>
          </a:solidFill>
          <a:ln w="12700">
            <a:solidFill>
              <a:srgbClr val="A6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2711196" y="4855464"/>
            <a:ext cx="2112264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A61C1C"/>
                </a:solidFill>
                <a:latin typeface="Arial"/>
              </a:rPr>
              <a:t>False alarms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2711196" y="5212080"/>
            <a:ext cx="2112264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alert levels, thresholds, officer review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992624" y="4828032"/>
            <a:ext cx="2221992" cy="1389888"/>
          </a:xfrm>
          <a:prstGeom prst="roundRect">
            <a:avLst>
              <a:gd name="adj" fmla="val 6000"/>
            </a:avLst>
          </a:prstGeom>
          <a:solidFill>
            <a:srgbClr val="F8D7D7"/>
          </a:solidFill>
          <a:ln w="12700">
            <a:solidFill>
              <a:srgbClr val="A6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5047488" y="4855464"/>
            <a:ext cx="2112264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A61C1C"/>
                </a:solidFill>
                <a:latin typeface="Arial"/>
              </a:rPr>
              <a:t>Thin baseline data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047488" y="5212080"/>
            <a:ext cx="2112264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rules first; baseline learned; confidence stated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7328916" y="4828032"/>
            <a:ext cx="2221992" cy="1389888"/>
          </a:xfrm>
          <a:prstGeom prst="roundRect">
            <a:avLst>
              <a:gd name="adj" fmla="val 6000"/>
            </a:avLst>
          </a:prstGeom>
          <a:solidFill>
            <a:srgbClr val="F8D7D7"/>
          </a:solidFill>
          <a:ln w="12700">
            <a:solidFill>
              <a:srgbClr val="A6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7383780" y="4855464"/>
            <a:ext cx="2112264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A61C1C"/>
                </a:solidFill>
                <a:latin typeface="Arial"/>
              </a:rPr>
              <a:t>Low digital literacy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383780" y="5212080"/>
            <a:ext cx="2112264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pictures, voice, IVR; para-vet enters data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9665208" y="4828032"/>
            <a:ext cx="2221992" cy="1389888"/>
          </a:xfrm>
          <a:prstGeom prst="roundRect">
            <a:avLst>
              <a:gd name="adj" fmla="val 6000"/>
            </a:avLst>
          </a:prstGeom>
          <a:solidFill>
            <a:srgbClr val="F8D7D7"/>
          </a:solidFill>
          <a:ln w="12700">
            <a:solidFill>
              <a:srgbClr val="A6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9720072" y="4855464"/>
            <a:ext cx="2112264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A61C1C"/>
                </a:solidFill>
                <a:latin typeface="Arial"/>
              </a:rPr>
              <a:t>Data privacy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9720072" y="5212080"/>
            <a:ext cx="2112264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Arial"/>
              </a:rPr>
              <a:t>role-based access; aggregated for planning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320040" y="1188720"/>
          <a:ext cx="115671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937760"/>
                <a:gridCol w="3291840"/>
                <a:gridCol w="2606040"/>
              </a:tblGrid>
              <a:tr h="48463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S. No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Published by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Used for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National Animal Disease Control Programme (NADCP)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Dept. of Animal Husbandry and Dairying, GoI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Vaccination-programme context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Livestock Census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Dept. of Animal Husbandry and Dairying, GoI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Livestock populations by area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Veterinary epidemiology and disease informatics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ICAR-NIVEDI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Surveillance practice, disease information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Bharat Pashudhan / National Digital Livestock 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Dept. of Animal Husbandry and Dairying, GoI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Animal ID and records integration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Terrestrial Animal Health Code; notifiable diseases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WOAH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Case definitions, reporting criteria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One Health Joint Plan of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FAO, UNEP, WHO, WOAH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Zoonotic alert pathway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A spatial scan statistic (Kulldorff)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Communications in Statistics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Space-time cluster detection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Early Aberration Reporting System (Hutwagner et al.)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Journal of Urban Health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Counts-based aberration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Bhashini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MeitY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Multilingual speech and text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