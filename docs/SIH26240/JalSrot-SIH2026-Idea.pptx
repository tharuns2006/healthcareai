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1874519"/>
            <a:ext cx="5924550" cy="4703019"/>
          </a:xfrm>
          <a:prstGeom prst="rect">
            <a:avLst/>
          </a:prstGeom>
          <a:noFill/>
        </p:spPr>
        <p:txBody>
          <a:bodyPr wrap="square" rtlCol="0">
            <a:spAutoFit/>
          </a:bodyPr>
          <a:lstStyle/>
          <a:p>
            <a:pPr algn="l">
              <a:lnSpc>
                <a:spcPct val="100000"/>
              </a:lnSpc>
              <a:spcAft>
                <a:spcPts val="0"/>
              </a:spcAft>
            </a:pPr>
            <a:endParaRPr lang="en-US" dirty="0"/>
          </a:p>
          <a:p>
            <a:pPr marL="285750" indent="-285750" algn="l">
              <a:lnSpc>
                <a:spcPct val="100000"/>
              </a:lnSpc>
              <a:spcAft>
                <a:spcPts val="1400"/>
              </a:spcAft>
              <a:buFont typeface="Arial" panose="020B0604020202020204" pitchFamily="34" charset="0"/>
              <a:buChar char="•"/>
            </a:pPr>
            <a:r>
              <a:rPr lang="en-US" sz="1800" b="1" dirty="0">
                <a:latin typeface="Arial" panose="020B0604020202020204" pitchFamily="34" charset="0"/>
                <a:cs typeface="Arial" panose="020B0604020202020204" pitchFamily="34" charset="0"/>
              </a:rPr>
              <a:t>Solution – </a:t>
            </a:r>
            <a:r>
              <a:rPr lang="en-US" sz="1800" b="0" dirty="0">
                <a:latin typeface="Arial" panose="020B0604020202020204" pitchFamily="34" charset="0"/>
                <a:cs typeface="Arial" panose="020B0604020202020204" pitchFamily="34" charset="0"/>
              </a:rPr>
              <a:t>JalSrot</a:t>
            </a:r>
          </a:p>
          <a:p>
            <a:pPr marL="285750" indent="-285750" algn="l">
              <a:lnSpc>
                <a:spcPct val="100000"/>
              </a:lnSpc>
              <a:spcAft>
                <a:spcPts val="1400"/>
              </a:spcAft>
              <a:buFont typeface="Arial" panose="020B0604020202020204" pitchFamily="34" charset="0"/>
              <a:buChar char="•"/>
            </a:pPr>
            <a:r>
              <a:rPr lang="en-US" sz="1800" b="1" dirty="0">
                <a:latin typeface="Arial" panose="020B0604020202020204" pitchFamily="34" charset="0"/>
                <a:cs typeface="Arial" panose="020B0604020202020204" pitchFamily="34" charset="0"/>
              </a:rPr>
              <a:t>Problem Statement ID – </a:t>
            </a:r>
            <a:r>
              <a:rPr lang="en-US" sz="1800" b="0" dirty="0">
                <a:latin typeface="Arial" panose="020B0604020202020204" pitchFamily="34" charset="0"/>
                <a:cs typeface="Arial" panose="020B0604020202020204" pitchFamily="34" charset="0"/>
              </a:rPr>
              <a:t>SIH26240</a:t>
            </a:r>
          </a:p>
          <a:p>
            <a:pPr marL="285750" indent="-285750" algn="l">
              <a:lnSpc>
                <a:spcPct val="100000"/>
              </a:lnSpc>
              <a:spcAft>
                <a:spcPts val="1400"/>
              </a:spcAft>
              <a:buFont typeface="Arial" panose="020B0604020202020204" pitchFamily="34" charset="0"/>
              <a:buChar char="•"/>
            </a:pPr>
            <a:r>
              <a:rPr lang="en-US" sz="1800" b="1" dirty="0">
                <a:latin typeface="Arial" panose="020B0604020202020204" pitchFamily="34" charset="0"/>
                <a:cs typeface="Arial" panose="020B0604020202020204" pitchFamily="34" charset="0"/>
              </a:rPr>
              <a:t>Problem Statement Title – </a:t>
            </a:r>
            <a:r>
              <a:rPr lang="en-US" sz="1600" b="0" dirty="0">
                <a:latin typeface="Arial" panose="020B0604020202020204" pitchFamily="34" charset="0"/>
                <a:cs typeface="Arial" panose="020B0604020202020204" pitchFamily="34" charset="0"/>
              </a:rPr>
              <a:t>AI-Based Spring Revival and Recharge Planning for Tribal Areas</a:t>
            </a:r>
          </a:p>
          <a:p>
            <a:pPr marL="285750" indent="-285750" algn="l">
              <a:lnSpc>
                <a:spcPct val="100000"/>
              </a:lnSpc>
              <a:spcAft>
                <a:spcPts val="1400"/>
              </a:spcAft>
              <a:buFont typeface="Arial" panose="020B0604020202020204" pitchFamily="34" charset="0"/>
              <a:buChar char="•"/>
            </a:pPr>
            <a:r>
              <a:rPr lang="en-US" sz="1800" b="1" dirty="0">
                <a:latin typeface="Arial" panose="020B0604020202020204" pitchFamily="34" charset="0"/>
                <a:cs typeface="Arial" panose="020B0604020202020204" pitchFamily="34" charset="0"/>
              </a:rPr>
              <a:t>Theme – </a:t>
            </a:r>
            <a:r>
              <a:rPr lang="en-US" sz="1800" b="0" dirty="0">
                <a:latin typeface="Arial" panose="020B0604020202020204" pitchFamily="34" charset="0"/>
                <a:cs typeface="Arial" panose="020B0604020202020204" pitchFamily="34" charset="0"/>
              </a:rPr>
              <a:t>Agriculture, Food and Rural Technology</a:t>
            </a:r>
          </a:p>
          <a:p>
            <a:pPr marL="285750" indent="-285750" algn="l">
              <a:lnSpc>
                <a:spcPct val="100000"/>
              </a:lnSpc>
              <a:spcAft>
                <a:spcPts val="1400"/>
              </a:spcAft>
              <a:buFont typeface="Arial" panose="020B0604020202020204" pitchFamily="34" charset="0"/>
              <a:buChar char="•"/>
            </a:pPr>
            <a:r>
              <a:rPr lang="en-US" sz="1800" b="1" dirty="0">
                <a:latin typeface="Arial" panose="020B0604020202020204" pitchFamily="34" charset="0"/>
                <a:cs typeface="Arial" panose="020B0604020202020204" pitchFamily="34" charset="0"/>
              </a:rPr>
              <a:t>PS Category – </a:t>
            </a:r>
            <a:r>
              <a:rPr lang="en-US" sz="1800" b="0" dirty="0">
                <a:latin typeface="Arial" panose="020B0604020202020204" pitchFamily="34" charset="0"/>
                <a:cs typeface="Arial" panose="020B0604020202020204" pitchFamily="34" charset="0"/>
              </a:rPr>
              <a:t>Software</a:t>
            </a:r>
          </a:p>
          <a:p>
            <a:pPr marL="285750" indent="-285750" algn="l">
              <a:lnSpc>
                <a:spcPct val="100000"/>
              </a:lnSpc>
              <a:spcAft>
                <a:spcPts val="1400"/>
              </a:spcAft>
              <a:buFont typeface="Arial" panose="020B0604020202020204" pitchFamily="34" charset="0"/>
              <a:buChar char="•"/>
            </a:pPr>
            <a:r>
              <a:rPr lang="en-US" sz="1800" b="1" dirty="0">
                <a:latin typeface="Arial" panose="020B0604020202020204" pitchFamily="34" charset="0"/>
                <a:cs typeface="Arial" panose="020B0604020202020204" pitchFamily="34" charset="0"/>
              </a:rPr>
              <a:t>Team ID – </a:t>
            </a:r>
            <a:r>
              <a:rPr lang="en-US" sz="1800" b="0" dirty="0">
                <a:latin typeface="Arial" panose="020B0604020202020204" pitchFamily="34" charset="0"/>
                <a:cs typeface="Arial" panose="020B0604020202020204" pitchFamily="34" charset="0"/>
              </a:rPr>
              <a:t>178601</a:t>
            </a:r>
          </a:p>
          <a:p>
            <a:pPr marL="285750" indent="-285750" algn="l">
              <a:lnSpc>
                <a:spcPct val="100000"/>
              </a:lnSpc>
              <a:spcAft>
                <a:spcPts val="1400"/>
              </a:spcAft>
              <a:buFont typeface="Arial" panose="020B0604020202020204" pitchFamily="34" charset="0"/>
              <a:buChar char="•"/>
            </a:pPr>
            <a:r>
              <a:rPr lang="en-US" sz="1800" b="1" dirty="0">
                <a:latin typeface="Arial" panose="020B0604020202020204" pitchFamily="34" charset="0"/>
                <a:cs typeface="Arial" panose="020B0604020202020204" pitchFamily="34" charset="0"/>
              </a:rPr>
              <a:t>Team Name (Registered on portal) – </a:t>
            </a:r>
            <a:r>
              <a:rPr lang="en-US" sz="1800" b="0" dirty="0">
                <a:latin typeface="Arial" panose="020B0604020202020204" pitchFamily="34" charset="0"/>
                <a:cs typeface="Arial" panose="020B0604020202020204" pitchFamily="34" charset="0"/>
              </a:rPr>
              <a:t>TechDevs_6</a:t>
            </a:r>
            <a:endParaRPr lang="en-IN" sz="2400" b="1" dirty="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TextBox 37"/>
          <p:cNvSpPr txBox="1"/>
          <p:nvPr/>
        </p:nvSpPr>
        <p:spPr>
          <a:xfrm>
            <a:off x="331286" y="5577840"/>
            <a:ext cx="5852160" cy="731520"/>
          </a:xfrm>
          <a:prstGeom prst="rect">
            <a:avLst/>
          </a:prstGeom>
          <a:noFill/>
        </p:spPr>
        <p:txBody>
          <a:bodyPr wrap="square">
            <a:spAutoFit/>
          </a:bodyPr>
          <a:lstStyle/>
          <a:p>
            <a:pPr>
              <a:spcAft>
                <a:spcPts val="1000"/>
              </a:spcAft>
            </a:pPr>
            <a:r>
              <a:rPr sz="1600" b="1" i="1">
                <a:solidFill>
                  <a:srgbClr val="2F5597"/>
                </a:solidFill>
                <a:latin typeface="Arial"/>
              </a:rPr>
              <a:t>From scattered geospatial data to field-verified spring revival decisions.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600200" y="109728"/>
            <a:ext cx="8046720" cy="914400"/>
          </a:xfrm>
        </p:spPr>
        <p:txBody>
          <a:bodyPr anchor="ctr"/>
          <a:lstStyle/>
          <a:p>
            <a:pPr eaLnBrk="1" hangingPunct="1"/>
            <a:r>
              <a:rPr lang="en-US" sz="2200" b="1" dirty="0">
                <a:latin typeface="Times New Roman" panose="02020603050405020304" pitchFamily="18" charset="0"/>
                <a:ea typeface="ＭＳ Ｐゴシック" pitchFamily="1" charset="-128"/>
                <a:cs typeface="Times New Roman" panose="02020603050405020304" pitchFamily="18" charset="0"/>
              </a:rPr>
              <a:t>Why Spring Revival Planning Needs a Better Decision System</a:t>
            </a:r>
            <a:br>
              <a:rPr lang="en-US" sz="3600" b="1" dirty="0">
                <a:latin typeface="Times New Roman" panose="02020603050405020304" pitchFamily="18" charset="0"/>
                <a:ea typeface="ＭＳ Ｐゴシック" pitchFamily="1" charset="-128"/>
                <a:cs typeface="Times New Roman" panose="02020603050405020304" pitchFamily="18" charset="0"/>
              </a:rPr>
            </a:br>
            <a:r>
              <a:rPr lang="en-US" sz="3600" b="1" dirty="0">
                <a:latin typeface="Times New Roman" panose="02020603050405020304" pitchFamily="18" charset="0"/>
                <a:ea typeface="ＭＳ Ｐゴシック" pitchFamily="1" charset="-128"/>
                <a:cs typeface="Times New Roman" panose="02020603050405020304" pitchFamily="18" charset="0"/>
              </a:rPr>
              <a:t/>
            </a:r>
            <a:r>
              <a:rPr lang="en-US" sz="2400" b="1" dirty="0">
                <a:latin typeface="Times New Roman" panose="02020603050405020304" pitchFamily="18" charset="0"/>
                <a:ea typeface="ＭＳ Ｐゴシック" pitchFamily="1" charset="-128"/>
                <a:cs typeface="Times New Roman" panose="02020603050405020304" pitchFamily="18" charset="0"/>
              </a:rPr>
              <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none" lIns="0" rIns="0"/>
          <a:lstStyle/>
          <a:p>
            <a:pPr algn="ctr"/>
            <a:r>
              <a:rPr lang="en-US" dirty="0" sz="1400"/>
              <a:t>TechDevs_6</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Rounded Rectangle 15361"/>
          <p:cNvSpPr/>
          <p:nvPr/>
        </p:nvSpPr>
        <p:spPr>
          <a:xfrm>
            <a:off x="320040" y="1188720"/>
            <a:ext cx="2788920" cy="1463040"/>
          </a:xfrm>
          <a:prstGeom prst="roundRect">
            <a:avLst>
              <a:gd name="adj" fmla="val 5000"/>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3" name="Oval 15362"/>
          <p:cNvSpPr/>
          <p:nvPr/>
        </p:nvSpPr>
        <p:spPr>
          <a:xfrm>
            <a:off x="411479" y="1280160"/>
            <a:ext cx="347472" cy="347472"/>
          </a:xfrm>
          <a:prstGeom prst="ellipse">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500"/>
              </a:spcAft>
            </a:pPr>
            <a:r>
              <a:rPr sz="1200" b="1">
                <a:solidFill>
                  <a:srgbClr val="FFFFFF"/>
                </a:solidFill>
                <a:latin typeface="Arial"/>
              </a:rPr>
              <a:t>1</a:t>
            </a:r>
          </a:p>
        </p:txBody>
      </p:sp>
      <p:sp>
        <p:nvSpPr>
          <p:cNvPr id="15364" name="TextBox 15363"/>
          <p:cNvSpPr txBox="1"/>
          <p:nvPr/>
        </p:nvSpPr>
        <p:spPr>
          <a:xfrm>
            <a:off x="822960" y="1280160"/>
            <a:ext cx="2240280" cy="365760"/>
          </a:xfrm>
          <a:prstGeom prst="rect">
            <a:avLst/>
          </a:prstGeom>
          <a:noFill/>
        </p:spPr>
        <p:txBody>
          <a:bodyPr wrap="square" lIns="45720" rIns="45720" tIns="18288" bIns="18288" anchor="ctr">
            <a:spAutoFit/>
          </a:bodyPr>
          <a:lstStyle/>
          <a:p>
            <a:pPr>
              <a:spcAft>
                <a:spcPts val="500"/>
              </a:spcAft>
            </a:pPr>
            <a:r>
              <a:rPr sz="1250" b="1">
                <a:solidFill>
                  <a:srgbClr val="2F5597"/>
                </a:solidFill>
                <a:latin typeface="Arial"/>
              </a:rPr>
              <a:t>Hidden recharge pathways</a:t>
            </a:r>
          </a:p>
        </p:txBody>
      </p:sp>
      <p:sp>
        <p:nvSpPr>
          <p:cNvPr id="15365" name="TextBox 15364"/>
          <p:cNvSpPr txBox="1"/>
          <p:nvPr/>
        </p:nvSpPr>
        <p:spPr>
          <a:xfrm>
            <a:off x="411479" y="1719072"/>
            <a:ext cx="2606040" cy="914400"/>
          </a:xfrm>
          <a:prstGeom prst="rect">
            <a:avLst/>
          </a:prstGeom>
          <a:noFill/>
        </p:spPr>
        <p:txBody>
          <a:bodyPr wrap="square" lIns="45720" rIns="45720" tIns="18288" bIns="18288">
            <a:spAutoFit/>
          </a:bodyPr>
          <a:lstStyle/>
          <a:p>
            <a:pPr>
              <a:spcAft>
                <a:spcPts val="300"/>
              </a:spcAft>
            </a:pPr>
            <a:r>
              <a:rPr sz="1100" b="0">
                <a:solidFill>
                  <a:srgbClr val="262626"/>
                </a:solidFill>
                <a:latin typeface="Arial"/>
              </a:rPr>
              <a:t>Surface terrain alone cannot reliably show where the groundwater feeding a spring originates.</a:t>
            </a:r>
          </a:p>
        </p:txBody>
      </p:sp>
      <p:sp>
        <p:nvSpPr>
          <p:cNvPr id="15366" name="Rounded Rectangle 15365"/>
          <p:cNvSpPr/>
          <p:nvPr/>
        </p:nvSpPr>
        <p:spPr>
          <a:xfrm>
            <a:off x="3246120" y="1188720"/>
            <a:ext cx="2788920" cy="1463040"/>
          </a:xfrm>
          <a:prstGeom prst="roundRect">
            <a:avLst>
              <a:gd name="adj" fmla="val 5000"/>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7" name="Oval 15366"/>
          <p:cNvSpPr/>
          <p:nvPr/>
        </p:nvSpPr>
        <p:spPr>
          <a:xfrm>
            <a:off x="3337560" y="1280160"/>
            <a:ext cx="347472" cy="347472"/>
          </a:xfrm>
          <a:prstGeom prst="ellipse">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500"/>
              </a:spcAft>
            </a:pPr>
            <a:r>
              <a:rPr sz="1200" b="1">
                <a:solidFill>
                  <a:srgbClr val="FFFFFF"/>
                </a:solidFill>
                <a:latin typeface="Arial"/>
              </a:rPr>
              <a:t>2</a:t>
            </a:r>
          </a:p>
        </p:txBody>
      </p:sp>
      <p:sp>
        <p:nvSpPr>
          <p:cNvPr id="15368" name="TextBox 15367"/>
          <p:cNvSpPr txBox="1"/>
          <p:nvPr/>
        </p:nvSpPr>
        <p:spPr>
          <a:xfrm>
            <a:off x="3749040" y="1280160"/>
            <a:ext cx="2240280" cy="365760"/>
          </a:xfrm>
          <a:prstGeom prst="rect">
            <a:avLst/>
          </a:prstGeom>
          <a:noFill/>
        </p:spPr>
        <p:txBody>
          <a:bodyPr wrap="square" lIns="45720" rIns="45720" tIns="18288" bIns="18288" anchor="ctr">
            <a:spAutoFit/>
          </a:bodyPr>
          <a:lstStyle/>
          <a:p>
            <a:pPr>
              <a:spcAft>
                <a:spcPts val="500"/>
              </a:spcAft>
            </a:pPr>
            <a:r>
              <a:rPr sz="1250" b="1">
                <a:solidFill>
                  <a:srgbClr val="2F5597"/>
                </a:solidFill>
                <a:latin typeface="Arial"/>
              </a:rPr>
              <a:t>Fragmented evidence</a:t>
            </a:r>
          </a:p>
        </p:txBody>
      </p:sp>
      <p:sp>
        <p:nvSpPr>
          <p:cNvPr id="15369" name="TextBox 15368"/>
          <p:cNvSpPr txBox="1"/>
          <p:nvPr/>
        </p:nvSpPr>
        <p:spPr>
          <a:xfrm>
            <a:off x="3337560" y="1719072"/>
            <a:ext cx="2606040" cy="914400"/>
          </a:xfrm>
          <a:prstGeom prst="rect">
            <a:avLst/>
          </a:prstGeom>
          <a:noFill/>
        </p:spPr>
        <p:txBody>
          <a:bodyPr wrap="square" lIns="45720" rIns="45720" tIns="18288" bIns="18288">
            <a:spAutoFit/>
          </a:bodyPr>
          <a:lstStyle/>
          <a:p>
            <a:pPr>
              <a:spcAft>
                <a:spcPts val="300"/>
              </a:spcAft>
            </a:pPr>
            <a:r>
              <a:rPr sz="1100" b="0">
                <a:solidFill>
                  <a:srgbClr val="262626"/>
                </a:solidFill>
                <a:latin typeface="Arial"/>
              </a:rPr>
              <a:t>DEM, geology, rainfall, land use and spring observations sit in different datasets and formats.</a:t>
            </a:r>
          </a:p>
        </p:txBody>
      </p:sp>
      <p:sp>
        <p:nvSpPr>
          <p:cNvPr id="15370" name="Rounded Rectangle 15369"/>
          <p:cNvSpPr/>
          <p:nvPr/>
        </p:nvSpPr>
        <p:spPr>
          <a:xfrm>
            <a:off x="6172200" y="1188720"/>
            <a:ext cx="2788920" cy="1463040"/>
          </a:xfrm>
          <a:prstGeom prst="roundRect">
            <a:avLst>
              <a:gd name="adj" fmla="val 5000"/>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1" name="Oval 15370"/>
          <p:cNvSpPr/>
          <p:nvPr/>
        </p:nvSpPr>
        <p:spPr>
          <a:xfrm>
            <a:off x="6263640" y="1280160"/>
            <a:ext cx="347472" cy="347472"/>
          </a:xfrm>
          <a:prstGeom prst="ellipse">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500"/>
              </a:spcAft>
            </a:pPr>
            <a:r>
              <a:rPr sz="1200" b="1">
                <a:solidFill>
                  <a:srgbClr val="FFFFFF"/>
                </a:solidFill>
                <a:latin typeface="Arial"/>
              </a:rPr>
              <a:t>3</a:t>
            </a:r>
          </a:p>
        </p:txBody>
      </p:sp>
      <p:sp>
        <p:nvSpPr>
          <p:cNvPr id="15372" name="TextBox 15371"/>
          <p:cNvSpPr txBox="1"/>
          <p:nvPr/>
        </p:nvSpPr>
        <p:spPr>
          <a:xfrm>
            <a:off x="6675120" y="1280160"/>
            <a:ext cx="2240280" cy="365760"/>
          </a:xfrm>
          <a:prstGeom prst="rect">
            <a:avLst/>
          </a:prstGeom>
          <a:noFill/>
        </p:spPr>
        <p:txBody>
          <a:bodyPr wrap="square" lIns="45720" rIns="45720" tIns="18288" bIns="18288" anchor="ctr">
            <a:spAutoFit/>
          </a:bodyPr>
          <a:lstStyle/>
          <a:p>
            <a:pPr>
              <a:spcAft>
                <a:spcPts val="500"/>
              </a:spcAft>
            </a:pPr>
            <a:r>
              <a:rPr sz="1250" b="1">
                <a:solidFill>
                  <a:srgbClr val="2F5597"/>
                </a:solidFill>
                <a:latin typeface="Arial"/>
              </a:rPr>
              <a:t>Expert bottleneck</a:t>
            </a:r>
          </a:p>
        </p:txBody>
      </p:sp>
      <p:sp>
        <p:nvSpPr>
          <p:cNvPr id="15373" name="TextBox 15372"/>
          <p:cNvSpPr txBox="1"/>
          <p:nvPr/>
        </p:nvSpPr>
        <p:spPr>
          <a:xfrm>
            <a:off x="6263640" y="1719072"/>
            <a:ext cx="2606040" cy="914400"/>
          </a:xfrm>
          <a:prstGeom prst="rect">
            <a:avLst/>
          </a:prstGeom>
          <a:noFill/>
        </p:spPr>
        <p:txBody>
          <a:bodyPr wrap="square" lIns="45720" rIns="45720" tIns="18288" bIns="18288">
            <a:spAutoFit/>
          </a:bodyPr>
          <a:lstStyle/>
          <a:p>
            <a:pPr>
              <a:spcAft>
                <a:spcPts val="300"/>
              </a:spcAft>
            </a:pPr>
            <a:r>
              <a:rPr sz="1100" b="0">
                <a:solidFill>
                  <a:srgbClr val="262626"/>
                </a:solidFill>
                <a:latin typeface="Arial"/>
              </a:rPr>
              <a:t>Remote tribal springs need hydrogeological expertise and field visits to assess.</a:t>
            </a:r>
          </a:p>
        </p:txBody>
      </p:sp>
      <p:sp>
        <p:nvSpPr>
          <p:cNvPr id="15374" name="Rounded Rectangle 15373"/>
          <p:cNvSpPr/>
          <p:nvPr/>
        </p:nvSpPr>
        <p:spPr>
          <a:xfrm>
            <a:off x="9098280" y="1188720"/>
            <a:ext cx="2788920" cy="1463040"/>
          </a:xfrm>
          <a:prstGeom prst="roundRect">
            <a:avLst>
              <a:gd name="adj" fmla="val 5000"/>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5" name="Oval 15374"/>
          <p:cNvSpPr/>
          <p:nvPr/>
        </p:nvSpPr>
        <p:spPr>
          <a:xfrm>
            <a:off x="9189719" y="1280160"/>
            <a:ext cx="347472" cy="347472"/>
          </a:xfrm>
          <a:prstGeom prst="ellipse">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500"/>
              </a:spcAft>
            </a:pPr>
            <a:r>
              <a:rPr sz="1200" b="1">
                <a:solidFill>
                  <a:srgbClr val="FFFFFF"/>
                </a:solidFill>
                <a:latin typeface="Arial"/>
              </a:rPr>
              <a:t>4</a:t>
            </a:r>
          </a:p>
        </p:txBody>
      </p:sp>
      <p:sp>
        <p:nvSpPr>
          <p:cNvPr id="15376" name="TextBox 15375"/>
          <p:cNvSpPr txBox="1"/>
          <p:nvPr/>
        </p:nvSpPr>
        <p:spPr>
          <a:xfrm>
            <a:off x="9601200" y="1280160"/>
            <a:ext cx="2240280" cy="365760"/>
          </a:xfrm>
          <a:prstGeom prst="rect">
            <a:avLst/>
          </a:prstGeom>
          <a:noFill/>
        </p:spPr>
        <p:txBody>
          <a:bodyPr wrap="square" lIns="45720" rIns="45720" tIns="18288" bIns="18288" anchor="ctr">
            <a:spAutoFit/>
          </a:bodyPr>
          <a:lstStyle/>
          <a:p>
            <a:pPr>
              <a:spcAft>
                <a:spcPts val="500"/>
              </a:spcAft>
            </a:pPr>
            <a:r>
              <a:rPr sz="1250" b="1">
                <a:solidFill>
                  <a:srgbClr val="2F5597"/>
                </a:solidFill>
                <a:latin typeface="Arial"/>
              </a:rPr>
              <a:t>Unsuitable interventions</a:t>
            </a:r>
          </a:p>
        </p:txBody>
      </p:sp>
      <p:sp>
        <p:nvSpPr>
          <p:cNvPr id="15377" name="TextBox 15376"/>
          <p:cNvSpPr txBox="1"/>
          <p:nvPr/>
        </p:nvSpPr>
        <p:spPr>
          <a:xfrm>
            <a:off x="9189719" y="1719072"/>
            <a:ext cx="2606040" cy="914400"/>
          </a:xfrm>
          <a:prstGeom prst="rect">
            <a:avLst/>
          </a:prstGeom>
          <a:noFill/>
        </p:spPr>
        <p:txBody>
          <a:bodyPr wrap="square" lIns="45720" rIns="45720" tIns="18288" bIns="18288">
            <a:spAutoFit/>
          </a:bodyPr>
          <a:lstStyle/>
          <a:p>
            <a:pPr>
              <a:spcAft>
                <a:spcPts val="300"/>
              </a:spcAft>
            </a:pPr>
            <a:r>
              <a:rPr sz="1100" b="0">
                <a:solidFill>
                  <a:srgbClr val="262626"/>
                </a:solidFill>
                <a:latin typeface="Arial"/>
              </a:rPr>
              <a:t>Poorly chosen sites waste resources and can create environmental and geotechnical risk.</a:t>
            </a:r>
          </a:p>
        </p:txBody>
      </p:sp>
      <p:sp>
        <p:nvSpPr>
          <p:cNvPr id="15378" name="Rounded Rectangle 15377"/>
          <p:cNvSpPr/>
          <p:nvPr/>
        </p:nvSpPr>
        <p:spPr>
          <a:xfrm>
            <a:off x="320040" y="2834640"/>
            <a:ext cx="1097280" cy="731520"/>
          </a:xfrm>
          <a:prstGeom prst="roundRect">
            <a:avLst>
              <a:gd name="adj" fmla="val 10000"/>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500"/>
              </a:spcAft>
            </a:pPr>
            <a:r>
              <a:rPr sz="1200" b="1">
                <a:solidFill>
                  <a:srgbClr val="FFFFFF"/>
                </a:solidFill>
                <a:latin typeface="Arial"/>
              </a:rPr>
              <a:t>TODAY</a:t>
            </a:r>
          </a:p>
        </p:txBody>
      </p:sp>
      <p:sp>
        <p:nvSpPr>
          <p:cNvPr id="15379" name="Rounded Rectangle 15378"/>
          <p:cNvSpPr/>
          <p:nvPr/>
        </p:nvSpPr>
        <p:spPr>
          <a:xfrm>
            <a:off x="1554480" y="2834640"/>
            <a:ext cx="1920240" cy="731520"/>
          </a:xfrm>
          <a:prstGeom prst="roundRect">
            <a:avLst>
              <a:gd name="adj" fmla="val 15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262626"/>
                </a:solidFill>
                <a:latin typeface="Arial"/>
              </a:rPr>
              <a:t>Field survey</a:t>
            </a:r>
          </a:p>
        </p:txBody>
      </p:sp>
      <p:sp>
        <p:nvSpPr>
          <p:cNvPr id="15380" name="Rounded Rectangle 15379"/>
          <p:cNvSpPr/>
          <p:nvPr/>
        </p:nvSpPr>
        <p:spPr>
          <a:xfrm>
            <a:off x="3886200" y="2834640"/>
            <a:ext cx="1920240" cy="731520"/>
          </a:xfrm>
          <a:prstGeom prst="roundRect">
            <a:avLst>
              <a:gd name="adj" fmla="val 15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262626"/>
                </a:solidFill>
                <a:latin typeface="Arial"/>
              </a:rPr>
              <a:t>Expert interpretation</a:t>
            </a:r>
          </a:p>
        </p:txBody>
      </p:sp>
      <p:sp>
        <p:nvSpPr>
          <p:cNvPr id="15381" name="Rounded Rectangle 15380"/>
          <p:cNvSpPr/>
          <p:nvPr/>
        </p:nvSpPr>
        <p:spPr>
          <a:xfrm>
            <a:off x="6217920" y="2834640"/>
            <a:ext cx="1920240" cy="731520"/>
          </a:xfrm>
          <a:prstGeom prst="roundRect">
            <a:avLst>
              <a:gd name="adj" fmla="val 15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262626"/>
                </a:solidFill>
                <a:latin typeface="Arial"/>
              </a:rPr>
              <a:t>Site selection</a:t>
            </a:r>
          </a:p>
        </p:txBody>
      </p:sp>
      <p:cxnSp>
        <p:nvCxnSpPr>
          <p:cNvPr id="15382" name="Connector 15381"/>
          <p:cNvCxnSpPr/>
          <p:nvPr/>
        </p:nvCxnSpPr>
        <p:spPr>
          <a:xfrm>
            <a:off x="3474720" y="3200400"/>
            <a:ext cx="41148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15383" name="Connector 15382"/>
          <p:cNvCxnSpPr/>
          <p:nvPr/>
        </p:nvCxnSpPr>
        <p:spPr>
          <a:xfrm>
            <a:off x="5806440" y="3200400"/>
            <a:ext cx="41148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5384" name="Rounded Rectangle 15383"/>
          <p:cNvSpPr/>
          <p:nvPr/>
        </p:nvSpPr>
        <p:spPr>
          <a:xfrm>
            <a:off x="8321040" y="2834640"/>
            <a:ext cx="1737360" cy="329184"/>
          </a:xfrm>
          <a:prstGeom prst="roundRect">
            <a:avLst>
              <a:gd name="adj" fmla="val 15000"/>
            </a:avLst>
          </a:prstGeom>
          <a:solidFill>
            <a:srgbClr val="F8D7D7"/>
          </a:solidFill>
          <a:ln w="12700">
            <a:solidFill>
              <a:srgbClr val="A61C1C"/>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A61C1C"/>
                </a:solidFill>
                <a:latin typeface="Arial"/>
              </a:rPr>
              <a:t>Slow</a:t>
            </a:r>
          </a:p>
        </p:txBody>
      </p:sp>
      <p:sp>
        <p:nvSpPr>
          <p:cNvPr id="15385" name="Rounded Rectangle 15384"/>
          <p:cNvSpPr/>
          <p:nvPr/>
        </p:nvSpPr>
        <p:spPr>
          <a:xfrm>
            <a:off x="10131552" y="2834640"/>
            <a:ext cx="1737360" cy="329184"/>
          </a:xfrm>
          <a:prstGeom prst="roundRect">
            <a:avLst>
              <a:gd name="adj" fmla="val 15000"/>
            </a:avLst>
          </a:prstGeom>
          <a:solidFill>
            <a:srgbClr val="F8D7D7"/>
          </a:solidFill>
          <a:ln w="12700">
            <a:solidFill>
              <a:srgbClr val="A61C1C"/>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A61C1C"/>
                </a:solidFill>
                <a:latin typeface="Arial"/>
              </a:rPr>
              <a:t>Expensive</a:t>
            </a:r>
          </a:p>
        </p:txBody>
      </p:sp>
      <p:sp>
        <p:nvSpPr>
          <p:cNvPr id="15386" name="Rounded Rectangle 15385"/>
          <p:cNvSpPr/>
          <p:nvPr/>
        </p:nvSpPr>
        <p:spPr>
          <a:xfrm>
            <a:off x="8321040" y="3218688"/>
            <a:ext cx="1737360" cy="329184"/>
          </a:xfrm>
          <a:prstGeom prst="roundRect">
            <a:avLst>
              <a:gd name="adj" fmla="val 15000"/>
            </a:avLst>
          </a:prstGeom>
          <a:solidFill>
            <a:srgbClr val="F8D7D7"/>
          </a:solidFill>
          <a:ln w="12700">
            <a:solidFill>
              <a:srgbClr val="A61C1C"/>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A61C1C"/>
                </a:solidFill>
                <a:latin typeface="Arial"/>
              </a:rPr>
              <a:t>Difficult to scale</a:t>
            </a:r>
          </a:p>
        </p:txBody>
      </p:sp>
      <p:sp>
        <p:nvSpPr>
          <p:cNvPr id="15387" name="Rounded Rectangle 15386"/>
          <p:cNvSpPr/>
          <p:nvPr/>
        </p:nvSpPr>
        <p:spPr>
          <a:xfrm>
            <a:off x="10131552" y="3218688"/>
            <a:ext cx="1737360" cy="329184"/>
          </a:xfrm>
          <a:prstGeom prst="roundRect">
            <a:avLst>
              <a:gd name="adj" fmla="val 15000"/>
            </a:avLst>
          </a:prstGeom>
          <a:solidFill>
            <a:srgbClr val="F8D7D7"/>
          </a:solidFill>
          <a:ln w="12700">
            <a:solidFill>
              <a:srgbClr val="A61C1C"/>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A61C1C"/>
                </a:solidFill>
                <a:latin typeface="Arial"/>
              </a:rPr>
              <a:t>Limited feedback</a:t>
            </a:r>
          </a:p>
        </p:txBody>
      </p:sp>
      <p:sp>
        <p:nvSpPr>
          <p:cNvPr id="15388" name="Rounded Rectangle 15387"/>
          <p:cNvSpPr/>
          <p:nvPr/>
        </p:nvSpPr>
        <p:spPr>
          <a:xfrm>
            <a:off x="320040" y="3749039"/>
            <a:ext cx="1097280" cy="731520"/>
          </a:xfrm>
          <a:prstGeom prst="roundRect">
            <a:avLst>
              <a:gd name="adj" fmla="val 10000"/>
            </a:avLst>
          </a:prstGeom>
          <a:solidFill>
            <a:srgbClr val="549E3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500"/>
              </a:spcAft>
            </a:pPr>
            <a:r>
              <a:rPr sz="1200" b="1">
                <a:solidFill>
                  <a:srgbClr val="FFFFFF"/>
                </a:solidFill>
                <a:latin typeface="Arial"/>
              </a:rPr>
              <a:t>JALSROT</a:t>
            </a:r>
          </a:p>
        </p:txBody>
      </p:sp>
      <p:sp>
        <p:nvSpPr>
          <p:cNvPr id="15389" name="Rounded Rectangle 15388"/>
          <p:cNvSpPr/>
          <p:nvPr/>
        </p:nvSpPr>
        <p:spPr>
          <a:xfrm>
            <a:off x="1554480" y="3749039"/>
            <a:ext cx="1920240" cy="731520"/>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262626"/>
                </a:solidFill>
                <a:latin typeface="Arial"/>
              </a:rPr>
              <a:t>Large-area computational screening</a:t>
            </a:r>
          </a:p>
        </p:txBody>
      </p:sp>
      <p:sp>
        <p:nvSpPr>
          <p:cNvPr id="15390" name="Rounded Rectangle 15389"/>
          <p:cNvSpPr/>
          <p:nvPr/>
        </p:nvSpPr>
        <p:spPr>
          <a:xfrm>
            <a:off x="3886200" y="3749039"/>
            <a:ext cx="1920240" cy="731520"/>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262626"/>
                </a:solidFill>
                <a:latin typeface="Arial"/>
              </a:rPr>
              <a:t>Candidate ranking</a:t>
            </a:r>
          </a:p>
        </p:txBody>
      </p:sp>
      <p:sp>
        <p:nvSpPr>
          <p:cNvPr id="15391" name="Rounded Rectangle 15390"/>
          <p:cNvSpPr/>
          <p:nvPr/>
        </p:nvSpPr>
        <p:spPr>
          <a:xfrm>
            <a:off x="6217920" y="3749039"/>
            <a:ext cx="1920240" cy="731520"/>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262626"/>
                </a:solidFill>
                <a:latin typeface="Arial"/>
              </a:rPr>
              <a:t>Expert verification</a:t>
            </a:r>
          </a:p>
        </p:txBody>
      </p:sp>
      <p:cxnSp>
        <p:nvCxnSpPr>
          <p:cNvPr id="15392" name="Connector 15391"/>
          <p:cNvCxnSpPr/>
          <p:nvPr/>
        </p:nvCxnSpPr>
        <p:spPr>
          <a:xfrm>
            <a:off x="3474720" y="4114800"/>
            <a:ext cx="41148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15393" name="Connector 15392"/>
          <p:cNvCxnSpPr/>
          <p:nvPr/>
        </p:nvCxnSpPr>
        <p:spPr>
          <a:xfrm>
            <a:off x="5806440" y="4114800"/>
            <a:ext cx="41148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5394" name="Rounded Rectangle 15393"/>
          <p:cNvSpPr/>
          <p:nvPr/>
        </p:nvSpPr>
        <p:spPr>
          <a:xfrm>
            <a:off x="8321040" y="3749039"/>
            <a:ext cx="1737360" cy="329184"/>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Narrowed search area</a:t>
            </a:r>
          </a:p>
        </p:txBody>
      </p:sp>
      <p:sp>
        <p:nvSpPr>
          <p:cNvPr id="15395" name="Rounded Rectangle 15394"/>
          <p:cNvSpPr/>
          <p:nvPr/>
        </p:nvSpPr>
        <p:spPr>
          <a:xfrm>
            <a:off x="10131552" y="3749039"/>
            <a:ext cx="1737360" cy="329184"/>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Ranked, with reasons</a:t>
            </a:r>
          </a:p>
        </p:txBody>
      </p:sp>
      <p:sp>
        <p:nvSpPr>
          <p:cNvPr id="15396" name="Rounded Rectangle 15395"/>
          <p:cNvSpPr/>
          <p:nvPr/>
        </p:nvSpPr>
        <p:spPr>
          <a:xfrm>
            <a:off x="8321040" y="4133087"/>
            <a:ext cx="1737360" cy="329184"/>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Confidence shown</a:t>
            </a:r>
          </a:p>
        </p:txBody>
      </p:sp>
      <p:sp>
        <p:nvSpPr>
          <p:cNvPr id="15397" name="Rounded Rectangle 15396"/>
          <p:cNvSpPr/>
          <p:nvPr/>
        </p:nvSpPr>
        <p:spPr>
          <a:xfrm>
            <a:off x="10131552" y="4133087"/>
            <a:ext cx="1737360" cy="329184"/>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Field feedback loop</a:t>
            </a:r>
          </a:p>
        </p:txBody>
      </p:sp>
      <p:sp>
        <p:nvSpPr>
          <p:cNvPr id="15398" name="Rounded Rectangle 15397"/>
          <p:cNvSpPr/>
          <p:nvPr/>
        </p:nvSpPr>
        <p:spPr>
          <a:xfrm>
            <a:off x="320040" y="4709160"/>
            <a:ext cx="11567160" cy="731520"/>
          </a:xfrm>
          <a:prstGeom prst="roundRect">
            <a:avLst>
              <a:gd name="adj" fmla="val 10000"/>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pPr>
            <a:r>
              <a:rPr sz="1600" b="1">
                <a:solidFill>
                  <a:srgbClr val="FFFFFF"/>
                </a:solidFill>
                <a:latin typeface="Arial"/>
              </a:rPr>
              <a:t>JalSrot does not replace the hydrogeologist; it reduces the amount of terrain the hydrogeologist needs to inspect.</a:t>
            </a:r>
          </a:p>
        </p:txBody>
      </p:sp>
      <p:sp>
        <p:nvSpPr>
          <p:cNvPr id="15399" name="Rounded Rectangle 15398"/>
          <p:cNvSpPr/>
          <p:nvPr/>
        </p:nvSpPr>
        <p:spPr>
          <a:xfrm>
            <a:off x="320040" y="5550408"/>
            <a:ext cx="11567160" cy="658368"/>
          </a:xfrm>
          <a:prstGeom prst="roundRect">
            <a:avLst>
              <a:gd name="adj" fmla="val 10000"/>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0" name="TextBox 15399"/>
          <p:cNvSpPr txBox="1"/>
          <p:nvPr/>
        </p:nvSpPr>
        <p:spPr>
          <a:xfrm>
            <a:off x="457200" y="5577840"/>
            <a:ext cx="11338560" cy="603504"/>
          </a:xfrm>
          <a:prstGeom prst="rect">
            <a:avLst/>
          </a:prstGeom>
          <a:noFill/>
        </p:spPr>
        <p:txBody>
          <a:bodyPr wrap="square" lIns="45720" rIns="45720" tIns="18288" bIns="18288" anchor="ctr">
            <a:spAutoFit/>
          </a:bodyPr>
          <a:lstStyle/>
          <a:p>
            <a:pPr>
              <a:spcAft>
                <a:spcPts val="300"/>
              </a:spcAft>
            </a:pPr>
            <a:r>
              <a:rPr sz="1150" b="1">
                <a:solidFill>
                  <a:srgbClr val="262626"/>
                </a:solidFill>
                <a:latin typeface="Arial"/>
              </a:rPr>
              <a:t>Why not just a GIS map?  </a:t>
            </a:r>
            <a:r>
              <a:rPr sz="1150" b="0">
                <a:solidFill>
                  <a:srgbClr val="262626"/>
                </a:solidFill>
                <a:latin typeface="Arial"/>
              </a:rPr>
              <a:t>A map shows layers and leaves the judgement to the viewer. JalSrot also ranks candidate sites, states how confident it is, and flags where an intervention may not work or may be unsafe.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a:xfrm>
            <a:off x="1600200" y="109728"/>
            <a:ext cx="8046720" cy="914400"/>
          </a:xfrm>
        </p:spPr>
        <p:txBody>
          <a:bodyPr anchor="ctr"/>
          <a:lstStyle/>
          <a:p>
            <a:pPr eaLnBrk="1" hangingPunct="1"/>
            <a:r>
              <a:rPr lang="en-US" sz="2200" b="1" dirty="0">
                <a:latin typeface="Times New Roman" panose="02020603050405020304" pitchFamily="18" charset="0"/>
                <a:ea typeface="ＭＳ Ｐゴシック" pitchFamily="1" charset="-128"/>
                <a:cs typeface="Times New Roman" panose="02020603050405020304" pitchFamily="18" charset="0"/>
              </a:rPr>
              <a:t>JalSrot: Hydrogeology-Aware AI Decision Support</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none" lIns="0" rIns="0"/>
          <a:lstStyle/>
          <a:p>
            <a:pPr algn="ctr"/>
            <a:r>
              <a:rPr lang="en-US" dirty="0" sz="1400"/>
              <a:t>TechDevs_6</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188720"/>
            <a:ext cx="2240280" cy="384048"/>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262626"/>
                </a:solidFill>
                <a:latin typeface="Arial"/>
              </a:rPr>
              <a:t>DEM</a:t>
            </a:r>
          </a:p>
        </p:txBody>
      </p:sp>
      <p:sp>
        <p:nvSpPr>
          <p:cNvPr id="17411" name="Rounded Rectangle 17410"/>
          <p:cNvSpPr/>
          <p:nvPr/>
        </p:nvSpPr>
        <p:spPr>
          <a:xfrm>
            <a:off x="2651760" y="1188720"/>
            <a:ext cx="2240280" cy="384048"/>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262626"/>
                </a:solidFill>
                <a:latin typeface="Arial"/>
              </a:rPr>
              <a:t>Geology and structure</a:t>
            </a:r>
          </a:p>
        </p:txBody>
      </p:sp>
      <p:sp>
        <p:nvSpPr>
          <p:cNvPr id="17412" name="Rounded Rectangle 17411"/>
          <p:cNvSpPr/>
          <p:nvPr/>
        </p:nvSpPr>
        <p:spPr>
          <a:xfrm>
            <a:off x="4983480" y="1188720"/>
            <a:ext cx="2240280" cy="384048"/>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262626"/>
                </a:solidFill>
                <a:latin typeface="Arial"/>
              </a:rPr>
              <a:t>Rainfall</a:t>
            </a:r>
          </a:p>
        </p:txBody>
      </p:sp>
      <p:sp>
        <p:nvSpPr>
          <p:cNvPr id="17413" name="Rounded Rectangle 17412"/>
          <p:cNvSpPr/>
          <p:nvPr/>
        </p:nvSpPr>
        <p:spPr>
          <a:xfrm>
            <a:off x="7315200" y="1188720"/>
            <a:ext cx="2240280" cy="384048"/>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262626"/>
                </a:solidFill>
                <a:latin typeface="Arial"/>
              </a:rPr>
              <a:t>Land use</a:t>
            </a:r>
          </a:p>
        </p:txBody>
      </p:sp>
      <p:sp>
        <p:nvSpPr>
          <p:cNvPr id="17414" name="Rounded Rectangle 17413"/>
          <p:cNvSpPr/>
          <p:nvPr/>
        </p:nvSpPr>
        <p:spPr>
          <a:xfrm>
            <a:off x="9646920" y="1188720"/>
            <a:ext cx="2240280" cy="384048"/>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262626"/>
                </a:solidFill>
                <a:latin typeface="Arial"/>
              </a:rPr>
              <a:t>Spring records</a:t>
            </a:r>
          </a:p>
        </p:txBody>
      </p:sp>
      <p:cxnSp>
        <p:nvCxnSpPr>
          <p:cNvPr id="17415" name="Connector 17414"/>
          <p:cNvCxnSpPr/>
          <p:nvPr/>
        </p:nvCxnSpPr>
        <p:spPr>
          <a:xfrm>
            <a:off x="6103620" y="1572768"/>
            <a:ext cx="0" cy="9144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7416" name="Rounded Rectangle 17415"/>
          <p:cNvSpPr/>
          <p:nvPr/>
        </p:nvSpPr>
        <p:spPr>
          <a:xfrm>
            <a:off x="320040" y="1664208"/>
            <a:ext cx="11567160" cy="365760"/>
          </a:xfrm>
          <a:prstGeom prst="roundRect">
            <a:avLst>
              <a:gd name="adj" fmla="val 15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50" b="0">
                <a:solidFill>
                  <a:srgbClr val="262626"/>
                </a:solidFill>
                <a:latin typeface="Arial"/>
              </a:rPr>
              <a:t>Data quality check and preprocessing: align projections, fill gaps, score each layer for resolution and coverage</a:t>
            </a:r>
          </a:p>
        </p:txBody>
      </p:sp>
      <p:cxnSp>
        <p:nvCxnSpPr>
          <p:cNvPr id="17417" name="Connector 17416"/>
          <p:cNvCxnSpPr/>
          <p:nvPr/>
        </p:nvCxnSpPr>
        <p:spPr>
          <a:xfrm>
            <a:off x="6103620" y="2029968"/>
            <a:ext cx="0" cy="109728"/>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7418" name="Rounded Rectangle 17417"/>
          <p:cNvSpPr/>
          <p:nvPr/>
        </p:nvSpPr>
        <p:spPr>
          <a:xfrm>
            <a:off x="320040" y="2139696"/>
            <a:ext cx="3749039" cy="1005840"/>
          </a:xfrm>
          <a:prstGeom prst="roundRect">
            <a:avLst>
              <a:gd name="adj" fmla="val 8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TextBox 17418"/>
          <p:cNvSpPr txBox="1"/>
          <p:nvPr/>
        </p:nvSpPr>
        <p:spPr>
          <a:xfrm>
            <a:off x="393192" y="2176272"/>
            <a:ext cx="3602735" cy="274320"/>
          </a:xfrm>
          <a:prstGeom prst="rect">
            <a:avLst/>
          </a:prstGeom>
          <a:noFill/>
        </p:spPr>
        <p:txBody>
          <a:bodyPr wrap="square" lIns="45720" rIns="45720" tIns="18288" bIns="18288">
            <a:spAutoFit/>
          </a:bodyPr>
          <a:lstStyle/>
          <a:p>
            <a:pPr algn="ctr">
              <a:spcAft>
                <a:spcPts val="500"/>
              </a:spcAft>
            </a:pPr>
            <a:r>
              <a:rPr sz="1200" b="1">
                <a:solidFill>
                  <a:srgbClr val="262626"/>
                </a:solidFill>
                <a:latin typeface="Arial"/>
              </a:rPr>
              <a:t>Hydrogeological analysis</a:t>
            </a:r>
          </a:p>
        </p:txBody>
      </p:sp>
      <p:sp>
        <p:nvSpPr>
          <p:cNvPr id="17420" name="TextBox 17419"/>
          <p:cNvSpPr txBox="1"/>
          <p:nvPr/>
        </p:nvSpPr>
        <p:spPr>
          <a:xfrm>
            <a:off x="411479" y="2468880"/>
            <a:ext cx="3566159" cy="658368"/>
          </a:xfrm>
          <a:prstGeom prst="rect">
            <a:avLst/>
          </a:prstGeom>
          <a:noFill/>
        </p:spPr>
        <p:txBody>
          <a:bodyPr wrap="square" lIns="45720" rIns="45720" tIns="18288" bIns="18288">
            <a:spAutoFit/>
          </a:bodyPr>
          <a:lstStyle/>
          <a:p>
            <a:pPr algn="ctr">
              <a:spcAft>
                <a:spcPts val="300"/>
              </a:spcAft>
            </a:pPr>
            <a:r>
              <a:rPr sz="1050" b="0">
                <a:solidFill>
                  <a:srgbClr val="262626"/>
                </a:solidFill>
                <a:latin typeface="Arial"/>
              </a:rPr>
              <a:t>Slope, drainage, lineament density, lithology permeability, contacts and faults</a:t>
            </a:r>
          </a:p>
        </p:txBody>
      </p:sp>
      <p:sp>
        <p:nvSpPr>
          <p:cNvPr id="17421" name="Rounded Rectangle 17420"/>
          <p:cNvSpPr/>
          <p:nvPr/>
        </p:nvSpPr>
        <p:spPr>
          <a:xfrm>
            <a:off x="4229099" y="2139696"/>
            <a:ext cx="3749039" cy="1005840"/>
          </a:xfrm>
          <a:prstGeom prst="roundRect">
            <a:avLst>
              <a:gd name="adj" fmla="val 8000"/>
            </a:avLst>
          </a:prstGeom>
          <a:solidFill>
            <a:srgbClr val="E2F0D9"/>
          </a:solidFill>
          <a:ln w="1905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TextBox 17421"/>
          <p:cNvSpPr txBox="1"/>
          <p:nvPr/>
        </p:nvSpPr>
        <p:spPr>
          <a:xfrm>
            <a:off x="4302251" y="2176272"/>
            <a:ext cx="3602735" cy="274320"/>
          </a:xfrm>
          <a:prstGeom prst="rect">
            <a:avLst/>
          </a:prstGeom>
          <a:noFill/>
        </p:spPr>
        <p:txBody>
          <a:bodyPr wrap="square" lIns="45720" rIns="45720" tIns="18288" bIns="18288">
            <a:spAutoFit/>
          </a:bodyPr>
          <a:lstStyle/>
          <a:p>
            <a:pPr algn="ctr">
              <a:spcAft>
                <a:spcPts val="500"/>
              </a:spcAft>
            </a:pPr>
            <a:r>
              <a:rPr sz="1200" b="1">
                <a:solidFill>
                  <a:srgbClr val="262626"/>
                </a:solidFill>
                <a:latin typeface="Arial"/>
              </a:rPr>
              <a:t>Dip-aware springshed inference</a:t>
            </a:r>
          </a:p>
        </p:txBody>
      </p:sp>
      <p:sp>
        <p:nvSpPr>
          <p:cNvPr id="17423" name="TextBox 17422"/>
          <p:cNvSpPr txBox="1"/>
          <p:nvPr/>
        </p:nvSpPr>
        <p:spPr>
          <a:xfrm>
            <a:off x="4320539" y="2468880"/>
            <a:ext cx="3566159" cy="658368"/>
          </a:xfrm>
          <a:prstGeom prst="rect">
            <a:avLst/>
          </a:prstGeom>
          <a:noFill/>
        </p:spPr>
        <p:txBody>
          <a:bodyPr wrap="square" lIns="45720" rIns="45720" tIns="18288" bIns="18288">
            <a:spAutoFit/>
          </a:bodyPr>
          <a:lstStyle/>
          <a:p>
            <a:pPr algn="ctr">
              <a:spcAft>
                <a:spcPts val="300"/>
              </a:spcAft>
            </a:pPr>
            <a:r>
              <a:rPr sz="1050" b="0">
                <a:solidFill>
                  <a:srgbClr val="262626"/>
                </a:solidFill>
                <a:latin typeface="Arial"/>
              </a:rPr>
              <a:t>Flow paths weighted by rock dip and structure; a probability zone, not one hard line</a:t>
            </a:r>
          </a:p>
        </p:txBody>
      </p:sp>
      <p:sp>
        <p:nvSpPr>
          <p:cNvPr id="17424" name="Rounded Rectangle 17423"/>
          <p:cNvSpPr/>
          <p:nvPr/>
        </p:nvSpPr>
        <p:spPr>
          <a:xfrm>
            <a:off x="8138159" y="2139696"/>
            <a:ext cx="3749039" cy="1005840"/>
          </a:xfrm>
          <a:prstGeom prst="roundRect">
            <a:avLst>
              <a:gd name="adj" fmla="val 8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8211311" y="2176272"/>
            <a:ext cx="3602735" cy="274320"/>
          </a:xfrm>
          <a:prstGeom prst="rect">
            <a:avLst/>
          </a:prstGeom>
          <a:noFill/>
        </p:spPr>
        <p:txBody>
          <a:bodyPr wrap="square" lIns="45720" rIns="45720" tIns="18288" bIns="18288">
            <a:spAutoFit/>
          </a:bodyPr>
          <a:lstStyle/>
          <a:p>
            <a:pPr algn="ctr">
              <a:spcAft>
                <a:spcPts val="500"/>
              </a:spcAft>
            </a:pPr>
            <a:r>
              <a:rPr sz="1200" b="1">
                <a:solidFill>
                  <a:srgbClr val="262626"/>
                </a:solidFill>
                <a:latin typeface="Arial"/>
              </a:rPr>
              <a:t>AI recharge suitability engine</a:t>
            </a:r>
          </a:p>
        </p:txBody>
      </p:sp>
      <p:sp>
        <p:nvSpPr>
          <p:cNvPr id="17426" name="TextBox 17425"/>
          <p:cNvSpPr txBox="1"/>
          <p:nvPr/>
        </p:nvSpPr>
        <p:spPr>
          <a:xfrm>
            <a:off x="8229599" y="2468880"/>
            <a:ext cx="3566159" cy="658368"/>
          </a:xfrm>
          <a:prstGeom prst="rect">
            <a:avLst/>
          </a:prstGeom>
          <a:noFill/>
        </p:spPr>
        <p:txBody>
          <a:bodyPr wrap="square" lIns="45720" rIns="45720" tIns="18288" bIns="18288">
            <a:spAutoFit/>
          </a:bodyPr>
          <a:lstStyle/>
          <a:p>
            <a:pPr algn="ctr">
              <a:spcAft>
                <a:spcPts val="300"/>
              </a:spcAft>
            </a:pPr>
            <a:r>
              <a:rPr sz="1050" b="0">
                <a:solidFill>
                  <a:srgbClr val="262626"/>
                </a:solidFill>
                <a:latin typeface="Arial"/>
              </a:rPr>
              <a:t>Random Forest + XGBoost, with SHAP reasons for every score</a:t>
            </a:r>
          </a:p>
        </p:txBody>
      </p:sp>
      <p:cxnSp>
        <p:nvCxnSpPr>
          <p:cNvPr id="17427" name="Connector 17426"/>
          <p:cNvCxnSpPr/>
          <p:nvPr/>
        </p:nvCxnSpPr>
        <p:spPr>
          <a:xfrm>
            <a:off x="4069079" y="2642616"/>
            <a:ext cx="16002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17428" name="Connector 17427"/>
          <p:cNvCxnSpPr/>
          <p:nvPr/>
        </p:nvCxnSpPr>
        <p:spPr>
          <a:xfrm>
            <a:off x="7978139" y="2642616"/>
            <a:ext cx="16002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17429" name="Connector 17428"/>
          <p:cNvCxnSpPr/>
          <p:nvPr/>
        </p:nvCxnSpPr>
        <p:spPr>
          <a:xfrm>
            <a:off x="9646919" y="3145536"/>
            <a:ext cx="0" cy="109728"/>
          </a:xfrm>
          <a:prstGeom prst="line">
            <a:avLst/>
          </a:prstGeom>
          <a:ln w="1905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17430" name="Connector 17429"/>
          <p:cNvCxnSpPr/>
          <p:nvPr/>
        </p:nvCxnSpPr>
        <p:spPr>
          <a:xfrm flipH="1">
            <a:off x="1371600" y="3255264"/>
            <a:ext cx="8275319" cy="0"/>
          </a:xfrm>
          <a:prstGeom prst="line">
            <a:avLst/>
          </a:prstGeom>
          <a:ln w="1905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17431" name="Connector 17430"/>
          <p:cNvCxnSpPr/>
          <p:nvPr/>
        </p:nvCxnSpPr>
        <p:spPr>
          <a:xfrm>
            <a:off x="1371600" y="3255264"/>
            <a:ext cx="0" cy="109728"/>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7432" name="Rounded Rectangle 17431"/>
          <p:cNvSpPr/>
          <p:nvPr/>
        </p:nvSpPr>
        <p:spPr>
          <a:xfrm>
            <a:off x="320040" y="3364992"/>
            <a:ext cx="2103120" cy="731520"/>
          </a:xfrm>
          <a:prstGeom prst="roundRect">
            <a:avLst>
              <a:gd name="adj" fmla="val 15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50" b="1">
                <a:solidFill>
                  <a:srgbClr val="262626"/>
                </a:solidFill>
                <a:latin typeface="Arial"/>
              </a:rPr>
              <a:t>Priority score +</a:t>
            </a:r>
          </a:p>
          <a:p>
            <a:pPr algn="ctr">
              <a:spcAft>
                <a:spcPts val="0"/>
              </a:spcAft>
            </a:pPr>
            <a:r>
              <a:rPr sz="1050" b="0">
                <a:solidFill>
                  <a:srgbClr val="262626"/>
                </a:solidFill>
                <a:latin typeface="Arial"/>
              </a:rPr>
              <a:t>confidence + risk / no-go</a:t>
            </a:r>
          </a:p>
        </p:txBody>
      </p:sp>
      <p:sp>
        <p:nvSpPr>
          <p:cNvPr id="17433" name="Rounded Rectangle 17432"/>
          <p:cNvSpPr/>
          <p:nvPr/>
        </p:nvSpPr>
        <p:spPr>
          <a:xfrm>
            <a:off x="2686050" y="3364992"/>
            <a:ext cx="2103120" cy="731520"/>
          </a:xfrm>
          <a:prstGeom prst="roundRect">
            <a:avLst>
              <a:gd name="adj" fmla="val 15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50" b="1">
                <a:solidFill>
                  <a:srgbClr val="262626"/>
                </a:solidFill>
                <a:latin typeface="Arial"/>
              </a:rPr>
              <a:t>Ranked</a:t>
            </a:r>
          </a:p>
          <a:p>
            <a:pPr algn="ctr">
              <a:spcAft>
                <a:spcPts val="0"/>
              </a:spcAft>
            </a:pPr>
            <a:r>
              <a:rPr sz="1050" b="0">
                <a:solidFill>
                  <a:srgbClr val="262626"/>
                </a:solidFill>
                <a:latin typeface="Arial"/>
              </a:rPr>
              <a:t>intervention sites</a:t>
            </a:r>
          </a:p>
        </p:txBody>
      </p:sp>
      <p:cxnSp>
        <p:nvCxnSpPr>
          <p:cNvPr id="17434" name="Connector 17433"/>
          <p:cNvCxnSpPr/>
          <p:nvPr/>
        </p:nvCxnSpPr>
        <p:spPr>
          <a:xfrm>
            <a:off x="2423160" y="3730752"/>
            <a:ext cx="26289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7435" name="Rounded Rectangle 17434"/>
          <p:cNvSpPr/>
          <p:nvPr/>
        </p:nvSpPr>
        <p:spPr>
          <a:xfrm>
            <a:off x="5052059" y="3364992"/>
            <a:ext cx="2103120" cy="731520"/>
          </a:xfrm>
          <a:prstGeom prst="roundRect">
            <a:avLst>
              <a:gd name="adj" fmla="val 15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50" b="1">
                <a:solidFill>
                  <a:srgbClr val="262626"/>
                </a:solidFill>
                <a:latin typeface="Arial"/>
              </a:rPr>
              <a:t>Expert field</a:t>
            </a:r>
          </a:p>
          <a:p>
            <a:pPr algn="ctr">
              <a:spcAft>
                <a:spcPts val="0"/>
              </a:spcAft>
            </a:pPr>
            <a:r>
              <a:rPr sz="1050" b="0">
                <a:solidFill>
                  <a:srgbClr val="262626"/>
                </a:solidFill>
                <a:latin typeface="Arial"/>
              </a:rPr>
              <a:t>verification</a:t>
            </a:r>
          </a:p>
        </p:txBody>
      </p:sp>
      <p:cxnSp>
        <p:nvCxnSpPr>
          <p:cNvPr id="17436" name="Connector 17435"/>
          <p:cNvCxnSpPr/>
          <p:nvPr/>
        </p:nvCxnSpPr>
        <p:spPr>
          <a:xfrm>
            <a:off x="4789169" y="3730752"/>
            <a:ext cx="26289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7437" name="Rounded Rectangle 17436"/>
          <p:cNvSpPr/>
          <p:nvPr/>
        </p:nvSpPr>
        <p:spPr>
          <a:xfrm>
            <a:off x="7418069" y="3364992"/>
            <a:ext cx="2103120" cy="731520"/>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50" b="1">
                <a:solidFill>
                  <a:srgbClr val="262626"/>
                </a:solidFill>
                <a:latin typeface="Arial"/>
              </a:rPr>
              <a:t>Discharge + field</a:t>
            </a:r>
          </a:p>
          <a:p>
            <a:pPr algn="ctr">
              <a:spcAft>
                <a:spcPts val="0"/>
              </a:spcAft>
            </a:pPr>
            <a:r>
              <a:rPr sz="1050" b="0">
                <a:solidFill>
                  <a:srgbClr val="262626"/>
                </a:solidFill>
                <a:latin typeface="Arial"/>
              </a:rPr>
              <a:t>observations</a:t>
            </a:r>
          </a:p>
        </p:txBody>
      </p:sp>
      <p:cxnSp>
        <p:nvCxnSpPr>
          <p:cNvPr id="17438" name="Connector 17437"/>
          <p:cNvCxnSpPr/>
          <p:nvPr/>
        </p:nvCxnSpPr>
        <p:spPr>
          <a:xfrm>
            <a:off x="7155179" y="3730752"/>
            <a:ext cx="26289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7439" name="Rounded Rectangle 17438"/>
          <p:cNvSpPr/>
          <p:nvPr/>
        </p:nvSpPr>
        <p:spPr>
          <a:xfrm>
            <a:off x="9784080" y="3364992"/>
            <a:ext cx="2103120" cy="731520"/>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50" b="1">
                <a:solidFill>
                  <a:srgbClr val="262626"/>
                </a:solidFill>
                <a:latin typeface="Arial"/>
              </a:rPr>
              <a:t>Model feedback /</a:t>
            </a:r>
          </a:p>
          <a:p>
            <a:pPr algn="ctr">
              <a:spcAft>
                <a:spcPts val="0"/>
              </a:spcAft>
            </a:pPr>
            <a:r>
              <a:rPr sz="1050" b="0">
                <a:solidFill>
                  <a:srgbClr val="262626"/>
                </a:solidFill>
                <a:latin typeface="Arial"/>
              </a:rPr>
              <a:t>recalibration</a:t>
            </a:r>
          </a:p>
        </p:txBody>
      </p:sp>
      <p:cxnSp>
        <p:nvCxnSpPr>
          <p:cNvPr id="17440" name="Connector 17439"/>
          <p:cNvCxnSpPr/>
          <p:nvPr/>
        </p:nvCxnSpPr>
        <p:spPr>
          <a:xfrm>
            <a:off x="9521190" y="3730752"/>
            <a:ext cx="26289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17441" name="Connector 17440"/>
          <p:cNvCxnSpPr/>
          <p:nvPr/>
        </p:nvCxnSpPr>
        <p:spPr>
          <a:xfrm flipV="1">
            <a:off x="11201400" y="3145536"/>
            <a:ext cx="0" cy="219456"/>
          </a:xfrm>
          <a:prstGeom prst="line">
            <a:avLst/>
          </a:prstGeom>
          <a:ln w="1905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442" name="TextBox 17441"/>
          <p:cNvSpPr txBox="1"/>
          <p:nvPr/>
        </p:nvSpPr>
        <p:spPr>
          <a:xfrm>
            <a:off x="9875520" y="3163824"/>
            <a:ext cx="1280160" cy="201168"/>
          </a:xfrm>
          <a:prstGeom prst="rect">
            <a:avLst/>
          </a:prstGeom>
          <a:noFill/>
        </p:spPr>
        <p:txBody>
          <a:bodyPr wrap="square" lIns="45720" rIns="45720" tIns="18288" bIns="18288">
            <a:spAutoFit/>
          </a:bodyPr>
          <a:lstStyle/>
          <a:p>
            <a:pPr algn="r">
              <a:spcAft>
                <a:spcPts val="300"/>
              </a:spcAft>
            </a:pPr>
            <a:r>
              <a:rPr sz="850" b="0">
                <a:solidFill>
                  <a:srgbClr val="C55A11"/>
                </a:solidFill>
                <a:latin typeface="Arial"/>
              </a:rPr>
              <a:t>improves next ranking</a:t>
            </a:r>
          </a:p>
        </p:txBody>
      </p:sp>
      <p:sp>
        <p:nvSpPr>
          <p:cNvPr id="17443" name="Rounded Rectangle 17442"/>
          <p:cNvSpPr/>
          <p:nvPr/>
        </p:nvSpPr>
        <p:spPr>
          <a:xfrm>
            <a:off x="320040" y="4279392"/>
            <a:ext cx="3749039" cy="1170432"/>
          </a:xfrm>
          <a:prstGeom prst="roundRect">
            <a:avLst>
              <a:gd name="adj" fmla="val 6000"/>
            </a:avLst>
          </a:prstGeom>
          <a:solidFill>
            <a:srgbClr val="FFFFFF"/>
          </a:solidFill>
          <a:ln w="1905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4" name="TextBox 17443"/>
          <p:cNvSpPr txBox="1"/>
          <p:nvPr/>
        </p:nvSpPr>
        <p:spPr>
          <a:xfrm>
            <a:off x="411479" y="4315968"/>
            <a:ext cx="3566159" cy="310896"/>
          </a:xfrm>
          <a:prstGeom prst="rect">
            <a:avLst/>
          </a:prstGeom>
          <a:noFill/>
        </p:spPr>
        <p:txBody>
          <a:bodyPr wrap="square" lIns="45720" rIns="45720" tIns="18288" bIns="18288">
            <a:spAutoFit/>
          </a:bodyPr>
          <a:lstStyle/>
          <a:p>
            <a:pPr>
              <a:spcAft>
                <a:spcPts val="1000"/>
              </a:spcAft>
            </a:pPr>
            <a:r>
              <a:rPr sz="1400" b="1">
                <a:solidFill>
                  <a:srgbClr val="2F5597"/>
                </a:solidFill>
                <a:latin typeface="Arial"/>
              </a:rPr>
              <a:t>1  Hydrogeology-aware</a:t>
            </a:r>
          </a:p>
        </p:txBody>
      </p:sp>
      <p:sp>
        <p:nvSpPr>
          <p:cNvPr id="17445" name="TextBox 17444"/>
          <p:cNvSpPr txBox="1"/>
          <p:nvPr/>
        </p:nvSpPr>
        <p:spPr>
          <a:xfrm>
            <a:off x="411479" y="4663440"/>
            <a:ext cx="3566159" cy="777240"/>
          </a:xfrm>
          <a:prstGeom prst="rect">
            <a:avLst/>
          </a:prstGeom>
          <a:noFill/>
        </p:spPr>
        <p:txBody>
          <a:bodyPr wrap="square" lIns="45720" rIns="45720" tIns="18288" bIns="18288">
            <a:spAutoFit/>
          </a:bodyPr>
          <a:lstStyle/>
          <a:p>
            <a:pPr>
              <a:spcAft>
                <a:spcPts val="1000"/>
              </a:spcAft>
            </a:pPr>
            <a:r>
              <a:rPr sz="1300" b="0">
                <a:solidFill>
                  <a:srgbClr val="262626"/>
                </a:solidFill>
                <a:latin typeface="Arial"/>
              </a:rPr>
              <a:t>Springshed follows geological structure, dip and fractures, not watershed boundaries alone.</a:t>
            </a:r>
          </a:p>
        </p:txBody>
      </p:sp>
      <p:sp>
        <p:nvSpPr>
          <p:cNvPr id="17446" name="Rounded Rectangle 17445"/>
          <p:cNvSpPr/>
          <p:nvPr/>
        </p:nvSpPr>
        <p:spPr>
          <a:xfrm>
            <a:off x="4229099" y="4279392"/>
            <a:ext cx="3749039" cy="1170432"/>
          </a:xfrm>
          <a:prstGeom prst="roundRect">
            <a:avLst>
              <a:gd name="adj" fmla="val 6000"/>
            </a:avLst>
          </a:prstGeom>
          <a:solidFill>
            <a:srgbClr val="FFFFFF"/>
          </a:solidFill>
          <a:ln w="1905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7" name="TextBox 17446"/>
          <p:cNvSpPr txBox="1"/>
          <p:nvPr/>
        </p:nvSpPr>
        <p:spPr>
          <a:xfrm>
            <a:off x="4320539" y="4315968"/>
            <a:ext cx="3566159" cy="310896"/>
          </a:xfrm>
          <a:prstGeom prst="rect">
            <a:avLst/>
          </a:prstGeom>
          <a:noFill/>
        </p:spPr>
        <p:txBody>
          <a:bodyPr wrap="square" lIns="45720" rIns="45720" tIns="18288" bIns="18288">
            <a:spAutoFit/>
          </a:bodyPr>
          <a:lstStyle/>
          <a:p>
            <a:pPr>
              <a:spcAft>
                <a:spcPts val="1000"/>
              </a:spcAft>
            </a:pPr>
            <a:r>
              <a:rPr sz="1400" b="1">
                <a:solidFill>
                  <a:srgbClr val="2F5597"/>
                </a:solidFill>
                <a:latin typeface="Arial"/>
              </a:rPr>
              <a:t>2  A decision, not just a map</a:t>
            </a:r>
          </a:p>
        </p:txBody>
      </p:sp>
      <p:sp>
        <p:nvSpPr>
          <p:cNvPr id="17448" name="TextBox 17447"/>
          <p:cNvSpPr txBox="1"/>
          <p:nvPr/>
        </p:nvSpPr>
        <p:spPr>
          <a:xfrm>
            <a:off x="4320539" y="4663440"/>
            <a:ext cx="3566159" cy="777240"/>
          </a:xfrm>
          <a:prstGeom prst="rect">
            <a:avLst/>
          </a:prstGeom>
          <a:noFill/>
        </p:spPr>
        <p:txBody>
          <a:bodyPr wrap="square" lIns="45720" rIns="45720" tIns="18288" bIns="18288">
            <a:spAutoFit/>
          </a:bodyPr>
          <a:lstStyle/>
          <a:p>
            <a:pPr>
              <a:spcAft>
                <a:spcPts val="1000"/>
              </a:spcAft>
            </a:pPr>
            <a:r>
              <a:rPr sz="1300" b="0">
                <a:solidFill>
                  <a:srgbClr val="262626"/>
                </a:solidFill>
                <a:latin typeface="Arial"/>
              </a:rPr>
              <a:t>Ranks intervention sites with reasons, confidence and risk.</a:t>
            </a:r>
          </a:p>
        </p:txBody>
      </p:sp>
      <p:sp>
        <p:nvSpPr>
          <p:cNvPr id="17449" name="Rounded Rectangle 17448"/>
          <p:cNvSpPr/>
          <p:nvPr/>
        </p:nvSpPr>
        <p:spPr>
          <a:xfrm>
            <a:off x="8138159" y="4279392"/>
            <a:ext cx="3749039" cy="1170432"/>
          </a:xfrm>
          <a:prstGeom prst="roundRect">
            <a:avLst>
              <a:gd name="adj" fmla="val 6000"/>
            </a:avLst>
          </a:prstGeom>
          <a:solidFill>
            <a:srgbClr val="FFFFFF"/>
          </a:solidFill>
          <a:ln w="1905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0" name="TextBox 17449"/>
          <p:cNvSpPr txBox="1"/>
          <p:nvPr/>
        </p:nvSpPr>
        <p:spPr>
          <a:xfrm>
            <a:off x="8229599" y="4315968"/>
            <a:ext cx="3566159" cy="310896"/>
          </a:xfrm>
          <a:prstGeom prst="rect">
            <a:avLst/>
          </a:prstGeom>
          <a:noFill/>
        </p:spPr>
        <p:txBody>
          <a:bodyPr wrap="square" lIns="45720" rIns="45720" tIns="18288" bIns="18288">
            <a:spAutoFit/>
          </a:bodyPr>
          <a:lstStyle/>
          <a:p>
            <a:pPr>
              <a:spcAft>
                <a:spcPts val="1000"/>
              </a:spcAft>
            </a:pPr>
            <a:r>
              <a:rPr sz="1400" b="1">
                <a:solidFill>
                  <a:srgbClr val="2F5597"/>
                </a:solidFill>
                <a:latin typeface="Arial"/>
              </a:rPr>
              <a:t>3  Closed-loop learning</a:t>
            </a:r>
          </a:p>
        </p:txBody>
      </p:sp>
      <p:sp>
        <p:nvSpPr>
          <p:cNvPr id="17451" name="TextBox 17450"/>
          <p:cNvSpPr txBox="1"/>
          <p:nvPr/>
        </p:nvSpPr>
        <p:spPr>
          <a:xfrm>
            <a:off x="8229599" y="4663440"/>
            <a:ext cx="3566159" cy="777240"/>
          </a:xfrm>
          <a:prstGeom prst="rect">
            <a:avLst/>
          </a:prstGeom>
          <a:noFill/>
        </p:spPr>
        <p:txBody>
          <a:bodyPr wrap="square" lIns="45720" rIns="45720" tIns="18288" bIns="18288">
            <a:spAutoFit/>
          </a:bodyPr>
          <a:lstStyle/>
          <a:p>
            <a:pPr>
              <a:spcAft>
                <a:spcPts val="1000"/>
              </a:spcAft>
            </a:pPr>
            <a:r>
              <a:rPr sz="1300" b="0">
                <a:solidFill>
                  <a:srgbClr val="262626"/>
                </a:solidFill>
                <a:latin typeface="Arial"/>
              </a:rPr>
              <a:t>Field observations and discharge measurements improve later planning.</a:t>
            </a:r>
          </a:p>
        </p:txBody>
      </p:sp>
      <p:sp>
        <p:nvSpPr>
          <p:cNvPr id="17452" name="TextBox 17451"/>
          <p:cNvSpPr txBox="1"/>
          <p:nvPr/>
        </p:nvSpPr>
        <p:spPr>
          <a:xfrm>
            <a:off x="320040" y="5532120"/>
            <a:ext cx="11567160" cy="731520"/>
          </a:xfrm>
          <a:prstGeom prst="rect">
            <a:avLst/>
          </a:prstGeom>
          <a:noFill/>
        </p:spPr>
        <p:txBody>
          <a:bodyPr wrap="square" lIns="45720" rIns="45720" tIns="18288" bIns="18288">
            <a:spAutoFit/>
          </a:bodyPr>
          <a:lstStyle/>
          <a:p>
            <a:pPr>
              <a:spcAft>
                <a:spcPts val="300"/>
              </a:spcAft>
            </a:pPr>
            <a:r>
              <a:rPr sz="1050" b="1">
                <a:solidFill>
                  <a:srgbClr val="262626"/>
                </a:solidFill>
                <a:latin typeface="Arial"/>
              </a:rPr>
              <a:t>Physics sets the bounds, ML ranks within them. </a:t>
            </a:r>
            <a:r>
              <a:rPr sz="1050" b="0">
                <a:solidFill>
                  <a:srgbClr val="262626"/>
                </a:solidFill>
                <a:latin typeface="Arial"/>
              </a:rPr>
              <a:t>Geological and terrain constraints limit what the model may propose; ML then ranks the candidates that remain. AI does not replace hydrogeological reasoning.</a:t>
            </a:r>
          </a:p>
          <a:p>
            <a:pPr>
              <a:spcAft>
                <a:spcPts val="300"/>
              </a:spcAft>
            </a:pPr>
            <a:r>
              <a:rPr sz="1050" b="1">
                <a:solidFill>
                  <a:srgbClr val="262626"/>
                </a:solidFill>
                <a:latin typeface="Arial"/>
              </a:rPr>
              <a:t>Confidence </a:t>
            </a:r>
            <a:r>
              <a:rPr sz="1050" b="0">
                <a:solidFill>
                  <a:srgbClr val="262626"/>
                </a:solidFill>
                <a:latin typeface="Arial"/>
              </a:rPr>
              <a:t>reflects data availability and quality, and SHAP shows which factors drove each score.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600200" y="109728"/>
            <a:ext cx="8046720" cy="914400"/>
          </a:xfrm>
        </p:spPr>
        <p:txBody>
          <a:bodyPr anchor="ctr"/>
          <a:lstStyle/>
          <a:p>
            <a:pPr eaLnBrk="1" hangingPunct="1"/>
            <a:r>
              <a:rPr lang="en-US" sz="2200" b="1" dirty="0">
                <a:latin typeface="Times New Roman" panose="02020603050405020304" pitchFamily="18" charset="0"/>
                <a:ea typeface="ＭＳ Ｐゴシック" pitchFamily="1" charset="-128"/>
                <a:cs typeface="Times New Roman" panose="02020603050405020304" pitchFamily="18" charset="0"/>
              </a:rPr>
              <a:t>Implementation Architecture and How We Will Prove It Works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none" lIns="0" rIns="0"/>
          <a:lstStyle/>
          <a:p>
            <a:pPr algn="ctr"/>
            <a:r>
              <a:rPr lang="en-US" dirty="0" sz="1400"/>
              <a:t>TechDevs_6</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188720"/>
            <a:ext cx="5669280" cy="5029200"/>
          </a:xfrm>
          <a:prstGeom prst="roundRect">
            <a:avLst>
              <a:gd name="adj" fmla="val 3000"/>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1" name="TextBox 17410"/>
          <p:cNvSpPr txBox="1"/>
          <p:nvPr/>
        </p:nvSpPr>
        <p:spPr>
          <a:xfrm>
            <a:off x="411480" y="1243584"/>
            <a:ext cx="5486400" cy="292608"/>
          </a:xfrm>
          <a:prstGeom prst="rect">
            <a:avLst/>
          </a:prstGeom>
          <a:noFill/>
        </p:spPr>
        <p:txBody>
          <a:bodyPr wrap="none" tIns="18288">
            <a:spAutoFit/>
          </a:bodyPr>
          <a:lstStyle/>
          <a:p>
            <a:r>
              <a:rPr sz="1400" b="1" u="sng">
                <a:solidFill>
                  <a:srgbClr val="2F5597"/>
                </a:solidFill>
                <a:latin typeface="Arial"/>
              </a:rPr>
              <a:t>Implementation</a:t>
            </a:r>
          </a:p>
        </p:txBody>
      </p:sp>
      <p:sp>
        <p:nvSpPr>
          <p:cNvPr id="17412" name="Rounded Rectangle 17411"/>
          <p:cNvSpPr/>
          <p:nvPr/>
        </p:nvSpPr>
        <p:spPr>
          <a:xfrm>
            <a:off x="457200" y="1627632"/>
            <a:ext cx="1143000" cy="1280160"/>
          </a:xfrm>
          <a:prstGeom prst="roundRect">
            <a:avLst>
              <a:gd name="adj" fmla="val 10000"/>
            </a:avLst>
          </a:prstGeom>
          <a:solidFill>
            <a:srgbClr val="549E3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pPr>
            <a:r>
              <a:rPr sz="1150" b="1">
                <a:solidFill>
                  <a:srgbClr val="FFFFFF"/>
                </a:solidFill>
                <a:latin typeface="Arial"/>
              </a:rPr>
              <a:t>Data</a:t>
            </a:r>
          </a:p>
        </p:txBody>
      </p:sp>
      <p:sp>
        <p:nvSpPr>
          <p:cNvPr id="17413" name="Rounded Rectangle 17412"/>
          <p:cNvSpPr/>
          <p:nvPr/>
        </p:nvSpPr>
        <p:spPr>
          <a:xfrm>
            <a:off x="1691640" y="1627632"/>
            <a:ext cx="1920240" cy="347472"/>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SRTM / Cartosat DEM</a:t>
            </a:r>
          </a:p>
        </p:txBody>
      </p:sp>
      <p:sp>
        <p:nvSpPr>
          <p:cNvPr id="17414" name="Rounded Rectangle 17413"/>
          <p:cNvSpPr/>
          <p:nvPr/>
        </p:nvSpPr>
        <p:spPr>
          <a:xfrm>
            <a:off x="3685032" y="1627632"/>
            <a:ext cx="1920240" cy="347472"/>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GSI Bhukosh geology</a:t>
            </a:r>
          </a:p>
        </p:txBody>
      </p:sp>
      <p:sp>
        <p:nvSpPr>
          <p:cNvPr id="17415" name="Rounded Rectangle 17414"/>
          <p:cNvSpPr/>
          <p:nvPr/>
        </p:nvSpPr>
        <p:spPr>
          <a:xfrm>
            <a:off x="1691640" y="2039112"/>
            <a:ext cx="1920240" cy="347472"/>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IMD / CHIRPS rainfall</a:t>
            </a:r>
          </a:p>
        </p:txBody>
      </p:sp>
      <p:sp>
        <p:nvSpPr>
          <p:cNvPr id="17416" name="Rounded Rectangle 17415"/>
          <p:cNvSpPr/>
          <p:nvPr/>
        </p:nvSpPr>
        <p:spPr>
          <a:xfrm>
            <a:off x="3685032" y="2039112"/>
            <a:ext cx="1920240" cy="347472"/>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Bhuvan land use</a:t>
            </a:r>
          </a:p>
        </p:txBody>
      </p:sp>
      <p:sp>
        <p:nvSpPr>
          <p:cNvPr id="17417" name="Rounded Rectangle 17416"/>
          <p:cNvSpPr/>
          <p:nvPr/>
        </p:nvSpPr>
        <p:spPr>
          <a:xfrm>
            <a:off x="1691640" y="2450592"/>
            <a:ext cx="1920240" cy="347472"/>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India-WRIS</a:t>
            </a:r>
          </a:p>
        </p:txBody>
      </p:sp>
      <p:sp>
        <p:nvSpPr>
          <p:cNvPr id="17418" name="Rounded Rectangle 17417"/>
          <p:cNvSpPr/>
          <p:nvPr/>
        </p:nvSpPr>
        <p:spPr>
          <a:xfrm>
            <a:off x="3685032" y="2450592"/>
            <a:ext cx="1920240" cy="347472"/>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Spring and field observations</a:t>
            </a:r>
          </a:p>
        </p:txBody>
      </p:sp>
      <p:sp>
        <p:nvSpPr>
          <p:cNvPr id="17419" name="Rounded Rectangle 17418"/>
          <p:cNvSpPr/>
          <p:nvPr/>
        </p:nvSpPr>
        <p:spPr>
          <a:xfrm>
            <a:off x="457200" y="3017520"/>
            <a:ext cx="1143000" cy="868680"/>
          </a:xfrm>
          <a:prstGeom prst="roundRect">
            <a:avLst>
              <a:gd name="adj" fmla="val 10000"/>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pPr>
            <a:r>
              <a:rPr sz="1150" b="1">
                <a:solidFill>
                  <a:srgbClr val="FFFFFF"/>
                </a:solidFill>
                <a:latin typeface="Arial"/>
              </a:rPr>
              <a:t>Processing</a:t>
            </a:r>
          </a:p>
        </p:txBody>
      </p:sp>
      <p:sp>
        <p:nvSpPr>
          <p:cNvPr id="17420" name="Rounded Rectangle 17419"/>
          <p:cNvSpPr/>
          <p:nvPr/>
        </p:nvSpPr>
        <p:spPr>
          <a:xfrm>
            <a:off x="1691640" y="3017520"/>
            <a:ext cx="1920240" cy="347472"/>
          </a:xfrm>
          <a:prstGeom prst="roundRect">
            <a:avLst>
              <a:gd name="adj" fmla="val 15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GDAL</a:t>
            </a:r>
          </a:p>
        </p:txBody>
      </p:sp>
      <p:sp>
        <p:nvSpPr>
          <p:cNvPr id="17421" name="Rounded Rectangle 17420"/>
          <p:cNvSpPr/>
          <p:nvPr/>
        </p:nvSpPr>
        <p:spPr>
          <a:xfrm>
            <a:off x="3685032" y="3017520"/>
            <a:ext cx="1920240" cy="347472"/>
          </a:xfrm>
          <a:prstGeom prst="roundRect">
            <a:avLst>
              <a:gd name="adj" fmla="val 15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Rasterio</a:t>
            </a:r>
          </a:p>
        </p:txBody>
      </p:sp>
      <p:sp>
        <p:nvSpPr>
          <p:cNvPr id="17422" name="Rounded Rectangle 17421"/>
          <p:cNvSpPr/>
          <p:nvPr/>
        </p:nvSpPr>
        <p:spPr>
          <a:xfrm>
            <a:off x="1691640" y="3429000"/>
            <a:ext cx="1920240" cy="347472"/>
          </a:xfrm>
          <a:prstGeom prst="roundRect">
            <a:avLst>
              <a:gd name="adj" fmla="val 15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WhiteboxTools</a:t>
            </a:r>
          </a:p>
        </p:txBody>
      </p:sp>
      <p:sp>
        <p:nvSpPr>
          <p:cNvPr id="17423" name="Rounded Rectangle 17422"/>
          <p:cNvSpPr/>
          <p:nvPr/>
        </p:nvSpPr>
        <p:spPr>
          <a:xfrm>
            <a:off x="3685032" y="3429000"/>
            <a:ext cx="1920240" cy="347472"/>
          </a:xfrm>
          <a:prstGeom prst="roundRect">
            <a:avLst>
              <a:gd name="adj" fmla="val 15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PostGIS</a:t>
            </a:r>
          </a:p>
        </p:txBody>
      </p:sp>
      <p:sp>
        <p:nvSpPr>
          <p:cNvPr id="17424" name="Rounded Rectangle 17423"/>
          <p:cNvSpPr/>
          <p:nvPr/>
        </p:nvSpPr>
        <p:spPr>
          <a:xfrm>
            <a:off x="457200" y="3995927"/>
            <a:ext cx="1143000" cy="685800"/>
          </a:xfrm>
          <a:prstGeom prst="roundRect">
            <a:avLst>
              <a:gd name="adj" fmla="val 10000"/>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pPr>
            <a:r>
              <a:rPr sz="1150" b="1">
                <a:solidFill>
                  <a:srgbClr val="FFFFFF"/>
                </a:solidFill>
                <a:latin typeface="Arial"/>
              </a:rPr>
              <a:t>AI</a:t>
            </a:r>
          </a:p>
        </p:txBody>
      </p:sp>
      <p:sp>
        <p:nvSpPr>
          <p:cNvPr id="17425" name="Rounded Rectangle 17424"/>
          <p:cNvSpPr/>
          <p:nvPr/>
        </p:nvSpPr>
        <p:spPr>
          <a:xfrm>
            <a:off x="1691640" y="3995927"/>
            <a:ext cx="1920240" cy="347472"/>
          </a:xfrm>
          <a:prstGeom prst="roundRect">
            <a:avLst>
              <a:gd name="adj" fmla="val 15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Random Forest</a:t>
            </a:r>
          </a:p>
        </p:txBody>
      </p:sp>
      <p:sp>
        <p:nvSpPr>
          <p:cNvPr id="17426" name="Rounded Rectangle 17425"/>
          <p:cNvSpPr/>
          <p:nvPr/>
        </p:nvSpPr>
        <p:spPr>
          <a:xfrm>
            <a:off x="3685032" y="3995927"/>
            <a:ext cx="1920240" cy="347472"/>
          </a:xfrm>
          <a:prstGeom prst="roundRect">
            <a:avLst>
              <a:gd name="adj" fmla="val 15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XGBoost</a:t>
            </a:r>
          </a:p>
        </p:txBody>
      </p:sp>
      <p:sp>
        <p:nvSpPr>
          <p:cNvPr id="17427" name="Rounded Rectangle 17426"/>
          <p:cNvSpPr/>
          <p:nvPr/>
        </p:nvSpPr>
        <p:spPr>
          <a:xfrm>
            <a:off x="1691640" y="4407407"/>
            <a:ext cx="1920240" cy="347472"/>
          </a:xfrm>
          <a:prstGeom prst="roundRect">
            <a:avLst>
              <a:gd name="adj" fmla="val 15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SHAP</a:t>
            </a:r>
          </a:p>
        </p:txBody>
      </p:sp>
      <p:sp>
        <p:nvSpPr>
          <p:cNvPr id="17428" name="Rounded Rectangle 17427"/>
          <p:cNvSpPr/>
          <p:nvPr/>
        </p:nvSpPr>
        <p:spPr>
          <a:xfrm>
            <a:off x="457200" y="4791455"/>
            <a:ext cx="1143000" cy="868680"/>
          </a:xfrm>
          <a:prstGeom prst="roundRect">
            <a:avLst>
              <a:gd name="adj" fmla="val 10000"/>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pPr>
            <a:r>
              <a:rPr sz="1150" b="1">
                <a:solidFill>
                  <a:srgbClr val="FFFFFF"/>
                </a:solidFill>
                <a:latin typeface="Arial"/>
              </a:rPr>
              <a:t>Platform</a:t>
            </a:r>
          </a:p>
        </p:txBody>
      </p:sp>
      <p:sp>
        <p:nvSpPr>
          <p:cNvPr id="17429" name="Rounded Rectangle 17428"/>
          <p:cNvSpPr/>
          <p:nvPr/>
        </p:nvSpPr>
        <p:spPr>
          <a:xfrm>
            <a:off x="1691640" y="4791455"/>
            <a:ext cx="1920240" cy="347472"/>
          </a:xfrm>
          <a:prstGeom prst="roundRect">
            <a:avLst>
              <a:gd name="adj" fmla="val 15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FastAPI</a:t>
            </a:r>
          </a:p>
        </p:txBody>
      </p:sp>
      <p:sp>
        <p:nvSpPr>
          <p:cNvPr id="17430" name="Rounded Rectangle 17429"/>
          <p:cNvSpPr/>
          <p:nvPr/>
        </p:nvSpPr>
        <p:spPr>
          <a:xfrm>
            <a:off x="3685032" y="4791455"/>
            <a:ext cx="1920240" cy="347472"/>
          </a:xfrm>
          <a:prstGeom prst="roundRect">
            <a:avLst>
              <a:gd name="adj" fmla="val 15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PostgreSQL / PostGIS</a:t>
            </a:r>
          </a:p>
        </p:txBody>
      </p:sp>
      <p:sp>
        <p:nvSpPr>
          <p:cNvPr id="17431" name="Rounded Rectangle 17430"/>
          <p:cNvSpPr/>
          <p:nvPr/>
        </p:nvSpPr>
        <p:spPr>
          <a:xfrm>
            <a:off x="1691640" y="5202936"/>
            <a:ext cx="1920240" cy="347472"/>
          </a:xfrm>
          <a:prstGeom prst="roundRect">
            <a:avLst>
              <a:gd name="adj" fmla="val 15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Next.js + MapLibre</a:t>
            </a:r>
          </a:p>
        </p:txBody>
      </p:sp>
      <p:sp>
        <p:nvSpPr>
          <p:cNvPr id="17432" name="Rounded Rectangle 17431"/>
          <p:cNvSpPr/>
          <p:nvPr/>
        </p:nvSpPr>
        <p:spPr>
          <a:xfrm>
            <a:off x="3685032" y="5202936"/>
            <a:ext cx="1920240" cy="347472"/>
          </a:xfrm>
          <a:prstGeom prst="roundRect">
            <a:avLst>
              <a:gd name="adj" fmla="val 15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0">
                <a:solidFill>
                  <a:srgbClr val="262626"/>
                </a:solidFill>
                <a:latin typeface="Arial"/>
              </a:rPr>
              <a:t>Offline PWA + IndexedDB</a:t>
            </a:r>
          </a:p>
        </p:txBody>
      </p:sp>
      <p:sp>
        <p:nvSpPr>
          <p:cNvPr id="17433" name="TextBox 17432"/>
          <p:cNvSpPr txBox="1"/>
          <p:nvPr/>
        </p:nvSpPr>
        <p:spPr>
          <a:xfrm>
            <a:off x="457200" y="5897880"/>
            <a:ext cx="5486400" cy="228600"/>
          </a:xfrm>
          <a:prstGeom prst="rect">
            <a:avLst/>
          </a:prstGeom>
          <a:noFill/>
        </p:spPr>
        <p:txBody>
          <a:bodyPr wrap="square" lIns="45720" rIns="45720" tIns="18288" bIns="18288">
            <a:spAutoFit/>
          </a:bodyPr>
          <a:lstStyle/>
          <a:p>
            <a:pPr>
              <a:spcAft>
                <a:spcPts val="300"/>
              </a:spcAft>
            </a:pPr>
            <a:r>
              <a:rPr sz="900" b="0">
                <a:solidFill>
                  <a:srgbClr val="404040"/>
                </a:solidFill>
                <a:latin typeface="Arial"/>
              </a:rPr>
              <a:t>Proposed stack. Nothing here has been built or benchmarked yet.</a:t>
            </a:r>
          </a:p>
        </p:txBody>
      </p:sp>
      <p:sp>
        <p:nvSpPr>
          <p:cNvPr id="17434" name="Rounded Rectangle 17433"/>
          <p:cNvSpPr/>
          <p:nvPr/>
        </p:nvSpPr>
        <p:spPr>
          <a:xfrm>
            <a:off x="6172200" y="1188720"/>
            <a:ext cx="5715000" cy="5029200"/>
          </a:xfrm>
          <a:prstGeom prst="roundRect">
            <a:avLst>
              <a:gd name="adj" fmla="val 3000"/>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TextBox 17434"/>
          <p:cNvSpPr txBox="1"/>
          <p:nvPr/>
        </p:nvSpPr>
        <p:spPr>
          <a:xfrm>
            <a:off x="6263640" y="1243584"/>
            <a:ext cx="5486400" cy="292608"/>
          </a:xfrm>
          <a:prstGeom prst="rect">
            <a:avLst/>
          </a:prstGeom>
          <a:noFill/>
        </p:spPr>
        <p:txBody>
          <a:bodyPr wrap="none" tIns="18288">
            <a:spAutoFit/>
          </a:bodyPr>
          <a:lstStyle/>
          <a:p>
            <a:r>
              <a:rPr sz="1400" b="1" u="sng">
                <a:solidFill>
                  <a:srgbClr val="2F5597"/>
                </a:solidFill>
                <a:latin typeface="Arial"/>
              </a:rPr>
              <a:t>How We Will Validate</a:t>
            </a:r>
          </a:p>
        </p:txBody>
      </p:sp>
      <p:sp>
        <p:nvSpPr>
          <p:cNvPr id="17436" name="Rounded Rectangle 17435"/>
          <p:cNvSpPr/>
          <p:nvPr/>
        </p:nvSpPr>
        <p:spPr>
          <a:xfrm>
            <a:off x="6309360" y="1627632"/>
            <a:ext cx="5440680" cy="749808"/>
          </a:xfrm>
          <a:prstGeom prst="roundRect">
            <a:avLst>
              <a:gd name="adj" fmla="val 8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7" name="Oval 17436"/>
          <p:cNvSpPr/>
          <p:nvPr/>
        </p:nvSpPr>
        <p:spPr>
          <a:xfrm>
            <a:off x="6400800" y="1810512"/>
            <a:ext cx="365760" cy="365760"/>
          </a:xfrm>
          <a:prstGeom prst="ellipse">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500"/>
              </a:spcAft>
            </a:pPr>
            <a:r>
              <a:rPr sz="1200" b="1">
                <a:solidFill>
                  <a:srgbClr val="FFFFFF"/>
                </a:solidFill>
                <a:latin typeface="Arial"/>
              </a:rPr>
              <a:t>1</a:t>
            </a:r>
          </a:p>
        </p:txBody>
      </p:sp>
      <p:sp>
        <p:nvSpPr>
          <p:cNvPr id="17438" name="TextBox 17437"/>
          <p:cNvSpPr txBox="1"/>
          <p:nvPr/>
        </p:nvSpPr>
        <p:spPr>
          <a:xfrm>
            <a:off x="6858000" y="1664208"/>
            <a:ext cx="4846320" cy="274320"/>
          </a:xfrm>
          <a:prstGeom prst="rect">
            <a:avLst/>
          </a:prstGeom>
          <a:noFill/>
        </p:spPr>
        <p:txBody>
          <a:bodyPr wrap="square" lIns="45720" rIns="45720" tIns="18288" bIns="18288">
            <a:spAutoFit/>
          </a:bodyPr>
          <a:lstStyle/>
          <a:p>
            <a:pPr>
              <a:spcAft>
                <a:spcPts val="300"/>
              </a:spcAft>
            </a:pPr>
            <a:r>
              <a:rPr sz="1150" b="1">
                <a:solidFill>
                  <a:srgbClr val="2F5597"/>
                </a:solidFill>
                <a:latin typeface="Arial"/>
              </a:rPr>
              <a:t>Historical validation</a:t>
            </a:r>
          </a:p>
        </p:txBody>
      </p:sp>
      <p:sp>
        <p:nvSpPr>
          <p:cNvPr id="17439" name="TextBox 17438"/>
          <p:cNvSpPr txBox="1"/>
          <p:nvPr/>
        </p:nvSpPr>
        <p:spPr>
          <a:xfrm>
            <a:off x="6858000" y="1938528"/>
            <a:ext cx="4846320" cy="420624"/>
          </a:xfrm>
          <a:prstGeom prst="rect">
            <a:avLst/>
          </a:prstGeom>
          <a:noFill/>
        </p:spPr>
        <p:txBody>
          <a:bodyPr wrap="square" lIns="45720" rIns="45720" tIns="18288" bIns="18288">
            <a:spAutoFit/>
          </a:bodyPr>
          <a:lstStyle/>
          <a:p>
            <a:pPr>
              <a:spcAft>
                <a:spcPts val="300"/>
              </a:spcAft>
            </a:pPr>
            <a:r>
              <a:rPr sz="1050" b="0">
                <a:solidFill>
                  <a:srgbClr val="262626"/>
                </a:solidFill>
                <a:latin typeface="Arial"/>
              </a:rPr>
              <a:t>Compare predictions with known spring behaviour and any historical observations.</a:t>
            </a:r>
          </a:p>
        </p:txBody>
      </p:sp>
      <p:sp>
        <p:nvSpPr>
          <p:cNvPr id="17440" name="Rounded Rectangle 17439"/>
          <p:cNvSpPr/>
          <p:nvPr/>
        </p:nvSpPr>
        <p:spPr>
          <a:xfrm>
            <a:off x="6309360" y="2450592"/>
            <a:ext cx="5440680" cy="749808"/>
          </a:xfrm>
          <a:prstGeom prst="roundRect">
            <a:avLst>
              <a:gd name="adj" fmla="val 8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1" name="Oval 17440"/>
          <p:cNvSpPr/>
          <p:nvPr/>
        </p:nvSpPr>
        <p:spPr>
          <a:xfrm>
            <a:off x="6400800" y="2633472"/>
            <a:ext cx="365760" cy="365760"/>
          </a:xfrm>
          <a:prstGeom prst="ellipse">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500"/>
              </a:spcAft>
            </a:pPr>
            <a:r>
              <a:rPr sz="1200" b="1">
                <a:solidFill>
                  <a:srgbClr val="FFFFFF"/>
                </a:solidFill>
                <a:latin typeface="Arial"/>
              </a:rPr>
              <a:t>2</a:t>
            </a:r>
          </a:p>
        </p:txBody>
      </p:sp>
      <p:sp>
        <p:nvSpPr>
          <p:cNvPr id="17442" name="TextBox 17441"/>
          <p:cNvSpPr txBox="1"/>
          <p:nvPr/>
        </p:nvSpPr>
        <p:spPr>
          <a:xfrm>
            <a:off x="6858000" y="2487168"/>
            <a:ext cx="4846320" cy="274320"/>
          </a:xfrm>
          <a:prstGeom prst="rect">
            <a:avLst/>
          </a:prstGeom>
          <a:noFill/>
        </p:spPr>
        <p:txBody>
          <a:bodyPr wrap="square" lIns="45720" rIns="45720" tIns="18288" bIns="18288">
            <a:spAutoFit/>
          </a:bodyPr>
          <a:lstStyle/>
          <a:p>
            <a:pPr>
              <a:spcAft>
                <a:spcPts val="300"/>
              </a:spcAft>
            </a:pPr>
            <a:r>
              <a:rPr sz="1150" b="1">
                <a:solidFill>
                  <a:srgbClr val="2F5597"/>
                </a:solidFill>
                <a:latin typeface="Arial"/>
              </a:rPr>
              <a:t>Geographic holdout</a:t>
            </a:r>
          </a:p>
        </p:txBody>
      </p:sp>
      <p:sp>
        <p:nvSpPr>
          <p:cNvPr id="17443" name="TextBox 17442"/>
          <p:cNvSpPr txBox="1"/>
          <p:nvPr/>
        </p:nvSpPr>
        <p:spPr>
          <a:xfrm>
            <a:off x="6858000" y="2761488"/>
            <a:ext cx="4846320" cy="420624"/>
          </a:xfrm>
          <a:prstGeom prst="rect">
            <a:avLst/>
          </a:prstGeom>
          <a:noFill/>
        </p:spPr>
        <p:txBody>
          <a:bodyPr wrap="square" lIns="45720" rIns="45720" tIns="18288" bIns="18288">
            <a:spAutoFit/>
          </a:bodyPr>
          <a:lstStyle/>
          <a:p>
            <a:pPr>
              <a:spcAft>
                <a:spcPts val="300"/>
              </a:spcAft>
            </a:pPr>
            <a:r>
              <a:rPr sz="1050" b="0">
                <a:solidFill>
                  <a:srgbClr val="262626"/>
                </a:solidFill>
                <a:latin typeface="Arial"/>
              </a:rPr>
              <a:t>Test on areas the model has not seen, to avoid spatial leakage.</a:t>
            </a:r>
          </a:p>
        </p:txBody>
      </p:sp>
      <p:sp>
        <p:nvSpPr>
          <p:cNvPr id="17444" name="Rounded Rectangle 17443"/>
          <p:cNvSpPr/>
          <p:nvPr/>
        </p:nvSpPr>
        <p:spPr>
          <a:xfrm>
            <a:off x="6309360" y="3273552"/>
            <a:ext cx="5440680" cy="749808"/>
          </a:xfrm>
          <a:prstGeom prst="roundRect">
            <a:avLst>
              <a:gd name="adj" fmla="val 8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5" name="Oval 17444"/>
          <p:cNvSpPr/>
          <p:nvPr/>
        </p:nvSpPr>
        <p:spPr>
          <a:xfrm>
            <a:off x="6400800" y="3456432"/>
            <a:ext cx="365760" cy="365760"/>
          </a:xfrm>
          <a:prstGeom prst="ellipse">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500"/>
              </a:spcAft>
            </a:pPr>
            <a:r>
              <a:rPr sz="1200" b="1">
                <a:solidFill>
                  <a:srgbClr val="FFFFFF"/>
                </a:solidFill>
                <a:latin typeface="Arial"/>
              </a:rPr>
              <a:t>3</a:t>
            </a:r>
          </a:p>
        </p:txBody>
      </p:sp>
      <p:sp>
        <p:nvSpPr>
          <p:cNvPr id="17446" name="TextBox 17445"/>
          <p:cNvSpPr txBox="1"/>
          <p:nvPr/>
        </p:nvSpPr>
        <p:spPr>
          <a:xfrm>
            <a:off x="6858000" y="3310128"/>
            <a:ext cx="4846320" cy="274320"/>
          </a:xfrm>
          <a:prstGeom prst="rect">
            <a:avLst/>
          </a:prstGeom>
          <a:noFill/>
        </p:spPr>
        <p:txBody>
          <a:bodyPr wrap="square" lIns="45720" rIns="45720" tIns="18288" bIns="18288">
            <a:spAutoFit/>
          </a:bodyPr>
          <a:lstStyle/>
          <a:p>
            <a:pPr>
              <a:spcAft>
                <a:spcPts val="300"/>
              </a:spcAft>
            </a:pPr>
            <a:r>
              <a:rPr sz="1150" b="1">
                <a:solidFill>
                  <a:srgbClr val="2F5597"/>
                </a:solidFill>
                <a:latin typeface="Arial"/>
              </a:rPr>
              <a:t>Expert validation</a:t>
            </a:r>
          </a:p>
        </p:txBody>
      </p:sp>
      <p:sp>
        <p:nvSpPr>
          <p:cNvPr id="17447" name="TextBox 17446"/>
          <p:cNvSpPr txBox="1"/>
          <p:nvPr/>
        </p:nvSpPr>
        <p:spPr>
          <a:xfrm>
            <a:off x="6858000" y="3584448"/>
            <a:ext cx="4846320" cy="420624"/>
          </a:xfrm>
          <a:prstGeom prst="rect">
            <a:avLst/>
          </a:prstGeom>
          <a:noFill/>
        </p:spPr>
        <p:txBody>
          <a:bodyPr wrap="square" lIns="45720" rIns="45720" tIns="18288" bIns="18288">
            <a:spAutoFit/>
          </a:bodyPr>
          <a:lstStyle/>
          <a:p>
            <a:pPr>
              <a:spcAft>
                <a:spcPts val="300"/>
              </a:spcAft>
            </a:pPr>
            <a:r>
              <a:rPr sz="1050" b="0">
                <a:solidFill>
                  <a:srgbClr val="262626"/>
                </a:solidFill>
                <a:latin typeface="Arial"/>
              </a:rPr>
              <a:t>Hydrogeologists review the highest-ranked candidate sites.</a:t>
            </a:r>
          </a:p>
        </p:txBody>
      </p:sp>
      <p:sp>
        <p:nvSpPr>
          <p:cNvPr id="17448" name="Rounded Rectangle 17447"/>
          <p:cNvSpPr/>
          <p:nvPr/>
        </p:nvSpPr>
        <p:spPr>
          <a:xfrm>
            <a:off x="6309360" y="4096512"/>
            <a:ext cx="5440680" cy="749808"/>
          </a:xfrm>
          <a:prstGeom prst="roundRect">
            <a:avLst>
              <a:gd name="adj" fmla="val 8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9" name="Oval 17448"/>
          <p:cNvSpPr/>
          <p:nvPr/>
        </p:nvSpPr>
        <p:spPr>
          <a:xfrm>
            <a:off x="6400800" y="4279392"/>
            <a:ext cx="365760" cy="365760"/>
          </a:xfrm>
          <a:prstGeom prst="ellipse">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500"/>
              </a:spcAft>
            </a:pPr>
            <a:r>
              <a:rPr sz="1200" b="1">
                <a:solidFill>
                  <a:srgbClr val="FFFFFF"/>
                </a:solidFill>
                <a:latin typeface="Arial"/>
              </a:rPr>
              <a:t>4</a:t>
            </a:r>
          </a:p>
        </p:txBody>
      </p:sp>
      <p:sp>
        <p:nvSpPr>
          <p:cNvPr id="17450" name="TextBox 17449"/>
          <p:cNvSpPr txBox="1"/>
          <p:nvPr/>
        </p:nvSpPr>
        <p:spPr>
          <a:xfrm>
            <a:off x="6858000" y="4133088"/>
            <a:ext cx="4846320" cy="274320"/>
          </a:xfrm>
          <a:prstGeom prst="rect">
            <a:avLst/>
          </a:prstGeom>
          <a:noFill/>
        </p:spPr>
        <p:txBody>
          <a:bodyPr wrap="square" lIns="45720" rIns="45720" tIns="18288" bIns="18288">
            <a:spAutoFit/>
          </a:bodyPr>
          <a:lstStyle/>
          <a:p>
            <a:pPr>
              <a:spcAft>
                <a:spcPts val="300"/>
              </a:spcAft>
            </a:pPr>
            <a:r>
              <a:rPr sz="1150" b="1">
                <a:solidFill>
                  <a:srgbClr val="2F5597"/>
                </a:solidFill>
                <a:latin typeface="Arial"/>
              </a:rPr>
              <a:t>Field validation</a:t>
            </a:r>
          </a:p>
        </p:txBody>
      </p:sp>
      <p:sp>
        <p:nvSpPr>
          <p:cNvPr id="17451" name="TextBox 17450"/>
          <p:cNvSpPr txBox="1"/>
          <p:nvPr/>
        </p:nvSpPr>
        <p:spPr>
          <a:xfrm>
            <a:off x="6858000" y="4407408"/>
            <a:ext cx="4846320" cy="420624"/>
          </a:xfrm>
          <a:prstGeom prst="rect">
            <a:avLst/>
          </a:prstGeom>
          <a:noFill/>
        </p:spPr>
        <p:txBody>
          <a:bodyPr wrap="square" lIns="45720" rIns="45720" tIns="18288" bIns="18288">
            <a:spAutoFit/>
          </a:bodyPr>
          <a:lstStyle/>
          <a:p>
            <a:pPr>
              <a:spcAft>
                <a:spcPts val="300"/>
              </a:spcAft>
            </a:pPr>
            <a:r>
              <a:rPr sz="1050" b="0">
                <a:solidFill>
                  <a:srgbClr val="262626"/>
                </a:solidFill>
                <a:latin typeface="Arial"/>
              </a:rPr>
              <a:t>Measure discharge and observations across wet and dry seasons.</a:t>
            </a:r>
          </a:p>
        </p:txBody>
      </p:sp>
      <p:sp>
        <p:nvSpPr>
          <p:cNvPr id="17452" name="TextBox 17451"/>
          <p:cNvSpPr txBox="1"/>
          <p:nvPr/>
        </p:nvSpPr>
        <p:spPr>
          <a:xfrm>
            <a:off x="6309360" y="4937760"/>
            <a:ext cx="5394960" cy="256032"/>
          </a:xfrm>
          <a:prstGeom prst="rect">
            <a:avLst/>
          </a:prstGeom>
          <a:noFill/>
        </p:spPr>
        <p:txBody>
          <a:bodyPr wrap="square" lIns="45720" rIns="45720" tIns="18288" bIns="18288">
            <a:spAutoFit/>
          </a:bodyPr>
          <a:lstStyle/>
          <a:p>
            <a:pPr>
              <a:spcAft>
                <a:spcPts val="300"/>
              </a:spcAft>
            </a:pPr>
            <a:r>
              <a:rPr sz="1150" b="1">
                <a:solidFill>
                  <a:srgbClr val="2F5597"/>
                </a:solidFill>
                <a:latin typeface="Arial"/>
              </a:rPr>
              <a:t>Proposed metrics</a:t>
            </a:r>
          </a:p>
        </p:txBody>
      </p:sp>
      <p:sp>
        <p:nvSpPr>
          <p:cNvPr id="17453" name="Rounded Rectangle 17452"/>
          <p:cNvSpPr/>
          <p:nvPr/>
        </p:nvSpPr>
        <p:spPr>
          <a:xfrm>
            <a:off x="6309360" y="5212080"/>
            <a:ext cx="1307592" cy="365760"/>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1">
                <a:solidFill>
                  <a:srgbClr val="262626"/>
                </a:solidFill>
                <a:latin typeface="Arial"/>
              </a:rPr>
              <a:t>Precision@K</a:t>
            </a:r>
          </a:p>
        </p:txBody>
      </p:sp>
      <p:sp>
        <p:nvSpPr>
          <p:cNvPr id="17454" name="Rounded Rectangle 17453"/>
          <p:cNvSpPr/>
          <p:nvPr/>
        </p:nvSpPr>
        <p:spPr>
          <a:xfrm>
            <a:off x="7680960" y="5212080"/>
            <a:ext cx="1307592" cy="365760"/>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1">
                <a:solidFill>
                  <a:srgbClr val="262626"/>
                </a:solidFill>
                <a:latin typeface="Arial"/>
              </a:rPr>
              <a:t>Recall</a:t>
            </a:r>
          </a:p>
        </p:txBody>
      </p:sp>
      <p:sp>
        <p:nvSpPr>
          <p:cNvPr id="17455" name="Rounded Rectangle 17454"/>
          <p:cNvSpPr/>
          <p:nvPr/>
        </p:nvSpPr>
        <p:spPr>
          <a:xfrm>
            <a:off x="9052560" y="5212080"/>
            <a:ext cx="1307592" cy="365760"/>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1">
                <a:solidFill>
                  <a:srgbClr val="262626"/>
                </a:solidFill>
                <a:latin typeface="Arial"/>
              </a:rPr>
              <a:t>Ranking quality</a:t>
            </a:r>
          </a:p>
        </p:txBody>
      </p:sp>
      <p:sp>
        <p:nvSpPr>
          <p:cNvPr id="17456" name="Rounded Rectangle 17455"/>
          <p:cNvSpPr/>
          <p:nvPr/>
        </p:nvSpPr>
        <p:spPr>
          <a:xfrm>
            <a:off x="10424160" y="5212080"/>
            <a:ext cx="1307592" cy="365760"/>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00" b="1">
                <a:solidFill>
                  <a:srgbClr val="262626"/>
                </a:solidFill>
                <a:latin typeface="Arial"/>
              </a:rPr>
              <a:t>Confidence calibration</a:t>
            </a:r>
          </a:p>
        </p:txBody>
      </p:sp>
      <p:sp>
        <p:nvSpPr>
          <p:cNvPr id="17457" name="Rounded Rectangle 17456"/>
          <p:cNvSpPr/>
          <p:nvPr/>
        </p:nvSpPr>
        <p:spPr>
          <a:xfrm>
            <a:off x="6309360" y="5669280"/>
            <a:ext cx="5440680" cy="457200"/>
          </a:xfrm>
          <a:prstGeom prst="roundRect">
            <a:avLst>
              <a:gd name="adj" fmla="val 15000"/>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300"/>
              </a:spcAft>
            </a:pPr>
            <a:r>
              <a:rPr sz="1050" b="1">
                <a:solidFill>
                  <a:srgbClr val="FFFFFF"/>
                </a:solidFill>
                <a:latin typeface="Arial"/>
              </a:rPr>
              <a:t>AI does not replace the hydrogeologist; it reduces the area they need to inspect.</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600200" y="109728"/>
            <a:ext cx="8046720" cy="914400"/>
          </a:xfrm>
        </p:spPr>
        <p:txBody>
          <a:bodyPr anchor="ctr"/>
          <a:lstStyle/>
          <a:p>
            <a:pPr eaLnBrk="1" hangingPunct="1"/>
            <a:r>
              <a:rPr lang="en-US" sz="2200" b="1" dirty="0">
                <a:latin typeface="Times New Roman" panose="02020603050405020304" pitchFamily="18" charset="0"/>
                <a:ea typeface="ＭＳ Ｐゴシック" pitchFamily="1" charset="-128"/>
                <a:cs typeface="Times New Roman" panose="02020603050405020304" pitchFamily="18" charset="0"/>
              </a:rPr>
              <a:t>From Pilot Springshed to Scalable Field Deployment</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none" lIns="0" rIns="0"/>
          <a:lstStyle/>
          <a:p>
            <a:pPr algn="ctr"/>
            <a:r>
              <a:rPr lang="en-US" dirty="0" sz="1400"/>
              <a:t>TechDevs_6</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170432"/>
            <a:ext cx="2606040" cy="685800"/>
          </a:xfrm>
          <a:prstGeom prst="roundRect">
            <a:avLst>
              <a:gd name="adj" fmla="val 15000"/>
            </a:avLst>
          </a:prstGeom>
          <a:solidFill>
            <a:srgbClr val="E2F0D9"/>
          </a:solidFill>
          <a:ln w="12700">
            <a:solidFill>
              <a:srgbClr val="549E3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262626"/>
                </a:solidFill>
                <a:latin typeface="Arial"/>
              </a:rPr>
              <a:t>PILOT</a:t>
            </a:r>
          </a:p>
          <a:p>
            <a:pPr algn="ctr">
              <a:spcAft>
                <a:spcPts val="0"/>
              </a:spcAft>
            </a:pPr>
            <a:r>
              <a:rPr sz="1100" b="0">
                <a:solidFill>
                  <a:srgbClr val="262626"/>
                </a:solidFill>
                <a:latin typeface="Arial"/>
              </a:rPr>
              <a:t>1 block, 20-30 springs</a:t>
            </a:r>
          </a:p>
        </p:txBody>
      </p:sp>
      <p:sp>
        <p:nvSpPr>
          <p:cNvPr id="17411" name="Rounded Rectangle 17410"/>
          <p:cNvSpPr/>
          <p:nvPr/>
        </p:nvSpPr>
        <p:spPr>
          <a:xfrm>
            <a:off x="3307080" y="1170432"/>
            <a:ext cx="2606040" cy="685800"/>
          </a:xfrm>
          <a:prstGeom prst="roundRect">
            <a:avLst>
              <a:gd name="adj" fmla="val 15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262626"/>
                </a:solidFill>
                <a:latin typeface="Arial"/>
              </a:rPr>
              <a:t>DISTRICT</a:t>
            </a:r>
          </a:p>
          <a:p>
            <a:pPr algn="ctr">
              <a:spcAft>
                <a:spcPts val="0"/>
              </a:spcAft>
            </a:pPr>
            <a:r>
              <a:rPr sz="1100" b="0">
                <a:solidFill>
                  <a:srgbClr val="262626"/>
                </a:solidFill>
                <a:latin typeface="Arial"/>
              </a:rPr>
              <a:t>Multiple blocks</a:t>
            </a:r>
          </a:p>
        </p:txBody>
      </p:sp>
      <p:cxnSp>
        <p:nvCxnSpPr>
          <p:cNvPr id="17412" name="Connector 17411"/>
          <p:cNvCxnSpPr/>
          <p:nvPr/>
        </p:nvCxnSpPr>
        <p:spPr>
          <a:xfrm>
            <a:off x="2926080" y="1545336"/>
            <a:ext cx="38100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7413" name="Rounded Rectangle 17412"/>
          <p:cNvSpPr/>
          <p:nvPr/>
        </p:nvSpPr>
        <p:spPr>
          <a:xfrm>
            <a:off x="6294120" y="1170432"/>
            <a:ext cx="2606040" cy="685800"/>
          </a:xfrm>
          <a:prstGeom prst="roundRect">
            <a:avLst>
              <a:gd name="adj" fmla="val 15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262626"/>
                </a:solidFill>
                <a:latin typeface="Arial"/>
              </a:rPr>
              <a:t>MULTI-DISTRICT</a:t>
            </a:r>
          </a:p>
          <a:p>
            <a:pPr algn="ctr">
              <a:spcAft>
                <a:spcPts val="0"/>
              </a:spcAft>
            </a:pPr>
            <a:r>
              <a:rPr sz="1100" b="0">
                <a:solidFill>
                  <a:srgbClr val="262626"/>
                </a:solidFill>
                <a:latin typeface="Arial"/>
              </a:rPr>
              <a:t>Shared model, local data</a:t>
            </a:r>
          </a:p>
        </p:txBody>
      </p:sp>
      <p:cxnSp>
        <p:nvCxnSpPr>
          <p:cNvPr id="17414" name="Connector 17413"/>
          <p:cNvCxnSpPr/>
          <p:nvPr/>
        </p:nvCxnSpPr>
        <p:spPr>
          <a:xfrm>
            <a:off x="5913119" y="1545336"/>
            <a:ext cx="381001"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7415" name="Rounded Rectangle 17414"/>
          <p:cNvSpPr/>
          <p:nvPr/>
        </p:nvSpPr>
        <p:spPr>
          <a:xfrm>
            <a:off x="9281160" y="1170432"/>
            <a:ext cx="2606040" cy="685800"/>
          </a:xfrm>
          <a:prstGeom prst="roundRect">
            <a:avLst>
              <a:gd name="adj" fmla="val 15000"/>
            </a:avLst>
          </a:prstGeom>
          <a:solidFill>
            <a:srgbClr val="DDEBF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100" b="1">
                <a:solidFill>
                  <a:srgbClr val="262626"/>
                </a:solidFill>
                <a:latin typeface="Arial"/>
              </a:rPr>
              <a:t>STATE LEVEL</a:t>
            </a:r>
          </a:p>
          <a:p>
            <a:pPr algn="ctr">
              <a:spcAft>
                <a:spcPts val="0"/>
              </a:spcAft>
            </a:pPr>
            <a:r>
              <a:rPr sz="1100" b="0">
                <a:solidFill>
                  <a:srgbClr val="262626"/>
                </a:solidFill>
                <a:latin typeface="Arial"/>
              </a:rPr>
              <a:t>Springshed intelligence</a:t>
            </a:r>
          </a:p>
        </p:txBody>
      </p:sp>
      <p:cxnSp>
        <p:nvCxnSpPr>
          <p:cNvPr id="17416" name="Connector 17415"/>
          <p:cNvCxnSpPr/>
          <p:nvPr/>
        </p:nvCxnSpPr>
        <p:spPr>
          <a:xfrm>
            <a:off x="8900160" y="1545336"/>
            <a:ext cx="38100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7417" name="TextBox 17416"/>
          <p:cNvSpPr txBox="1"/>
          <p:nvPr/>
        </p:nvSpPr>
        <p:spPr>
          <a:xfrm>
            <a:off x="320040" y="1947672"/>
            <a:ext cx="5486400" cy="228600"/>
          </a:xfrm>
          <a:prstGeom prst="rect">
            <a:avLst/>
          </a:prstGeom>
          <a:noFill/>
        </p:spPr>
        <p:txBody>
          <a:bodyPr wrap="square" lIns="45720" rIns="45720" tIns="18288" bIns="18288">
            <a:spAutoFit/>
          </a:bodyPr>
          <a:lstStyle/>
          <a:p>
            <a:pPr>
              <a:spcAft>
                <a:spcPts val="300"/>
              </a:spcAft>
            </a:pPr>
            <a:r>
              <a:rPr sz="1050" b="1">
                <a:solidFill>
                  <a:srgbClr val="2F5597"/>
                </a:solidFill>
                <a:latin typeface="Arial"/>
              </a:rPr>
              <a:t>Field loop</a:t>
            </a:r>
            <a:r>
              <a:rPr sz="1050" b="0">
                <a:solidFill>
                  <a:srgbClr val="2F5597"/>
                </a:solidFill>
                <a:latin typeface="Arial"/>
              </a:rPr>
              <a:t>  (conceptual workflow)</a:t>
            </a:r>
          </a:p>
        </p:txBody>
      </p:sp>
      <p:sp>
        <p:nvSpPr>
          <p:cNvPr id="17418" name="Rounded Rectangle 17417"/>
          <p:cNvSpPr/>
          <p:nvPr/>
        </p:nvSpPr>
        <p:spPr>
          <a:xfrm>
            <a:off x="320040" y="2194560"/>
            <a:ext cx="2103120" cy="640080"/>
          </a:xfrm>
          <a:prstGeom prst="roundRect">
            <a:avLst>
              <a:gd name="adj" fmla="val 15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50" b="1">
                <a:solidFill>
                  <a:srgbClr val="262626"/>
                </a:solidFill>
                <a:latin typeface="Arial"/>
              </a:rPr>
              <a:t>Offline field app</a:t>
            </a:r>
          </a:p>
        </p:txBody>
      </p:sp>
      <p:sp>
        <p:nvSpPr>
          <p:cNvPr id="17419" name="Rounded Rectangle 17418"/>
          <p:cNvSpPr/>
          <p:nvPr/>
        </p:nvSpPr>
        <p:spPr>
          <a:xfrm>
            <a:off x="2686050" y="2194560"/>
            <a:ext cx="2103120" cy="640080"/>
          </a:xfrm>
          <a:prstGeom prst="roundRect">
            <a:avLst>
              <a:gd name="adj" fmla="val 15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50" b="1">
                <a:solidFill>
                  <a:srgbClr val="262626"/>
                </a:solidFill>
                <a:latin typeface="Arial"/>
              </a:rPr>
              <a:t>Capture strike, dip,</a:t>
            </a:r>
          </a:p>
          <a:p>
            <a:pPr algn="ctr">
              <a:spcAft>
                <a:spcPts val="0"/>
              </a:spcAft>
            </a:pPr>
            <a:r>
              <a:rPr sz="1050" b="0">
                <a:solidFill>
                  <a:srgbClr val="262626"/>
                </a:solidFill>
                <a:latin typeface="Arial"/>
              </a:rPr>
              <a:t>discharge, notes</a:t>
            </a:r>
          </a:p>
        </p:txBody>
      </p:sp>
      <p:cxnSp>
        <p:nvCxnSpPr>
          <p:cNvPr id="17420" name="Connector 17419"/>
          <p:cNvCxnSpPr/>
          <p:nvPr/>
        </p:nvCxnSpPr>
        <p:spPr>
          <a:xfrm>
            <a:off x="2423160" y="2514600"/>
            <a:ext cx="26289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7421" name="Rounded Rectangle 17420"/>
          <p:cNvSpPr/>
          <p:nvPr/>
        </p:nvSpPr>
        <p:spPr>
          <a:xfrm>
            <a:off x="5052059" y="2194560"/>
            <a:ext cx="2103120" cy="640080"/>
          </a:xfrm>
          <a:prstGeom prst="roundRect">
            <a:avLst>
              <a:gd name="adj" fmla="val 15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50" b="1">
                <a:solidFill>
                  <a:srgbClr val="262626"/>
                </a:solidFill>
                <a:latin typeface="Arial"/>
              </a:rPr>
              <a:t>Sync when</a:t>
            </a:r>
          </a:p>
          <a:p>
            <a:pPr algn="ctr">
              <a:spcAft>
                <a:spcPts val="0"/>
              </a:spcAft>
            </a:pPr>
            <a:r>
              <a:rPr sz="1050" b="0">
                <a:solidFill>
                  <a:srgbClr val="262626"/>
                </a:solidFill>
                <a:latin typeface="Arial"/>
              </a:rPr>
              <a:t>connectivity returns</a:t>
            </a:r>
          </a:p>
        </p:txBody>
      </p:sp>
      <p:cxnSp>
        <p:nvCxnSpPr>
          <p:cNvPr id="17422" name="Connector 17421"/>
          <p:cNvCxnSpPr/>
          <p:nvPr/>
        </p:nvCxnSpPr>
        <p:spPr>
          <a:xfrm>
            <a:off x="4789169" y="2514600"/>
            <a:ext cx="26289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7423" name="Rounded Rectangle 17422"/>
          <p:cNvSpPr/>
          <p:nvPr/>
        </p:nvSpPr>
        <p:spPr>
          <a:xfrm>
            <a:off x="7418069" y="2194560"/>
            <a:ext cx="2103120" cy="640080"/>
          </a:xfrm>
          <a:prstGeom prst="roundRect">
            <a:avLst>
              <a:gd name="adj" fmla="val 15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50" b="1">
                <a:solidFill>
                  <a:srgbClr val="262626"/>
                </a:solidFill>
                <a:latin typeface="Arial"/>
              </a:rPr>
              <a:t>Model update</a:t>
            </a:r>
          </a:p>
        </p:txBody>
      </p:sp>
      <p:cxnSp>
        <p:nvCxnSpPr>
          <p:cNvPr id="17424" name="Connector 17423"/>
          <p:cNvCxnSpPr/>
          <p:nvPr/>
        </p:nvCxnSpPr>
        <p:spPr>
          <a:xfrm>
            <a:off x="7155179" y="2514600"/>
            <a:ext cx="26289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7425" name="Rounded Rectangle 17424"/>
          <p:cNvSpPr/>
          <p:nvPr/>
        </p:nvSpPr>
        <p:spPr>
          <a:xfrm>
            <a:off x="9784080" y="2194560"/>
            <a:ext cx="2103120" cy="640080"/>
          </a:xfrm>
          <a:prstGeom prst="roundRect">
            <a:avLst>
              <a:gd name="adj" fmla="val 15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050" b="1">
                <a:solidFill>
                  <a:srgbClr val="262626"/>
                </a:solidFill>
                <a:latin typeface="Arial"/>
              </a:rPr>
              <a:t>Updated priority map</a:t>
            </a:r>
          </a:p>
        </p:txBody>
      </p:sp>
      <p:cxnSp>
        <p:nvCxnSpPr>
          <p:cNvPr id="17426" name="Connector 17425"/>
          <p:cNvCxnSpPr/>
          <p:nvPr/>
        </p:nvCxnSpPr>
        <p:spPr>
          <a:xfrm>
            <a:off x="9521190" y="2514600"/>
            <a:ext cx="26289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7427" name="Rounded Rectangle 17426"/>
          <p:cNvSpPr/>
          <p:nvPr/>
        </p:nvSpPr>
        <p:spPr>
          <a:xfrm>
            <a:off x="320040" y="2971800"/>
            <a:ext cx="2606040" cy="914400"/>
          </a:xfrm>
          <a:prstGeom prst="roundRect">
            <a:avLst>
              <a:gd name="adj" fmla="val 8000"/>
            </a:avLst>
          </a:prstGeom>
          <a:solidFill>
            <a:srgbClr val="FFFFFF"/>
          </a:solidFill>
          <a:ln w="1524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TextBox 17427"/>
          <p:cNvSpPr txBox="1"/>
          <p:nvPr/>
        </p:nvSpPr>
        <p:spPr>
          <a:xfrm>
            <a:off x="393192" y="2999232"/>
            <a:ext cx="2459736" cy="274320"/>
          </a:xfrm>
          <a:prstGeom prst="rect">
            <a:avLst/>
          </a:prstGeom>
          <a:noFill/>
        </p:spPr>
        <p:txBody>
          <a:bodyPr wrap="square" lIns="45720" rIns="45720" tIns="18288" bIns="18288">
            <a:spAutoFit/>
          </a:bodyPr>
          <a:lstStyle/>
          <a:p>
            <a:pPr>
              <a:spcAft>
                <a:spcPts val="300"/>
              </a:spcAft>
            </a:pPr>
            <a:r>
              <a:rPr sz="1100" b="1">
                <a:solidFill>
                  <a:srgbClr val="2F5597"/>
                </a:solidFill>
                <a:latin typeface="Arial"/>
              </a:rPr>
              <a:t>FIELD OFFICER</a:t>
            </a:r>
          </a:p>
        </p:txBody>
      </p:sp>
      <p:sp>
        <p:nvSpPr>
          <p:cNvPr id="17429" name="TextBox 17428"/>
          <p:cNvSpPr txBox="1"/>
          <p:nvPr/>
        </p:nvSpPr>
        <p:spPr>
          <a:xfrm>
            <a:off x="393192" y="3291840"/>
            <a:ext cx="2459736" cy="566928"/>
          </a:xfrm>
          <a:prstGeom prst="rect">
            <a:avLst/>
          </a:prstGeom>
          <a:noFill/>
        </p:spPr>
        <p:txBody>
          <a:bodyPr wrap="square" lIns="45720" rIns="45720" tIns="18288" bIns="18288">
            <a:spAutoFit/>
          </a:bodyPr>
          <a:lstStyle/>
          <a:p>
            <a:pPr>
              <a:spcAft>
                <a:spcPts val="300"/>
              </a:spcAft>
            </a:pPr>
            <a:r>
              <a:rPr sz="1100" b="0">
                <a:solidFill>
                  <a:srgbClr val="262626"/>
                </a:solidFill>
                <a:latin typeface="Arial"/>
              </a:rPr>
              <a:t>knows which sites to visit first</a:t>
            </a:r>
          </a:p>
        </p:txBody>
      </p:sp>
      <p:sp>
        <p:nvSpPr>
          <p:cNvPr id="17430" name="Rounded Rectangle 17429"/>
          <p:cNvSpPr/>
          <p:nvPr/>
        </p:nvSpPr>
        <p:spPr>
          <a:xfrm>
            <a:off x="3307080" y="2971800"/>
            <a:ext cx="2606040" cy="914400"/>
          </a:xfrm>
          <a:prstGeom prst="roundRect">
            <a:avLst>
              <a:gd name="adj" fmla="val 8000"/>
            </a:avLst>
          </a:prstGeom>
          <a:solidFill>
            <a:srgbClr val="FFFFFF"/>
          </a:solidFill>
          <a:ln w="1524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TextBox 17430"/>
          <p:cNvSpPr txBox="1"/>
          <p:nvPr/>
        </p:nvSpPr>
        <p:spPr>
          <a:xfrm>
            <a:off x="3380232" y="2999232"/>
            <a:ext cx="2459736" cy="274320"/>
          </a:xfrm>
          <a:prstGeom prst="rect">
            <a:avLst/>
          </a:prstGeom>
          <a:noFill/>
        </p:spPr>
        <p:txBody>
          <a:bodyPr wrap="square" lIns="45720" rIns="45720" tIns="18288" bIns="18288">
            <a:spAutoFit/>
          </a:bodyPr>
          <a:lstStyle/>
          <a:p>
            <a:pPr>
              <a:spcAft>
                <a:spcPts val="300"/>
              </a:spcAft>
            </a:pPr>
            <a:r>
              <a:rPr sz="1100" b="1">
                <a:solidFill>
                  <a:srgbClr val="2F5597"/>
                </a:solidFill>
                <a:latin typeface="Arial"/>
              </a:rPr>
              <a:t>HYDROGEOLOGIST</a:t>
            </a:r>
          </a:p>
        </p:txBody>
      </p:sp>
      <p:sp>
        <p:nvSpPr>
          <p:cNvPr id="17432" name="TextBox 17431"/>
          <p:cNvSpPr txBox="1"/>
          <p:nvPr/>
        </p:nvSpPr>
        <p:spPr>
          <a:xfrm>
            <a:off x="3380232" y="3291840"/>
            <a:ext cx="2459736" cy="566928"/>
          </a:xfrm>
          <a:prstGeom prst="rect">
            <a:avLst/>
          </a:prstGeom>
          <a:noFill/>
        </p:spPr>
        <p:txBody>
          <a:bodyPr wrap="square" lIns="45720" rIns="45720" tIns="18288" bIns="18288">
            <a:spAutoFit/>
          </a:bodyPr>
          <a:lstStyle/>
          <a:p>
            <a:pPr>
              <a:spcAft>
                <a:spcPts val="300"/>
              </a:spcAft>
            </a:pPr>
            <a:r>
              <a:rPr sz="1100" b="0">
                <a:solidFill>
                  <a:srgbClr val="262626"/>
                </a:solidFill>
                <a:latin typeface="Arial"/>
              </a:rPr>
              <a:t>verifies a shortlist instead of scanning everything</a:t>
            </a:r>
          </a:p>
        </p:txBody>
      </p:sp>
      <p:sp>
        <p:nvSpPr>
          <p:cNvPr id="17433" name="Rounded Rectangle 17432"/>
          <p:cNvSpPr/>
          <p:nvPr/>
        </p:nvSpPr>
        <p:spPr>
          <a:xfrm>
            <a:off x="6294120" y="2971800"/>
            <a:ext cx="2606040" cy="914400"/>
          </a:xfrm>
          <a:prstGeom prst="roundRect">
            <a:avLst>
              <a:gd name="adj" fmla="val 8000"/>
            </a:avLst>
          </a:prstGeom>
          <a:solidFill>
            <a:srgbClr val="FFFFFF"/>
          </a:solidFill>
          <a:ln w="1524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4" name="TextBox 17433"/>
          <p:cNvSpPr txBox="1"/>
          <p:nvPr/>
        </p:nvSpPr>
        <p:spPr>
          <a:xfrm>
            <a:off x="6367272" y="2999232"/>
            <a:ext cx="2459736" cy="274320"/>
          </a:xfrm>
          <a:prstGeom prst="rect">
            <a:avLst/>
          </a:prstGeom>
          <a:noFill/>
        </p:spPr>
        <p:txBody>
          <a:bodyPr wrap="square" lIns="45720" rIns="45720" tIns="18288" bIns="18288">
            <a:spAutoFit/>
          </a:bodyPr>
          <a:lstStyle/>
          <a:p>
            <a:pPr>
              <a:spcAft>
                <a:spcPts val="300"/>
              </a:spcAft>
            </a:pPr>
            <a:r>
              <a:rPr sz="1100" b="1">
                <a:solidFill>
                  <a:srgbClr val="2F5597"/>
                </a:solidFill>
                <a:latin typeface="Arial"/>
              </a:rPr>
              <a:t>DISTRICT / DEPARTMENT</a:t>
            </a:r>
          </a:p>
        </p:txBody>
      </p:sp>
      <p:sp>
        <p:nvSpPr>
          <p:cNvPr id="17435" name="TextBox 17434"/>
          <p:cNvSpPr txBox="1"/>
          <p:nvPr/>
        </p:nvSpPr>
        <p:spPr>
          <a:xfrm>
            <a:off x="6367272" y="3291840"/>
            <a:ext cx="2459736" cy="566928"/>
          </a:xfrm>
          <a:prstGeom prst="rect">
            <a:avLst/>
          </a:prstGeom>
          <a:noFill/>
        </p:spPr>
        <p:txBody>
          <a:bodyPr wrap="square" lIns="45720" rIns="45720" tIns="18288" bIns="18288">
            <a:spAutoFit/>
          </a:bodyPr>
          <a:lstStyle/>
          <a:p>
            <a:pPr>
              <a:spcAft>
                <a:spcPts val="300"/>
              </a:spcAft>
            </a:pPr>
            <a:r>
              <a:rPr sz="1100" b="0">
                <a:solidFill>
                  <a:srgbClr val="262626"/>
                </a:solidFill>
                <a:latin typeface="Arial"/>
              </a:rPr>
              <a:t>evidence-backed intervention and funding decisions</a:t>
            </a:r>
          </a:p>
        </p:txBody>
      </p:sp>
      <p:sp>
        <p:nvSpPr>
          <p:cNvPr id="17436" name="Rounded Rectangle 17435"/>
          <p:cNvSpPr/>
          <p:nvPr/>
        </p:nvSpPr>
        <p:spPr>
          <a:xfrm>
            <a:off x="9281160" y="2971800"/>
            <a:ext cx="2606040" cy="914400"/>
          </a:xfrm>
          <a:prstGeom prst="roundRect">
            <a:avLst>
              <a:gd name="adj" fmla="val 8000"/>
            </a:avLst>
          </a:prstGeom>
          <a:solidFill>
            <a:srgbClr val="FFFFFF"/>
          </a:solidFill>
          <a:ln w="1524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7" name="TextBox 17436"/>
          <p:cNvSpPr txBox="1"/>
          <p:nvPr/>
        </p:nvSpPr>
        <p:spPr>
          <a:xfrm>
            <a:off x="9354312" y="2999232"/>
            <a:ext cx="2459736" cy="274320"/>
          </a:xfrm>
          <a:prstGeom prst="rect">
            <a:avLst/>
          </a:prstGeom>
          <a:noFill/>
        </p:spPr>
        <p:txBody>
          <a:bodyPr wrap="square" lIns="45720" rIns="45720" tIns="18288" bIns="18288">
            <a:spAutoFit/>
          </a:bodyPr>
          <a:lstStyle/>
          <a:p>
            <a:pPr>
              <a:spcAft>
                <a:spcPts val="300"/>
              </a:spcAft>
            </a:pPr>
            <a:r>
              <a:rPr sz="1100" b="1">
                <a:solidFill>
                  <a:srgbClr val="2F5597"/>
                </a:solidFill>
                <a:latin typeface="Arial"/>
              </a:rPr>
              <a:t>TRIBAL COMMUNITY</a:t>
            </a:r>
          </a:p>
        </p:txBody>
      </p:sp>
      <p:sp>
        <p:nvSpPr>
          <p:cNvPr id="17438" name="TextBox 17437"/>
          <p:cNvSpPr txBox="1"/>
          <p:nvPr/>
        </p:nvSpPr>
        <p:spPr>
          <a:xfrm>
            <a:off x="9354312" y="3291840"/>
            <a:ext cx="2459736" cy="566928"/>
          </a:xfrm>
          <a:prstGeom prst="rect">
            <a:avLst/>
          </a:prstGeom>
          <a:noFill/>
        </p:spPr>
        <p:txBody>
          <a:bodyPr wrap="square" lIns="45720" rIns="45720" tIns="18288" bIns="18288">
            <a:spAutoFit/>
          </a:bodyPr>
          <a:lstStyle/>
          <a:p>
            <a:pPr>
              <a:spcAft>
                <a:spcPts val="300"/>
              </a:spcAft>
            </a:pPr>
            <a:r>
              <a:rPr sz="1100" b="0">
                <a:solidFill>
                  <a:srgbClr val="262626"/>
                </a:solidFill>
                <a:latin typeface="Arial"/>
              </a:rPr>
              <a:t>improved potential for dependable dry-season water</a:t>
            </a:r>
          </a:p>
        </p:txBody>
      </p:sp>
      <p:sp>
        <p:nvSpPr>
          <p:cNvPr id="17439" name="Rounded Rectangle 17438"/>
          <p:cNvSpPr/>
          <p:nvPr/>
        </p:nvSpPr>
        <p:spPr>
          <a:xfrm>
            <a:off x="320040" y="4023360"/>
            <a:ext cx="2606040" cy="502920"/>
          </a:xfrm>
          <a:prstGeom prst="roundRect">
            <a:avLst>
              <a:gd name="adj" fmla="val 15000"/>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200" b="1">
                <a:solidFill>
                  <a:srgbClr val="FFFFFF"/>
                </a:solidFill>
                <a:latin typeface="Arial"/>
              </a:rPr>
              <a:t>Indicative prediction</a:t>
            </a:r>
          </a:p>
        </p:txBody>
      </p:sp>
      <p:sp>
        <p:nvSpPr>
          <p:cNvPr id="17440" name="Rounded Rectangle 17439"/>
          <p:cNvSpPr/>
          <p:nvPr/>
        </p:nvSpPr>
        <p:spPr>
          <a:xfrm>
            <a:off x="3307080" y="4023360"/>
            <a:ext cx="2606040" cy="502920"/>
          </a:xfrm>
          <a:prstGeom prst="roundRect">
            <a:avLst>
              <a:gd name="adj" fmla="val 15000"/>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200" b="1">
                <a:solidFill>
                  <a:srgbClr val="FFFFFF"/>
                </a:solidFill>
                <a:latin typeface="Arial"/>
              </a:rPr>
              <a:t>Expert verification</a:t>
            </a:r>
          </a:p>
        </p:txBody>
      </p:sp>
      <p:cxnSp>
        <p:nvCxnSpPr>
          <p:cNvPr id="17441" name="Connector 17440"/>
          <p:cNvCxnSpPr/>
          <p:nvPr/>
        </p:nvCxnSpPr>
        <p:spPr>
          <a:xfrm>
            <a:off x="2926080" y="4274820"/>
            <a:ext cx="38100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7442" name="Rounded Rectangle 17441"/>
          <p:cNvSpPr/>
          <p:nvPr/>
        </p:nvSpPr>
        <p:spPr>
          <a:xfrm>
            <a:off x="6294120" y="4023360"/>
            <a:ext cx="2606040" cy="502920"/>
          </a:xfrm>
          <a:prstGeom prst="roundRect">
            <a:avLst>
              <a:gd name="adj" fmla="val 15000"/>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200" b="1">
                <a:solidFill>
                  <a:srgbClr val="FFFFFF"/>
                </a:solidFill>
                <a:latin typeface="Arial"/>
              </a:rPr>
              <a:t>Safe intervention</a:t>
            </a:r>
          </a:p>
        </p:txBody>
      </p:sp>
      <p:cxnSp>
        <p:nvCxnSpPr>
          <p:cNvPr id="17443" name="Connector 17442"/>
          <p:cNvCxnSpPr/>
          <p:nvPr/>
        </p:nvCxnSpPr>
        <p:spPr>
          <a:xfrm>
            <a:off x="5913119" y="4274820"/>
            <a:ext cx="381001"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7444" name="Rounded Rectangle 17443"/>
          <p:cNvSpPr/>
          <p:nvPr/>
        </p:nvSpPr>
        <p:spPr>
          <a:xfrm>
            <a:off x="9281160" y="4023360"/>
            <a:ext cx="2606040" cy="502920"/>
          </a:xfrm>
          <a:prstGeom prst="roundRect">
            <a:avLst>
              <a:gd name="adj" fmla="val 15000"/>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spcAft>
                <a:spcPts val="0"/>
              </a:spcAft>
            </a:pPr>
            <a:r>
              <a:rPr sz="1200" b="1">
                <a:solidFill>
                  <a:srgbClr val="FFFFFF"/>
                </a:solidFill>
                <a:latin typeface="Arial"/>
              </a:rPr>
              <a:t>Measured outcome</a:t>
            </a:r>
          </a:p>
        </p:txBody>
      </p:sp>
      <p:cxnSp>
        <p:nvCxnSpPr>
          <p:cNvPr id="17445" name="Connector 17444"/>
          <p:cNvCxnSpPr/>
          <p:nvPr/>
        </p:nvCxnSpPr>
        <p:spPr>
          <a:xfrm>
            <a:off x="8900160" y="4274820"/>
            <a:ext cx="381000" cy="0"/>
          </a:xfrm>
          <a:prstGeom prst="line">
            <a:avLst/>
          </a:prstGeom>
          <a:ln w="19050">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7446" name="TextBox 17445"/>
          <p:cNvSpPr txBox="1"/>
          <p:nvPr/>
        </p:nvSpPr>
        <p:spPr>
          <a:xfrm>
            <a:off x="320040" y="4590288"/>
            <a:ext cx="10972800" cy="228600"/>
          </a:xfrm>
          <a:prstGeom prst="rect">
            <a:avLst/>
          </a:prstGeom>
          <a:noFill/>
        </p:spPr>
        <p:txBody>
          <a:bodyPr wrap="square" lIns="45720" rIns="45720" tIns="18288" bIns="18288">
            <a:spAutoFit/>
          </a:bodyPr>
          <a:lstStyle/>
          <a:p>
            <a:pPr>
              <a:spcAft>
                <a:spcPts val="300"/>
              </a:spcAft>
            </a:pPr>
            <a:r>
              <a:rPr sz="1100" b="1">
                <a:solidFill>
                  <a:srgbClr val="2F5597"/>
                </a:solidFill>
                <a:latin typeface="Arial"/>
              </a:rPr>
              <a:t>Main risks and how they are handled</a:t>
            </a:r>
          </a:p>
        </p:txBody>
      </p:sp>
      <p:sp>
        <p:nvSpPr>
          <p:cNvPr id="17447" name="Rounded Rectangle 17446"/>
          <p:cNvSpPr/>
          <p:nvPr/>
        </p:nvSpPr>
        <p:spPr>
          <a:xfrm>
            <a:off x="320040" y="4864608"/>
            <a:ext cx="2240280" cy="1280160"/>
          </a:xfrm>
          <a:prstGeom prst="roundRect">
            <a:avLst>
              <a:gd name="adj" fmla="val 6000"/>
            </a:avLst>
          </a:prstGeom>
          <a:solidFill>
            <a:srgbClr val="F8D7D7"/>
          </a:solidFill>
          <a:ln w="12700">
            <a:solidFill>
              <a:srgbClr val="A6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8" name="TextBox 17447"/>
          <p:cNvSpPr txBox="1"/>
          <p:nvPr/>
        </p:nvSpPr>
        <p:spPr>
          <a:xfrm>
            <a:off x="365759" y="4901184"/>
            <a:ext cx="2148840" cy="274320"/>
          </a:xfrm>
          <a:prstGeom prst="rect">
            <a:avLst/>
          </a:prstGeom>
          <a:noFill/>
        </p:spPr>
        <p:txBody>
          <a:bodyPr wrap="square" lIns="45720" rIns="45720" tIns="18288" bIns="18288">
            <a:spAutoFit/>
          </a:bodyPr>
          <a:lstStyle/>
          <a:p>
            <a:pPr>
              <a:spcAft>
                <a:spcPts val="500"/>
              </a:spcAft>
            </a:pPr>
            <a:r>
              <a:rPr sz="1200" b="1">
                <a:solidFill>
                  <a:srgbClr val="A61C1C"/>
                </a:solidFill>
                <a:latin typeface="Arial"/>
              </a:rPr>
              <a:t>Sparse labels</a:t>
            </a:r>
          </a:p>
        </p:txBody>
      </p:sp>
      <p:sp>
        <p:nvSpPr>
          <p:cNvPr id="17449" name="TextBox 17448"/>
          <p:cNvSpPr txBox="1"/>
          <p:nvPr/>
        </p:nvSpPr>
        <p:spPr>
          <a:xfrm>
            <a:off x="365759" y="5285232"/>
            <a:ext cx="2148840" cy="822960"/>
          </a:xfrm>
          <a:prstGeom prst="rect">
            <a:avLst/>
          </a:prstGeom>
          <a:noFill/>
        </p:spPr>
        <p:txBody>
          <a:bodyPr wrap="square" lIns="45720" rIns="45720" tIns="18288" bIns="18288">
            <a:spAutoFit/>
          </a:bodyPr>
          <a:lstStyle/>
          <a:p>
            <a:pPr>
              <a:spcAft>
                <a:spcPts val="500"/>
              </a:spcAft>
            </a:pPr>
            <a:r>
              <a:rPr sz="1200" b="0">
                <a:solidFill>
                  <a:srgbClr val="262626"/>
                </a:solidFill>
                <a:latin typeface="Arial"/>
              </a:rPr>
              <a:t>expert-weighted fallback, low-confidence flag</a:t>
            </a:r>
          </a:p>
        </p:txBody>
      </p:sp>
      <p:sp>
        <p:nvSpPr>
          <p:cNvPr id="17450" name="Rounded Rectangle 17449"/>
          <p:cNvSpPr/>
          <p:nvPr/>
        </p:nvSpPr>
        <p:spPr>
          <a:xfrm>
            <a:off x="2651760" y="4864608"/>
            <a:ext cx="2240280" cy="1280160"/>
          </a:xfrm>
          <a:prstGeom prst="roundRect">
            <a:avLst>
              <a:gd name="adj" fmla="val 6000"/>
            </a:avLst>
          </a:prstGeom>
          <a:solidFill>
            <a:srgbClr val="F8D7D7"/>
          </a:solidFill>
          <a:ln w="12700">
            <a:solidFill>
              <a:srgbClr val="A6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1" name="TextBox 17450"/>
          <p:cNvSpPr txBox="1"/>
          <p:nvPr/>
        </p:nvSpPr>
        <p:spPr>
          <a:xfrm>
            <a:off x="2697480" y="4901184"/>
            <a:ext cx="2148840" cy="274320"/>
          </a:xfrm>
          <a:prstGeom prst="rect">
            <a:avLst/>
          </a:prstGeom>
          <a:noFill/>
        </p:spPr>
        <p:txBody>
          <a:bodyPr wrap="square" lIns="45720" rIns="45720" tIns="18288" bIns="18288">
            <a:spAutoFit/>
          </a:bodyPr>
          <a:lstStyle/>
          <a:p>
            <a:pPr>
              <a:spcAft>
                <a:spcPts val="500"/>
              </a:spcAft>
            </a:pPr>
            <a:r>
              <a:rPr sz="1200" b="1">
                <a:solidFill>
                  <a:srgbClr val="A61C1C"/>
                </a:solidFill>
                <a:latin typeface="Arial"/>
              </a:rPr>
              <a:t>Coarse DEM</a:t>
            </a:r>
          </a:p>
        </p:txBody>
      </p:sp>
      <p:sp>
        <p:nvSpPr>
          <p:cNvPr id="17452" name="TextBox 17451"/>
          <p:cNvSpPr txBox="1"/>
          <p:nvPr/>
        </p:nvSpPr>
        <p:spPr>
          <a:xfrm>
            <a:off x="2697480" y="5285232"/>
            <a:ext cx="2148840" cy="822960"/>
          </a:xfrm>
          <a:prstGeom prst="rect">
            <a:avLst/>
          </a:prstGeom>
          <a:noFill/>
        </p:spPr>
        <p:txBody>
          <a:bodyPr wrap="square" lIns="45720" rIns="45720" tIns="18288" bIns="18288">
            <a:spAutoFit/>
          </a:bodyPr>
          <a:lstStyle/>
          <a:p>
            <a:pPr>
              <a:spcAft>
                <a:spcPts val="500"/>
              </a:spcAft>
            </a:pPr>
            <a:r>
              <a:rPr sz="1200" b="0">
                <a:solidFill>
                  <a:srgbClr val="262626"/>
                </a:solidFill>
                <a:latin typeface="Arial"/>
              </a:rPr>
              <a:t>resolution stated, confidence lowered</a:t>
            </a:r>
          </a:p>
        </p:txBody>
      </p:sp>
      <p:sp>
        <p:nvSpPr>
          <p:cNvPr id="17453" name="Rounded Rectangle 17452"/>
          <p:cNvSpPr/>
          <p:nvPr/>
        </p:nvSpPr>
        <p:spPr>
          <a:xfrm>
            <a:off x="4983480" y="4864608"/>
            <a:ext cx="2240280" cy="1280160"/>
          </a:xfrm>
          <a:prstGeom prst="roundRect">
            <a:avLst>
              <a:gd name="adj" fmla="val 6000"/>
            </a:avLst>
          </a:prstGeom>
          <a:solidFill>
            <a:srgbClr val="F8D7D7"/>
          </a:solidFill>
          <a:ln w="12700">
            <a:solidFill>
              <a:srgbClr val="A6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4" name="TextBox 17453"/>
          <p:cNvSpPr txBox="1"/>
          <p:nvPr/>
        </p:nvSpPr>
        <p:spPr>
          <a:xfrm>
            <a:off x="5029200" y="4901184"/>
            <a:ext cx="2148840" cy="274320"/>
          </a:xfrm>
          <a:prstGeom prst="rect">
            <a:avLst/>
          </a:prstGeom>
          <a:noFill/>
        </p:spPr>
        <p:txBody>
          <a:bodyPr wrap="square" lIns="45720" rIns="45720" tIns="18288" bIns="18288">
            <a:spAutoFit/>
          </a:bodyPr>
          <a:lstStyle/>
          <a:p>
            <a:pPr>
              <a:spcAft>
                <a:spcPts val="500"/>
              </a:spcAft>
            </a:pPr>
            <a:r>
              <a:rPr sz="1200" b="1">
                <a:solidFill>
                  <a:srgbClr val="A61C1C"/>
                </a:solidFill>
                <a:latin typeface="Arial"/>
              </a:rPr>
              <a:t>Missing structure data</a:t>
            </a:r>
          </a:p>
        </p:txBody>
      </p:sp>
      <p:sp>
        <p:nvSpPr>
          <p:cNvPr id="17455" name="TextBox 17454"/>
          <p:cNvSpPr txBox="1"/>
          <p:nvPr/>
        </p:nvSpPr>
        <p:spPr>
          <a:xfrm>
            <a:off x="5029200" y="5285232"/>
            <a:ext cx="2148840" cy="822960"/>
          </a:xfrm>
          <a:prstGeom prst="rect">
            <a:avLst/>
          </a:prstGeom>
          <a:noFill/>
        </p:spPr>
        <p:txBody>
          <a:bodyPr wrap="square" lIns="45720" rIns="45720" tIns="18288" bIns="18288">
            <a:spAutoFit/>
          </a:bodyPr>
          <a:lstStyle/>
          <a:p>
            <a:pPr>
              <a:spcAft>
                <a:spcPts val="500"/>
              </a:spcAft>
            </a:pPr>
            <a:r>
              <a:rPr sz="1200" b="0">
                <a:solidFill>
                  <a:srgbClr val="262626"/>
                </a:solidFill>
                <a:latin typeface="Arial"/>
              </a:rPr>
              <a:t>field strike / dip readings added</a:t>
            </a:r>
          </a:p>
        </p:txBody>
      </p:sp>
      <p:sp>
        <p:nvSpPr>
          <p:cNvPr id="17456" name="Rounded Rectangle 17455"/>
          <p:cNvSpPr/>
          <p:nvPr/>
        </p:nvSpPr>
        <p:spPr>
          <a:xfrm>
            <a:off x="7315200" y="4864608"/>
            <a:ext cx="2240280" cy="1280160"/>
          </a:xfrm>
          <a:prstGeom prst="roundRect">
            <a:avLst>
              <a:gd name="adj" fmla="val 6000"/>
            </a:avLst>
          </a:prstGeom>
          <a:solidFill>
            <a:srgbClr val="F8D7D7"/>
          </a:solidFill>
          <a:ln w="12700">
            <a:solidFill>
              <a:srgbClr val="A6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7" name="TextBox 17456"/>
          <p:cNvSpPr txBox="1"/>
          <p:nvPr/>
        </p:nvSpPr>
        <p:spPr>
          <a:xfrm>
            <a:off x="7360920" y="4901184"/>
            <a:ext cx="2148840" cy="274320"/>
          </a:xfrm>
          <a:prstGeom prst="rect">
            <a:avLst/>
          </a:prstGeom>
          <a:noFill/>
        </p:spPr>
        <p:txBody>
          <a:bodyPr wrap="square" lIns="45720" rIns="45720" tIns="18288" bIns="18288">
            <a:spAutoFit/>
          </a:bodyPr>
          <a:lstStyle/>
          <a:p>
            <a:pPr>
              <a:spcAft>
                <a:spcPts val="500"/>
              </a:spcAft>
            </a:pPr>
            <a:r>
              <a:rPr sz="1200" b="1">
                <a:solidFill>
                  <a:srgbClr val="A61C1C"/>
                </a:solidFill>
                <a:latin typeface="Arial"/>
              </a:rPr>
              <a:t>Over-trust in maps</a:t>
            </a:r>
          </a:p>
        </p:txBody>
      </p:sp>
      <p:sp>
        <p:nvSpPr>
          <p:cNvPr id="17458" name="TextBox 17457"/>
          <p:cNvSpPr txBox="1"/>
          <p:nvPr/>
        </p:nvSpPr>
        <p:spPr>
          <a:xfrm>
            <a:off x="7360920" y="5285232"/>
            <a:ext cx="2148840" cy="822960"/>
          </a:xfrm>
          <a:prstGeom prst="rect">
            <a:avLst/>
          </a:prstGeom>
          <a:noFill/>
        </p:spPr>
        <p:txBody>
          <a:bodyPr wrap="square" lIns="45720" rIns="45720" tIns="18288" bIns="18288">
            <a:spAutoFit/>
          </a:bodyPr>
          <a:lstStyle/>
          <a:p>
            <a:pPr>
              <a:spcAft>
                <a:spcPts val="500"/>
              </a:spcAft>
            </a:pPr>
            <a:r>
              <a:rPr sz="1200" b="0">
                <a:solidFill>
                  <a:srgbClr val="262626"/>
                </a:solidFill>
                <a:latin typeface="Arial"/>
              </a:rPr>
              <a:t>"indicative, verify on site"</a:t>
            </a:r>
          </a:p>
        </p:txBody>
      </p:sp>
      <p:sp>
        <p:nvSpPr>
          <p:cNvPr id="17459" name="Rounded Rectangle 17458"/>
          <p:cNvSpPr/>
          <p:nvPr/>
        </p:nvSpPr>
        <p:spPr>
          <a:xfrm>
            <a:off x="9646920" y="4864608"/>
            <a:ext cx="2240280" cy="1280160"/>
          </a:xfrm>
          <a:prstGeom prst="roundRect">
            <a:avLst>
              <a:gd name="adj" fmla="val 6000"/>
            </a:avLst>
          </a:prstGeom>
          <a:solidFill>
            <a:srgbClr val="F8D7D7"/>
          </a:solidFill>
          <a:ln w="12700">
            <a:solidFill>
              <a:srgbClr val="A6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0" name="TextBox 17459"/>
          <p:cNvSpPr txBox="1"/>
          <p:nvPr/>
        </p:nvSpPr>
        <p:spPr>
          <a:xfrm>
            <a:off x="9692640" y="4901184"/>
            <a:ext cx="2148840" cy="274320"/>
          </a:xfrm>
          <a:prstGeom prst="rect">
            <a:avLst/>
          </a:prstGeom>
          <a:noFill/>
        </p:spPr>
        <p:txBody>
          <a:bodyPr wrap="square" lIns="45720" rIns="45720" tIns="18288" bIns="18288">
            <a:spAutoFit/>
          </a:bodyPr>
          <a:lstStyle/>
          <a:p>
            <a:pPr>
              <a:spcAft>
                <a:spcPts val="500"/>
              </a:spcAft>
            </a:pPr>
            <a:r>
              <a:rPr sz="1200" b="1">
                <a:solidFill>
                  <a:srgbClr val="A61C1C"/>
                </a:solidFill>
                <a:latin typeface="Arial"/>
              </a:rPr>
              <a:t>Landslide risk</a:t>
            </a:r>
          </a:p>
        </p:txBody>
      </p:sp>
      <p:sp>
        <p:nvSpPr>
          <p:cNvPr id="17461" name="TextBox 17460"/>
          <p:cNvSpPr txBox="1"/>
          <p:nvPr/>
        </p:nvSpPr>
        <p:spPr>
          <a:xfrm>
            <a:off x="9692640" y="5285232"/>
            <a:ext cx="2148840" cy="822960"/>
          </a:xfrm>
          <a:prstGeom prst="rect">
            <a:avLst/>
          </a:prstGeom>
          <a:noFill/>
        </p:spPr>
        <p:txBody>
          <a:bodyPr wrap="square" lIns="45720" rIns="45720" tIns="18288" bIns="18288">
            <a:spAutoFit/>
          </a:bodyPr>
          <a:lstStyle/>
          <a:p>
            <a:pPr>
              <a:spcAft>
                <a:spcPts val="500"/>
              </a:spcAft>
            </a:pPr>
            <a:r>
              <a:rPr sz="1200" b="0">
                <a:solidFill>
                  <a:srgbClr val="262626"/>
                </a:solidFill>
                <a:latin typeface="Arial"/>
              </a:rPr>
              <a:t>no-go risk layer on flagged sites</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none" lIns="0" rIns="0"/>
          <a:lstStyle/>
          <a:p>
            <a:pPr algn="ctr"/>
            <a:r>
              <a:rPr lang="en-US" dirty="0" sz="1400"/>
              <a:t>TechDevs_6</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graphicFrame>
        <p:nvGraphicFramePr>
          <p:cNvPr id="17410" name="Table 17409"/>
          <p:cNvGraphicFramePr>
            <a:graphicFrameLocks noGrp="1"/>
          </p:cNvGraphicFramePr>
          <p:nvPr/>
        </p:nvGraphicFramePr>
        <p:xfrm>
          <a:off x="320040" y="1188720"/>
          <a:ext cx="11567160" cy="4846320"/>
        </p:xfrm>
        <a:graphic>
          <a:graphicData uri="http://schemas.openxmlformats.org/drawingml/2006/table">
            <a:tbl>
              <a:tblPr firstRow="1" bandRow="1">
                <a:tableStyleId>{5C22544A-7EE6-4342-B048-85BDC9FD1C3A}</a:tableStyleId>
              </a:tblPr>
              <a:tblGrid>
                <a:gridCol w="731520"/>
                <a:gridCol w="5120640"/>
                <a:gridCol w="2743200"/>
                <a:gridCol w="2971800"/>
              </a:tblGrid>
              <a:tr h="484632">
                <a:tc>
                  <a:txBody>
                    <a:bodyPr/>
                    <a:lstStyle/>
                    <a:p>
                      <a:r>
                        <a:rPr sz="1200" b="1">
                          <a:solidFill>
                            <a:srgbClr val="FFFFFF"/>
                          </a:solidFill>
                          <a:latin typeface="Arial"/>
                        </a:rPr>
                        <a:t>S. No</a:t>
                      </a:r>
                    </a:p>
                  </a:txBody>
                  <a:tcPr anchor="ctr">
                    <a:solidFill>
                      <a:srgbClr val="2F5597"/>
                    </a:solidFill>
                  </a:tcPr>
                </a:tc>
                <a:tc>
                  <a:txBody>
                    <a:bodyPr/>
                    <a:lstStyle/>
                    <a:p>
                      <a:r>
                        <a:rPr sz="1200" b="1">
                          <a:solidFill>
                            <a:srgbClr val="FFFFFF"/>
                          </a:solidFill>
                          <a:latin typeface="Arial"/>
                        </a:rPr>
                        <a:t>Reference</a:t>
                      </a:r>
                    </a:p>
                  </a:txBody>
                  <a:tcPr anchor="ctr">
                    <a:solidFill>
                      <a:srgbClr val="2F5597"/>
                    </a:solidFill>
                  </a:tcPr>
                </a:tc>
                <a:tc>
                  <a:txBody>
                    <a:bodyPr/>
                    <a:lstStyle/>
                    <a:p>
                      <a:r>
                        <a:rPr sz="1200" b="1">
                          <a:solidFill>
                            <a:srgbClr val="FFFFFF"/>
                          </a:solidFill>
                          <a:latin typeface="Arial"/>
                        </a:rPr>
                        <a:t>Published by</a:t>
                      </a:r>
                    </a:p>
                  </a:txBody>
                  <a:tcPr anchor="ctr">
                    <a:solidFill>
                      <a:srgbClr val="2F5597"/>
                    </a:solidFill>
                  </a:tcPr>
                </a:tc>
                <a:tc>
                  <a:txBody>
                    <a:bodyPr/>
                    <a:lstStyle/>
                    <a:p>
                      <a:r>
                        <a:rPr sz="1200" b="1">
                          <a:solidFill>
                            <a:srgbClr val="FFFFFF"/>
                          </a:solidFill>
                          <a:latin typeface="Arial"/>
                        </a:rPr>
                        <a:t>Used for</a:t>
                      </a:r>
                    </a:p>
                  </a:txBody>
                  <a:tcPr anchor="ctr">
                    <a:solidFill>
                      <a:srgbClr val="2F5597"/>
                    </a:solidFill>
                  </a:tcPr>
                </a:tc>
              </a:tr>
              <a:tr h="484632">
                <a:tc>
                  <a:txBody>
                    <a:bodyPr/>
                    <a:lstStyle/>
                    <a:p>
                      <a:r>
                        <a:rPr sz="1200" b="0">
                          <a:solidFill>
                            <a:srgbClr val="262626"/>
                          </a:solidFill>
                          <a:latin typeface="Arial"/>
                        </a:rPr>
                        <a:t>1</a:t>
                      </a:r>
                    </a:p>
                  </a:txBody>
                  <a:tcPr anchor="ctr">
                    <a:solidFill>
                      <a:srgbClr val="DDEBF7"/>
                    </a:solidFill>
                  </a:tcPr>
                </a:tc>
                <a:tc>
                  <a:txBody>
                    <a:bodyPr/>
                    <a:lstStyle/>
                    <a:p>
                      <a:r>
                        <a:rPr sz="1200" b="0">
                          <a:solidFill>
                            <a:srgbClr val="262626"/>
                          </a:solidFill>
                          <a:latin typeface="Arial"/>
                        </a:rPr>
                        <a:t>SRTM Digital Elevation Model</a:t>
                      </a:r>
                    </a:p>
                  </a:txBody>
                  <a:tcPr anchor="ctr">
                    <a:solidFill>
                      <a:srgbClr val="DDEBF7"/>
                    </a:solidFill>
                  </a:tcPr>
                </a:tc>
                <a:tc>
                  <a:txBody>
                    <a:bodyPr/>
                    <a:lstStyle/>
                    <a:p>
                      <a:r>
                        <a:rPr sz="1200" b="0">
                          <a:solidFill>
                            <a:srgbClr val="262626"/>
                          </a:solidFill>
                          <a:latin typeface="Arial"/>
                        </a:rPr>
                        <a:t>NASA / USGS</a:t>
                      </a:r>
                    </a:p>
                  </a:txBody>
                  <a:tcPr anchor="ctr">
                    <a:solidFill>
                      <a:srgbClr val="DDEBF7"/>
                    </a:solidFill>
                  </a:tcPr>
                </a:tc>
                <a:tc>
                  <a:txBody>
                    <a:bodyPr/>
                    <a:lstStyle/>
                    <a:p>
                      <a:r>
                        <a:rPr sz="1200" b="0">
                          <a:solidFill>
                            <a:srgbClr val="262626"/>
                          </a:solidFill>
                          <a:latin typeface="Arial"/>
                        </a:rPr>
                        <a:t>Slope, aspect, drainage, flow paths</a:t>
                      </a:r>
                    </a:p>
                  </a:txBody>
                  <a:tcPr anchor="ctr">
                    <a:solidFill>
                      <a:srgbClr val="DDEBF7"/>
                    </a:solidFill>
                  </a:tcPr>
                </a:tc>
              </a:tr>
              <a:tr h="484632">
                <a:tc>
                  <a:txBody>
                    <a:bodyPr/>
                    <a:lstStyle/>
                    <a:p>
                      <a:r>
                        <a:rPr sz="1200" b="0">
                          <a:solidFill>
                            <a:srgbClr val="262626"/>
                          </a:solidFill>
                          <a:latin typeface="Arial"/>
                        </a:rPr>
                        <a:t>2</a:t>
                      </a:r>
                    </a:p>
                  </a:txBody>
                  <a:tcPr anchor="ctr">
                    <a:solidFill>
                      <a:srgbClr val="FFFFFF"/>
                    </a:solidFill>
                  </a:tcPr>
                </a:tc>
                <a:tc>
                  <a:txBody>
                    <a:bodyPr/>
                    <a:lstStyle/>
                    <a:p>
                      <a:r>
                        <a:rPr sz="1200" b="0">
                          <a:solidFill>
                            <a:srgbClr val="262626"/>
                          </a:solidFill>
                          <a:latin typeface="Arial"/>
                        </a:rPr>
                        <a:t>Bhuvan / Cartosat</a:t>
                      </a:r>
                    </a:p>
                  </a:txBody>
                  <a:tcPr anchor="ctr">
                    <a:solidFill>
                      <a:srgbClr val="FFFFFF"/>
                    </a:solidFill>
                  </a:tcPr>
                </a:tc>
                <a:tc>
                  <a:txBody>
                    <a:bodyPr/>
                    <a:lstStyle/>
                    <a:p>
                      <a:r>
                        <a:rPr sz="1200" b="0">
                          <a:solidFill>
                            <a:srgbClr val="262626"/>
                          </a:solidFill>
                          <a:latin typeface="Arial"/>
                        </a:rPr>
                        <a:t>ISRO – NRSC</a:t>
                      </a:r>
                    </a:p>
                  </a:txBody>
                  <a:tcPr anchor="ctr">
                    <a:solidFill>
                      <a:srgbClr val="FFFFFF"/>
                    </a:solidFill>
                  </a:tcPr>
                </a:tc>
                <a:tc>
                  <a:txBody>
                    <a:bodyPr/>
                    <a:lstStyle/>
                    <a:p>
                      <a:r>
                        <a:rPr sz="1200" b="0">
                          <a:solidFill>
                            <a:srgbClr val="262626"/>
                          </a:solidFill>
                          <a:latin typeface="Arial"/>
                        </a:rPr>
                        <a:t>Land use and finer terrain</a:t>
                      </a:r>
                    </a:p>
                  </a:txBody>
                  <a:tcPr anchor="ctr">
                    <a:solidFill>
                      <a:srgbClr val="FFFFFF"/>
                    </a:solidFill>
                  </a:tcPr>
                </a:tc>
              </a:tr>
              <a:tr h="484632">
                <a:tc>
                  <a:txBody>
                    <a:bodyPr/>
                    <a:lstStyle/>
                    <a:p>
                      <a:r>
                        <a:rPr sz="1200" b="0">
                          <a:solidFill>
                            <a:srgbClr val="262626"/>
                          </a:solidFill>
                          <a:latin typeface="Arial"/>
                        </a:rPr>
                        <a:t>3</a:t>
                      </a:r>
                    </a:p>
                  </a:txBody>
                  <a:tcPr anchor="ctr">
                    <a:solidFill>
                      <a:srgbClr val="DDEBF7"/>
                    </a:solidFill>
                  </a:tcPr>
                </a:tc>
                <a:tc>
                  <a:txBody>
                    <a:bodyPr/>
                    <a:lstStyle/>
                    <a:p>
                      <a:r>
                        <a:rPr sz="1200" b="0">
                          <a:solidFill>
                            <a:srgbClr val="262626"/>
                          </a:solidFill>
                          <a:latin typeface="Arial"/>
                        </a:rPr>
                        <a:t>Bhukosh</a:t>
                      </a:r>
                    </a:p>
                  </a:txBody>
                  <a:tcPr anchor="ctr">
                    <a:solidFill>
                      <a:srgbClr val="DDEBF7"/>
                    </a:solidFill>
                  </a:tcPr>
                </a:tc>
                <a:tc>
                  <a:txBody>
                    <a:bodyPr/>
                    <a:lstStyle/>
                    <a:p>
                      <a:r>
                        <a:rPr sz="1200" b="0">
                          <a:solidFill>
                            <a:srgbClr val="262626"/>
                          </a:solidFill>
                          <a:latin typeface="Arial"/>
                        </a:rPr>
                        <a:t>Geological Survey of India</a:t>
                      </a:r>
                    </a:p>
                  </a:txBody>
                  <a:tcPr anchor="ctr">
                    <a:solidFill>
                      <a:srgbClr val="DDEBF7"/>
                    </a:solidFill>
                  </a:tcPr>
                </a:tc>
                <a:tc>
                  <a:txBody>
                    <a:bodyPr/>
                    <a:lstStyle/>
                    <a:p>
                      <a:r>
                        <a:rPr sz="1200" b="0">
                          <a:solidFill>
                            <a:srgbClr val="262626"/>
                          </a:solidFill>
                          <a:latin typeface="Arial"/>
                        </a:rPr>
                        <a:t>Rock types, contacts, faults</a:t>
                      </a:r>
                    </a:p>
                  </a:txBody>
                  <a:tcPr anchor="ctr">
                    <a:solidFill>
                      <a:srgbClr val="DDEBF7"/>
                    </a:solidFill>
                  </a:tcPr>
                </a:tc>
              </a:tr>
              <a:tr h="484632">
                <a:tc>
                  <a:txBody>
                    <a:bodyPr/>
                    <a:lstStyle/>
                    <a:p>
                      <a:r>
                        <a:rPr sz="1200" b="0">
                          <a:solidFill>
                            <a:srgbClr val="262626"/>
                          </a:solidFill>
                          <a:latin typeface="Arial"/>
                        </a:rPr>
                        <a:t>4</a:t>
                      </a:r>
                    </a:p>
                  </a:txBody>
                  <a:tcPr anchor="ctr">
                    <a:solidFill>
                      <a:srgbClr val="FFFFFF"/>
                    </a:solidFill>
                  </a:tcPr>
                </a:tc>
                <a:tc>
                  <a:txBody>
                    <a:bodyPr/>
                    <a:lstStyle/>
                    <a:p>
                      <a:r>
                        <a:rPr sz="1200" b="0">
                          <a:solidFill>
                            <a:srgbClr val="262626"/>
                          </a:solidFill>
                          <a:latin typeface="Arial"/>
                        </a:rPr>
                        <a:t>CHIRPS rainfall dataset</a:t>
                      </a:r>
                    </a:p>
                  </a:txBody>
                  <a:tcPr anchor="ctr">
                    <a:solidFill>
                      <a:srgbClr val="FFFFFF"/>
                    </a:solidFill>
                  </a:tcPr>
                </a:tc>
                <a:tc>
                  <a:txBody>
                    <a:bodyPr/>
                    <a:lstStyle/>
                    <a:p>
                      <a:r>
                        <a:rPr sz="1200" b="0">
                          <a:solidFill>
                            <a:srgbClr val="262626"/>
                          </a:solidFill>
                          <a:latin typeface="Arial"/>
                        </a:rPr>
                        <a:t>UCSB Climate Hazards Center</a:t>
                      </a:r>
                    </a:p>
                  </a:txBody>
                  <a:tcPr anchor="ctr">
                    <a:solidFill>
                      <a:srgbClr val="FFFFFF"/>
                    </a:solidFill>
                  </a:tcPr>
                </a:tc>
                <a:tc>
                  <a:txBody>
                    <a:bodyPr/>
                    <a:lstStyle/>
                    <a:p>
                      <a:r>
                        <a:rPr sz="1200" b="0">
                          <a:solidFill>
                            <a:srgbClr val="262626"/>
                          </a:solidFill>
                          <a:latin typeface="Arial"/>
                        </a:rPr>
                        <a:t>Rainfall trends</a:t>
                      </a:r>
                    </a:p>
                  </a:txBody>
                  <a:tcPr anchor="ctr">
                    <a:solidFill>
                      <a:srgbClr val="FFFFFF"/>
                    </a:solidFill>
                  </a:tcPr>
                </a:tc>
              </a:tr>
              <a:tr h="484632">
                <a:tc>
                  <a:txBody>
                    <a:bodyPr/>
                    <a:lstStyle/>
                    <a:p>
                      <a:r>
                        <a:rPr sz="1200" b="0">
                          <a:solidFill>
                            <a:srgbClr val="262626"/>
                          </a:solidFill>
                          <a:latin typeface="Arial"/>
                        </a:rPr>
                        <a:t>5</a:t>
                      </a:r>
                    </a:p>
                  </a:txBody>
                  <a:tcPr anchor="ctr">
                    <a:solidFill>
                      <a:srgbClr val="DDEBF7"/>
                    </a:solidFill>
                  </a:tcPr>
                </a:tc>
                <a:tc>
                  <a:txBody>
                    <a:bodyPr/>
                    <a:lstStyle/>
                    <a:p>
                      <a:r>
                        <a:rPr sz="1200" b="0">
                          <a:solidFill>
                            <a:srgbClr val="262626"/>
                          </a:solidFill>
                          <a:latin typeface="Arial"/>
                        </a:rPr>
                        <a:t>India-WRIS</a:t>
                      </a:r>
                    </a:p>
                  </a:txBody>
                  <a:tcPr anchor="ctr">
                    <a:solidFill>
                      <a:srgbClr val="DDEBF7"/>
                    </a:solidFill>
                  </a:tcPr>
                </a:tc>
                <a:tc>
                  <a:txBody>
                    <a:bodyPr/>
                    <a:lstStyle/>
                    <a:p>
                      <a:r>
                        <a:rPr sz="1200" b="0">
                          <a:solidFill>
                            <a:srgbClr val="262626"/>
                          </a:solidFill>
                          <a:latin typeface="Arial"/>
                        </a:rPr>
                        <a:t>Ministry of Jal Shakti</a:t>
                      </a:r>
                    </a:p>
                  </a:txBody>
                  <a:tcPr anchor="ctr">
                    <a:solidFill>
                      <a:srgbClr val="DDEBF7"/>
                    </a:solidFill>
                  </a:tcPr>
                </a:tc>
                <a:tc>
                  <a:txBody>
                    <a:bodyPr/>
                    <a:lstStyle/>
                    <a:p>
                      <a:r>
                        <a:rPr sz="1200" b="0">
                          <a:solidFill>
                            <a:srgbClr val="262626"/>
                          </a:solidFill>
                          <a:latin typeface="Arial"/>
                        </a:rPr>
                        <a:t>Drainage and groundwater context</a:t>
                      </a:r>
                    </a:p>
                  </a:txBody>
                  <a:tcPr anchor="ctr">
                    <a:solidFill>
                      <a:srgbClr val="DDEBF7"/>
                    </a:solidFill>
                  </a:tcPr>
                </a:tc>
              </a:tr>
              <a:tr h="484632">
                <a:tc>
                  <a:txBody>
                    <a:bodyPr/>
                    <a:lstStyle/>
                    <a:p>
                      <a:r>
                        <a:rPr sz="1200" b="0">
                          <a:solidFill>
                            <a:srgbClr val="262626"/>
                          </a:solidFill>
                          <a:latin typeface="Arial"/>
                        </a:rPr>
                        <a:t>6</a:t>
                      </a:r>
                    </a:p>
                  </a:txBody>
                  <a:tcPr anchor="ctr">
                    <a:solidFill>
                      <a:srgbClr val="FFFFFF"/>
                    </a:solidFill>
                  </a:tcPr>
                </a:tc>
                <a:tc>
                  <a:txBody>
                    <a:bodyPr/>
                    <a:lstStyle/>
                    <a:p>
                      <a:r>
                        <a:rPr sz="1200" b="0">
                          <a:solidFill>
                            <a:srgbClr val="262626"/>
                          </a:solidFill>
                          <a:latin typeface="Arial"/>
                        </a:rPr>
                        <a:t>Inventory and Revival of Springs in the Himalayas</a:t>
                      </a:r>
                    </a:p>
                  </a:txBody>
                  <a:tcPr anchor="ctr">
                    <a:solidFill>
                      <a:srgbClr val="FFFFFF"/>
                    </a:solidFill>
                  </a:tcPr>
                </a:tc>
                <a:tc>
                  <a:txBody>
                    <a:bodyPr/>
                    <a:lstStyle/>
                    <a:p>
                      <a:r>
                        <a:rPr sz="1200" b="0">
                          <a:solidFill>
                            <a:srgbClr val="262626"/>
                          </a:solidFill>
                          <a:latin typeface="Arial"/>
                        </a:rPr>
                        <a:t>NITI Aayog</a:t>
                      </a:r>
                    </a:p>
                  </a:txBody>
                  <a:tcPr anchor="ctr">
                    <a:solidFill>
                      <a:srgbClr val="FFFFFF"/>
                    </a:solidFill>
                  </a:tcPr>
                </a:tc>
                <a:tc>
                  <a:txBody>
                    <a:bodyPr/>
                    <a:lstStyle/>
                    <a:p>
                      <a:r>
                        <a:rPr sz="1200" b="0">
                          <a:solidFill>
                            <a:srgbClr val="262626"/>
                          </a:solidFill>
                          <a:latin typeface="Arial"/>
                        </a:rPr>
                        <a:t>Springshed approach, revival practice</a:t>
                      </a:r>
                    </a:p>
                  </a:txBody>
                  <a:tcPr anchor="ctr">
                    <a:solidFill>
                      <a:srgbClr val="FFFFFF"/>
                    </a:solidFill>
                  </a:tcPr>
                </a:tc>
              </a:tr>
              <a:tr h="484632">
                <a:tc>
                  <a:txBody>
                    <a:bodyPr/>
                    <a:lstStyle/>
                    <a:p>
                      <a:r>
                        <a:rPr sz="1200" b="0">
                          <a:solidFill>
                            <a:srgbClr val="262626"/>
                          </a:solidFill>
                          <a:latin typeface="Arial"/>
                        </a:rPr>
                        <a:t>7</a:t>
                      </a:r>
                    </a:p>
                  </a:txBody>
                  <a:tcPr anchor="ctr">
                    <a:solidFill>
                      <a:srgbClr val="DDEBF7"/>
                    </a:solidFill>
                  </a:tcPr>
                </a:tc>
                <a:tc>
                  <a:txBody>
                    <a:bodyPr/>
                    <a:lstStyle/>
                    <a:p>
                      <a:r>
                        <a:rPr sz="1200" b="0">
                          <a:solidFill>
                            <a:srgbClr val="262626"/>
                          </a:solidFill>
                          <a:latin typeface="Arial"/>
                        </a:rPr>
                        <a:t>Random Forests (Breiman)</a:t>
                      </a:r>
                    </a:p>
                  </a:txBody>
                  <a:tcPr anchor="ctr">
                    <a:solidFill>
                      <a:srgbClr val="DDEBF7"/>
                    </a:solidFill>
                  </a:tcPr>
                </a:tc>
                <a:tc>
                  <a:txBody>
                    <a:bodyPr/>
                    <a:lstStyle/>
                    <a:p>
                      <a:r>
                        <a:rPr sz="1200" b="0">
                          <a:solidFill>
                            <a:srgbClr val="262626"/>
                          </a:solidFill>
                          <a:latin typeface="Arial"/>
                        </a:rPr>
                        <a:t>Machine Learning journal</a:t>
                      </a:r>
                    </a:p>
                  </a:txBody>
                  <a:tcPr anchor="ctr">
                    <a:solidFill>
                      <a:srgbClr val="DDEBF7"/>
                    </a:solidFill>
                  </a:tcPr>
                </a:tc>
                <a:tc>
                  <a:txBody>
                    <a:bodyPr/>
                    <a:lstStyle/>
                    <a:p>
                      <a:r>
                        <a:rPr sz="1200" b="0">
                          <a:solidFill>
                            <a:srgbClr val="262626"/>
                          </a:solidFill>
                          <a:latin typeface="Arial"/>
                        </a:rPr>
                        <a:t>Recharge suitability model</a:t>
                      </a:r>
                    </a:p>
                  </a:txBody>
                  <a:tcPr anchor="ctr">
                    <a:solidFill>
                      <a:srgbClr val="DDEBF7"/>
                    </a:solidFill>
                  </a:tcPr>
                </a:tc>
              </a:tr>
              <a:tr h="484632">
                <a:tc>
                  <a:txBody>
                    <a:bodyPr/>
                    <a:lstStyle/>
                    <a:p>
                      <a:r>
                        <a:rPr sz="1200" b="0">
                          <a:solidFill>
                            <a:srgbClr val="262626"/>
                          </a:solidFill>
                          <a:latin typeface="Arial"/>
                        </a:rPr>
                        <a:t>8</a:t>
                      </a:r>
                    </a:p>
                  </a:txBody>
                  <a:tcPr anchor="ctr">
                    <a:solidFill>
                      <a:srgbClr val="FFFFFF"/>
                    </a:solidFill>
                  </a:tcPr>
                </a:tc>
                <a:tc>
                  <a:txBody>
                    <a:bodyPr/>
                    <a:lstStyle/>
                    <a:p>
                      <a:r>
                        <a:rPr sz="1200" b="0">
                          <a:solidFill>
                            <a:srgbClr val="262626"/>
                          </a:solidFill>
                          <a:latin typeface="Arial"/>
                        </a:rPr>
                        <a:t>A Unified Approach to Interpreting Model Predictions (Lundberg &amp; Lee)</a:t>
                      </a:r>
                    </a:p>
                  </a:txBody>
                  <a:tcPr anchor="ctr">
                    <a:solidFill>
                      <a:srgbClr val="FFFFFF"/>
                    </a:solidFill>
                  </a:tcPr>
                </a:tc>
                <a:tc>
                  <a:txBody>
                    <a:bodyPr/>
                    <a:lstStyle/>
                    <a:p>
                      <a:r>
                        <a:rPr sz="1200" b="0">
                          <a:solidFill>
                            <a:srgbClr val="262626"/>
                          </a:solidFill>
                          <a:latin typeface="Arial"/>
                        </a:rPr>
                        <a:t>NeurIPS</a:t>
                      </a:r>
                    </a:p>
                  </a:txBody>
                  <a:tcPr anchor="ctr">
                    <a:solidFill>
                      <a:srgbClr val="FFFFFF"/>
                    </a:solidFill>
                  </a:tcPr>
                </a:tc>
                <a:tc>
                  <a:txBody>
                    <a:bodyPr/>
                    <a:lstStyle/>
                    <a:p>
                      <a:r>
                        <a:rPr sz="1200" b="0">
                          <a:solidFill>
                            <a:srgbClr val="262626"/>
                          </a:solidFill>
                          <a:latin typeface="Arial"/>
                        </a:rPr>
                        <a:t>Explaining each site score</a:t>
                      </a:r>
                    </a:p>
                  </a:txBody>
                  <a:tcPr anchor="ctr">
                    <a:solidFill>
                      <a:srgbClr val="FFFFFF"/>
                    </a:solidFill>
                  </a:tcPr>
                </a:tc>
              </a:tr>
              <a:tr h="484632">
                <a:tc>
                  <a:txBody>
                    <a:bodyPr/>
                    <a:lstStyle/>
                    <a:p>
                      <a:r>
                        <a:rPr sz="1200" b="0">
                          <a:solidFill>
                            <a:srgbClr val="262626"/>
                          </a:solidFill>
                          <a:latin typeface="Arial"/>
                        </a:rPr>
                        <a:t>9</a:t>
                      </a:r>
                    </a:p>
                  </a:txBody>
                  <a:tcPr anchor="ctr">
                    <a:solidFill>
                      <a:srgbClr val="DDEBF7"/>
                    </a:solidFill>
                  </a:tcPr>
                </a:tc>
                <a:tc>
                  <a:txBody>
                    <a:bodyPr/>
                    <a:lstStyle/>
                    <a:p>
                      <a:r>
                        <a:rPr sz="1200" b="0">
                          <a:solidFill>
                            <a:srgbClr val="262626"/>
                          </a:solidFill>
                          <a:latin typeface="Arial"/>
                        </a:rPr>
                        <a:t>WhiteboxTools</a:t>
                      </a:r>
                    </a:p>
                  </a:txBody>
                  <a:tcPr anchor="ctr">
                    <a:solidFill>
                      <a:srgbClr val="DDEBF7"/>
                    </a:solidFill>
                  </a:tcPr>
                </a:tc>
                <a:tc>
                  <a:txBody>
                    <a:bodyPr/>
                    <a:lstStyle/>
                    <a:p>
                      <a:r>
                        <a:rPr sz="1200" b="0">
                          <a:solidFill>
                            <a:srgbClr val="262626"/>
                          </a:solidFill>
                          <a:latin typeface="Arial"/>
                        </a:rPr>
                        <a:t>University of Guelph</a:t>
                      </a:r>
                    </a:p>
                  </a:txBody>
                  <a:tcPr anchor="ctr">
                    <a:solidFill>
                      <a:srgbClr val="DDEBF7"/>
                    </a:solidFill>
                  </a:tcPr>
                </a:tc>
                <a:tc>
                  <a:txBody>
                    <a:bodyPr/>
                    <a:lstStyle/>
                    <a:p>
                      <a:r>
                        <a:rPr sz="1200" b="0">
                          <a:solidFill>
                            <a:srgbClr val="262626"/>
                          </a:solidFill>
                          <a:latin typeface="Arial"/>
                        </a:rPr>
                        <a:t>Terrain and hydrological analysis</a:t>
                      </a:r>
                    </a:p>
                  </a:txBody>
                  <a:tcPr anchor="ctr">
                    <a:solidFill>
                      <a:srgbClr val="DDEBF7"/>
                    </a:solidFill>
                  </a:tcPr>
                </a:tc>
              </a:tr>
            </a:tbl>
          </a:graphicData>
        </a:graphic>
      </p:graphicFrame>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