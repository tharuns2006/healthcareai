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26240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AI-Based Spring Revival and Recharge Planning for Tribal Areas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Agriculture, Food and Rural Technology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178601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TechDevs_6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0"/>
            <a:ext cx="795527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JalSrot (Spring Revival Planning)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1188720"/>
            <a:ext cx="45720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411479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Problem: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79" y="1517904"/>
            <a:ext cx="4389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Where a spring's water comes from cannot be read off the surface; terrain alone misleads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Finding recharge sites needs a hydrogeologist on foot, so remote tribal hamlets wait years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20040" y="2450591"/>
            <a:ext cx="45720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411479" y="2496311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Our Solution: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11479" y="2779775"/>
            <a:ext cx="4389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A web GIS tool that combines terrain, geology, rainfall, land use and spring records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It marks the probable springshed and ranks sites for recharge work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20040" y="3712463"/>
            <a:ext cx="45720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411479" y="3758183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How it solves the problem: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11479" y="4041648"/>
            <a:ext cx="4389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Experts verify a short ranked list, not every hillside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Each map shows how sure we are, so thin data is never hidden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Field readings go back into the model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20040" y="4974336"/>
            <a:ext cx="45720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411479" y="5020055"/>
            <a:ext cx="4389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Innovation &amp; Uniqueness: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11479" y="5303520"/>
            <a:ext cx="4389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Springshed follows rock dip and fractures, not just the watershed line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Starts from DEM + rainfall alone and sharpens as data arrives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rial"/>
              </a:rPr>
              <a:t>• Offline phone app records strike, dip and discharge in the village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5074920" y="1188720"/>
            <a:ext cx="6812280" cy="4974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5166360" y="1234440"/>
            <a:ext cx="6583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System Flow: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257800" y="1691640"/>
            <a:ext cx="6446520" cy="566928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Inputs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DEM  ·  geology &amp; structure  ·  rainfall  ·  land use  ·  spring records  ·  field notes</a:t>
            </a:r>
          </a:p>
        </p:txBody>
      </p:sp>
      <p:cxnSp>
        <p:nvCxnSpPr>
          <p:cNvPr id="15377" name="Connector 15376"/>
          <p:cNvCxnSpPr/>
          <p:nvPr/>
        </p:nvCxnSpPr>
        <p:spPr>
          <a:xfrm>
            <a:off x="8481060" y="2258568"/>
            <a:ext cx="0" cy="347472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Rounded Rectangle 15377"/>
          <p:cNvSpPr/>
          <p:nvPr/>
        </p:nvSpPr>
        <p:spPr>
          <a:xfrm>
            <a:off x="5257800" y="260604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Springshed zone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with probability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6931152" y="260604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Recharge suitability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+ confidence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8604504" y="260604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Risk and no-go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flags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10277856" y="260604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Ranked sites +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structure type</a:t>
            </a:r>
          </a:p>
        </p:txBody>
      </p:sp>
      <p:cxnSp>
        <p:nvCxnSpPr>
          <p:cNvPr id="15382" name="Connector 15381"/>
          <p:cNvCxnSpPr/>
          <p:nvPr/>
        </p:nvCxnSpPr>
        <p:spPr>
          <a:xfrm>
            <a:off x="6675120" y="2994660"/>
            <a:ext cx="256032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8348472" y="2994660"/>
            <a:ext cx="256032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>
            <a:off x="10021824" y="2994660"/>
            <a:ext cx="256032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10986516" y="3383280"/>
            <a:ext cx="0" cy="64008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10277856" y="402336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Field team verifies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in the app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8604504" y="402336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Discharge and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observations logged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6931152" y="402336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Model recalibrated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with field data</a:t>
            </a:r>
          </a:p>
        </p:txBody>
      </p:sp>
      <p:cxnSp>
        <p:nvCxnSpPr>
          <p:cNvPr id="15389" name="Connector 15388"/>
          <p:cNvCxnSpPr/>
          <p:nvPr/>
        </p:nvCxnSpPr>
        <p:spPr>
          <a:xfrm flipH="1">
            <a:off x="10021824" y="4411980"/>
            <a:ext cx="256032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0" name="Connector 15389"/>
          <p:cNvCxnSpPr/>
          <p:nvPr/>
        </p:nvCxnSpPr>
        <p:spPr>
          <a:xfrm flipH="1">
            <a:off x="8348472" y="4411980"/>
            <a:ext cx="256032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1" name="Connector 15390"/>
          <p:cNvCxnSpPr/>
          <p:nvPr/>
        </p:nvCxnSpPr>
        <p:spPr>
          <a:xfrm flipV="1">
            <a:off x="7639812" y="3383280"/>
            <a:ext cx="0" cy="64008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TextBox 15391"/>
          <p:cNvSpPr txBox="1"/>
          <p:nvPr/>
        </p:nvSpPr>
        <p:spPr>
          <a:xfrm>
            <a:off x="5257800" y="4023360"/>
            <a:ext cx="155448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C55A11"/>
                </a:solidFill>
                <a:latin typeface="Arial"/>
              </a:rPr>
              <a:t>Loop closes: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C55A11"/>
                </a:solidFill>
                <a:latin typeface="Arial"/>
              </a:rPr>
              <a:t>new readings improve the next map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5257800" y="4983480"/>
            <a:ext cx="6400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262626"/>
                </a:solidFill>
                <a:latin typeface="Arial"/>
              </a:rPr>
              <a:t>Output sharpens with the data the department has: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5257800" y="5285232"/>
            <a:ext cx="2084831" cy="640080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DEM + rainfall only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262626"/>
                </a:solidFill>
                <a:latin typeface="Arial"/>
              </a:rPr>
              <a:t>Low confidence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7438644" y="5285232"/>
            <a:ext cx="2084831" cy="640080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+ geology, land use, spring list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262626"/>
                </a:solidFill>
                <a:latin typeface="Arial"/>
              </a:rPr>
              <a:t>Medium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9619488" y="5285232"/>
            <a:ext cx="2084831" cy="640080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Arial"/>
              </a:rPr>
              <a:t>+ dip/strike and discharge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262626"/>
                </a:solidFill>
                <a:latin typeface="Arial"/>
              </a:rPr>
              <a:t>High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3520440" cy="4974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243584"/>
            <a:ext cx="3291840" cy="292608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r>
              <a:rPr sz="1400" b="1" u="sng">
                <a:solidFill>
                  <a:srgbClr val="2F5597"/>
                </a:solidFill>
                <a:latin typeface="Arial"/>
              </a:rPr>
              <a:t>Technology Used: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600200"/>
            <a:ext cx="333756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Geo processing: </a:t>
            </a:r>
            <a:r>
              <a:rPr sz="1200" b="0">
                <a:solidFill>
                  <a:srgbClr val="262626"/>
                </a:solidFill>
                <a:latin typeface="Arial"/>
              </a:rPr>
              <a:t>Python, GDAL, rasterio, WhiteboxTools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ML: </a:t>
            </a:r>
            <a:r>
              <a:rPr sz="1200" b="0">
                <a:solidFill>
                  <a:srgbClr val="262626"/>
                </a:solidFill>
                <a:latin typeface="Arial"/>
              </a:rPr>
              <a:t>scikit-learn, XGBoost, SHAP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Backend: </a:t>
            </a:r>
            <a:r>
              <a:rPr sz="1200" b="0">
                <a:solidFill>
                  <a:srgbClr val="262626"/>
                </a:solidFill>
                <a:latin typeface="Arial"/>
              </a:rPr>
              <a:t>FastAPI, Celery + Redis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Database: </a:t>
            </a:r>
            <a:r>
              <a:rPr sz="1200" b="0">
                <a:solidFill>
                  <a:srgbClr val="262626"/>
                </a:solidFill>
                <a:latin typeface="Arial"/>
              </a:rPr>
              <a:t>PostgreSQL + PostGIS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Map serving: </a:t>
            </a:r>
            <a:r>
              <a:rPr sz="1200" b="0">
                <a:solidFill>
                  <a:srgbClr val="262626"/>
                </a:solidFill>
                <a:latin typeface="Arial"/>
              </a:rPr>
              <a:t>TiTiler (COG tiles), MinIO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Web GIS: </a:t>
            </a:r>
            <a:r>
              <a:rPr sz="1200" b="0">
                <a:solidFill>
                  <a:srgbClr val="262626"/>
                </a:solidFill>
                <a:latin typeface="Arial"/>
              </a:rPr>
              <a:t>Next.js, MapLibre GL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Field app: </a:t>
            </a:r>
            <a:r>
              <a:rPr sz="1200" b="0">
                <a:solidFill>
                  <a:srgbClr val="262626"/>
                </a:solidFill>
                <a:latin typeface="Arial"/>
              </a:rPr>
              <a:t>Capacitor Android / PWA, IndexedDB sync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Open data: </a:t>
            </a:r>
            <a:r>
              <a:rPr sz="1200" b="0">
                <a:solidFill>
                  <a:srgbClr val="262626"/>
                </a:solidFill>
                <a:latin typeface="Arial"/>
              </a:rPr>
              <a:t>SRTM / Cartosat DEM, GSI Bhukosh, IMD, Bhuvan land use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MLOps: </a:t>
            </a:r>
            <a:r>
              <a:rPr sz="1200" b="0">
                <a:solidFill>
                  <a:srgbClr val="262626"/>
                </a:solidFill>
                <a:latin typeface="Arial"/>
              </a:rPr>
              <a:t>MLflow, GitHub Actions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Language: </a:t>
            </a:r>
            <a:r>
              <a:rPr sz="1200" b="0">
                <a:solidFill>
                  <a:srgbClr val="262626"/>
                </a:solidFill>
                <a:latin typeface="Arial"/>
              </a:rPr>
              <a:t>Hindi and regional, via Bhashini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69080" y="1188720"/>
            <a:ext cx="4572000" cy="292608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r>
              <a:rPr sz="1400" b="1" u="sng">
                <a:solidFill>
                  <a:srgbClr val="2F5597"/>
                </a:solidFill>
                <a:latin typeface="Arial"/>
              </a:rPr>
              <a:t>Architecture: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069080" y="1508760"/>
            <a:ext cx="1143000" cy="713232"/>
          </a:xfrm>
          <a:prstGeom prst="roundRect">
            <a:avLst>
              <a:gd name="adj" fmla="val 15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Data sources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069080" y="2359152"/>
            <a:ext cx="1143000" cy="713232"/>
          </a:xfrm>
          <a:prstGeom prst="roundRect">
            <a:avLst>
              <a:gd name="adj" fmla="val 15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Prepare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69080" y="3209544"/>
            <a:ext cx="1143000" cy="713232"/>
          </a:xfrm>
          <a:prstGeom prst="roundRect">
            <a:avLst>
              <a:gd name="adj" fmla="val 15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Analysis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069080" y="4059936"/>
            <a:ext cx="1143000" cy="713232"/>
          </a:xfrm>
          <a:prstGeom prst="roundRect">
            <a:avLst>
              <a:gd name="adj" fmla="val 15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069080" y="4910328"/>
            <a:ext cx="1143000" cy="713232"/>
          </a:xfrm>
          <a:prstGeom prst="roundRect">
            <a:avLst>
              <a:gd name="adj" fmla="val 15000"/>
            </a:avLst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Serve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303520" y="1508760"/>
            <a:ext cx="929640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DEM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78880" y="1508760"/>
            <a:ext cx="929640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Geology &amp;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Arial"/>
              </a:rPr>
              <a:t>structure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254240" y="1508760"/>
            <a:ext cx="929640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Rainfall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229600" y="1508760"/>
            <a:ext cx="929640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Land use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204960" y="1508760"/>
            <a:ext cx="929640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Spring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Arial"/>
              </a:rPr>
              <a:t>records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0180320" y="1508760"/>
            <a:ext cx="929640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Arial"/>
              </a:rPr>
              <a:t>Field &amp;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Arial"/>
              </a:rPr>
              <a:t>community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303520" y="2359152"/>
            <a:ext cx="5806440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GDAL / rasterio: align projections, fill gaps, score data quality per layer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303520" y="3209544"/>
            <a:ext cx="1874519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Terrain and lineament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features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269480" y="3209544"/>
            <a:ext cx="1874519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Springshed engine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(dip-aware, Monte Carlo)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235440" y="3209544"/>
            <a:ext cx="1874519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ML suitability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(RF + XGBoost, SHAP)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303520" y="4059936"/>
            <a:ext cx="1874519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Intervention rules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(structure by site type)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269480" y="4059936"/>
            <a:ext cx="1874519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Risk and landslide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flags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235440" y="4059936"/>
            <a:ext cx="1874519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Priority ranking +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confidence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303520" y="4910328"/>
            <a:ext cx="2857500" cy="713232"/>
          </a:xfrm>
          <a:prstGeom prst="roundRect">
            <a:avLst>
              <a:gd name="adj" fmla="val 15000"/>
            </a:avLst>
          </a:prstGeom>
          <a:solidFill>
            <a:srgbClr val="DDEBF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PostGIS  ·  COG tiles  ·  FastAPI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252460" y="4910328"/>
            <a:ext cx="1405889" cy="713232"/>
          </a:xfrm>
          <a:prstGeom prst="roundRect">
            <a:avLst>
              <a:gd name="adj" fmla="val 15000"/>
            </a:avLst>
          </a:prstGeom>
          <a:solidFill>
            <a:srgbClr val="E2F0D9"/>
          </a:solidFill>
          <a:ln w="12700">
            <a:solidFill>
              <a:srgbClr val="549E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Web GIS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MapLibre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704070" y="4910328"/>
            <a:ext cx="1405889" cy="713232"/>
          </a:xfrm>
          <a:prstGeom prst="roundRect">
            <a:avLst>
              <a:gd name="adj" fmla="val 15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Field app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(offline)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8206740" y="2221992"/>
            <a:ext cx="0" cy="1371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8206740" y="3072384"/>
            <a:ext cx="0" cy="1371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8206740" y="3922776"/>
            <a:ext cx="0" cy="1371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8206740" y="4773168"/>
            <a:ext cx="0" cy="13716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Connector 17438"/>
          <p:cNvCxnSpPr/>
          <p:nvPr/>
        </p:nvCxnSpPr>
        <p:spPr>
          <a:xfrm>
            <a:off x="10384155" y="5623560"/>
            <a:ext cx="0" cy="13716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0" name="Connector 17439"/>
          <p:cNvCxnSpPr/>
          <p:nvPr/>
        </p:nvCxnSpPr>
        <p:spPr>
          <a:xfrm>
            <a:off x="10384155" y="5760720"/>
            <a:ext cx="908685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1" name="Connector 17440"/>
          <p:cNvCxnSpPr/>
          <p:nvPr/>
        </p:nvCxnSpPr>
        <p:spPr>
          <a:xfrm flipV="1">
            <a:off x="11292840" y="3566160"/>
            <a:ext cx="0" cy="219456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 flipH="1">
            <a:off x="11109960" y="3566160"/>
            <a:ext cx="182880" cy="0"/>
          </a:xfrm>
          <a:prstGeom prst="line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TextBox 17442"/>
          <p:cNvSpPr txBox="1"/>
          <p:nvPr/>
        </p:nvSpPr>
        <p:spPr>
          <a:xfrm>
            <a:off x="5303520" y="5788152"/>
            <a:ext cx="49891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C55A11"/>
                </a:solidFill>
                <a:latin typeface="Arial"/>
              </a:rPr>
              <a:t>Field observations and discharge readings feed back into the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5120640" cy="4974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243584"/>
            <a:ext cx="4846320" cy="292608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r>
              <a:rPr sz="1400" b="1" u="sng">
                <a:solidFill>
                  <a:srgbClr val="2F5597"/>
                </a:solidFill>
                <a:latin typeface="Arial"/>
              </a:rPr>
              <a:t>Feasibility: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600200"/>
            <a:ext cx="4937760" cy="4480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Technical: </a:t>
            </a:r>
            <a:r>
              <a:rPr sz="1400" b="0">
                <a:solidFill>
                  <a:srgbClr val="262626"/>
                </a:solidFill>
                <a:latin typeface="Arial"/>
              </a:rPr>
              <a:t>all inputs are open data and the stack is open source; one pilot springshed runs on a single server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Operational: </a:t>
            </a:r>
            <a:r>
              <a:rPr sz="1400" b="0">
                <a:solidFill>
                  <a:srgbClr val="262626"/>
                </a:solidFill>
                <a:latin typeface="Arial"/>
              </a:rPr>
              <a:t>field team needs only an Android phone; works offline in the village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Economic: </a:t>
            </a:r>
            <a:r>
              <a:rPr sz="1400" b="0">
                <a:solidFill>
                  <a:srgbClr val="262626"/>
                </a:solidFill>
                <a:latin typeface="Arial"/>
              </a:rPr>
              <a:t>no licence cost; the phone compass replaces survey equipment for strike and dip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Data: </a:t>
            </a:r>
            <a:r>
              <a:rPr sz="1400" b="0">
                <a:solidFill>
                  <a:srgbClr val="262626"/>
                </a:solidFill>
                <a:latin typeface="Arial"/>
              </a:rPr>
              <a:t>Bhuvan, GSI, IMD and India-WRIS; outputs as GeoTIFF / GeoJSON and OGC map services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Rollout: </a:t>
            </a:r>
            <a:r>
              <a:rPr sz="1400" b="0">
                <a:solidFill>
                  <a:srgbClr val="262626"/>
                </a:solidFill>
                <a:latin typeface="Arial"/>
              </a:rPr>
              <a:t>one block (20-30 springs) → district → state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Pilot plan: </a:t>
            </a:r>
            <a:r>
              <a:rPr sz="1400" b="0">
                <a:solidFill>
                  <a:srgbClr val="262626"/>
                </a:solidFill>
                <a:latin typeface="Arial"/>
              </a:rPr>
              <a:t>verify top-ranked sites in the monsoon, log discharge through the next dry season, compare against the model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5623560" y="1188720"/>
          <a:ext cx="6263640" cy="497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931920"/>
              </a:tblGrid>
              <a:tr h="71061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Challenges &amp; Risks: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Strategies to Overcome: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7106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Few labelled springs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Expert-weighted fallback; map marked low confidence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7106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Coarse DEM in some areas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Resolution stated on the map; confidence drops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06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No structural measurements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Lineaments inferred from the DEM; field team adds readings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7106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Map trusted too much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Every output says "indicative, verify on site"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06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Landslide-prone slopes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Separate risk layer; no-go flag on the site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7106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Low field adoption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Four-step app, voice notes, local 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88720"/>
            <a:ext cx="5852160" cy="4974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243584"/>
            <a:ext cx="5486400" cy="292608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r>
              <a:rPr sz="1400" b="1" u="sng">
                <a:solidFill>
                  <a:srgbClr val="2F5597"/>
                </a:solidFill>
                <a:latin typeface="Arial"/>
              </a:rPr>
              <a:t>Today vs with JalSrot: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411480" y="1645920"/>
          <a:ext cx="5669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286000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With JalSrot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Find recharge 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Field survey, spring by spring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Probable zone from data, then verified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Choose sites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Expert judgement, case by case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Ranked list with reasons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Know the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Found after the structure is built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Flagged before work starts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Learn from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Discharge rarely recorded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Logged and fed back to the model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Arial"/>
                        </a:rPr>
                        <a:t>Reach remote areas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Waits for an expert visit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Pre-screened; team visits the best sites first</a:t>
                      </a:r>
                    </a:p>
                  </a:txBody>
                  <a:tcPr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6355080" y="1188720"/>
            <a:ext cx="5532120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446520" y="1234440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Benefits: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46520" y="1517904"/>
            <a:ext cx="5349240" cy="21214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Field officer: </a:t>
            </a:r>
            <a:r>
              <a:rPr sz="1300" b="0">
                <a:solidFill>
                  <a:srgbClr val="262626"/>
                </a:solidFill>
                <a:latin typeface="Arial"/>
              </a:rPr>
              <a:t>knows which sites to visit first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Hydrogeologist: </a:t>
            </a:r>
            <a:r>
              <a:rPr sz="1300" b="0">
                <a:solidFill>
                  <a:srgbClr val="262626"/>
                </a:solidFill>
                <a:latin typeface="Arial"/>
              </a:rPr>
              <a:t>time goes into verifying, not scanning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District / department: </a:t>
            </a:r>
            <a:r>
              <a:rPr sz="1300" b="0">
                <a:solidFill>
                  <a:srgbClr val="262626"/>
                </a:solidFill>
                <a:latin typeface="Arial"/>
              </a:rPr>
              <a:t>a ranked list with reasons to support funding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Tribal community: </a:t>
            </a:r>
            <a:r>
              <a:rPr sz="1300" b="0">
                <a:solidFill>
                  <a:srgbClr val="262626"/>
                </a:solidFill>
                <a:latin typeface="Arial"/>
              </a:rPr>
              <a:t>more dependable water in the dry months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355080" y="3749039"/>
            <a:ext cx="5532120" cy="24140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446520" y="3794759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F5597"/>
                </a:solidFill>
                <a:latin typeface="Arial"/>
              </a:rPr>
              <a:t>Impacts: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46520" y="4078224"/>
            <a:ext cx="5349240" cy="20482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Social: </a:t>
            </a:r>
            <a:r>
              <a:rPr sz="1300" b="0">
                <a:solidFill>
                  <a:srgbClr val="262626"/>
                </a:solidFill>
                <a:latin typeface="Arial"/>
              </a:rPr>
              <a:t>less time spent fetching water, mostly by women and children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Economic: </a:t>
            </a:r>
            <a:r>
              <a:rPr sz="1300" b="0">
                <a:solidFill>
                  <a:srgbClr val="262626"/>
                </a:solidFill>
                <a:latin typeface="Arial"/>
              </a:rPr>
              <a:t>fewer structures built where they do not work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Environmental: </a:t>
            </a:r>
            <a:r>
              <a:rPr sz="1300" b="0">
                <a:solidFill>
                  <a:srgbClr val="262626"/>
                </a:solidFill>
                <a:latin typeface="Arial"/>
              </a:rPr>
              <a:t>right aquifers recharged; no works on unstable slopes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62626"/>
                </a:solidFill>
                <a:latin typeface="Arial"/>
              </a:rPr>
              <a:t>System: </a:t>
            </a:r>
            <a:r>
              <a:rPr sz="1300" b="0">
                <a:solidFill>
                  <a:srgbClr val="262626"/>
                </a:solidFill>
                <a:latin typeface="Arial"/>
              </a:rPr>
              <a:t>a growing spring-discharge record for the department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TechDevs_6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320040" y="1188720"/>
          <a:ext cx="115671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206240"/>
                <a:gridCol w="2651760"/>
                <a:gridCol w="731520"/>
                <a:gridCol w="3337560"/>
              </a:tblGrid>
              <a:tr h="4846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S. No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Published by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SRTM Digital Elevation Model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NASA / USGS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2000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Slope, aspect, drainage, flow paths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Bhuvan land use / land cover and Cartosat DEM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ISRO – NRSC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Land cover and finer terrain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Bhukosh geological maps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Geological Survey of India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Rock types, contacts, faults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CHIRPS rainfall dataset (Funk et al.)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UC Santa Barbara CHG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Rainfall trends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India-WRIS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Ministry of Jal Shakti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2010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Drainage, groundwater context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Inventory and Revival of Springs in the Himalayas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NITI Aayog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Springshed approach, revival practice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Random Forests (Breiman)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Machine Learning journal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2001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Recharge suitability model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SHAP – A Unified Approach to Interpreting Model Predictions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Lundberg &amp; Lee, NeurIPS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Explaining each site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WhiteboxTools (Lindsay)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University of Guelph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2016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Terrain and hydrological analysis</a:t>
                      </a:r>
                    </a:p>
                  </a:txBody>
                  <a:tcPr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